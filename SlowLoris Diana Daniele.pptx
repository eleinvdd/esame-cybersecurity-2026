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44"/>
  </p:notesMasterIdLst>
  <p:handoutMasterIdLst>
    <p:handoutMasterId r:id="rId45"/>
  </p:handoutMasterIdLst>
  <p:sldIdLst>
    <p:sldId id="423" r:id="rId5"/>
    <p:sldId id="418" r:id="rId6"/>
    <p:sldId id="428" r:id="rId7"/>
    <p:sldId id="429" r:id="rId8"/>
    <p:sldId id="430" r:id="rId9"/>
    <p:sldId id="431" r:id="rId10"/>
    <p:sldId id="419" r:id="rId11"/>
    <p:sldId id="432" r:id="rId12"/>
    <p:sldId id="433" r:id="rId13"/>
    <p:sldId id="420" r:id="rId14"/>
    <p:sldId id="421" r:id="rId15"/>
    <p:sldId id="434" r:id="rId16"/>
    <p:sldId id="435" r:id="rId17"/>
    <p:sldId id="437" r:id="rId18"/>
    <p:sldId id="438" r:id="rId19"/>
    <p:sldId id="439" r:id="rId20"/>
    <p:sldId id="440" r:id="rId21"/>
    <p:sldId id="441" r:id="rId22"/>
    <p:sldId id="442" r:id="rId23"/>
    <p:sldId id="443" r:id="rId24"/>
    <p:sldId id="444" r:id="rId25"/>
    <p:sldId id="445" r:id="rId26"/>
    <p:sldId id="446" r:id="rId27"/>
    <p:sldId id="448" r:id="rId28"/>
    <p:sldId id="447" r:id="rId29"/>
    <p:sldId id="450" r:id="rId30"/>
    <p:sldId id="449" r:id="rId31"/>
    <p:sldId id="451" r:id="rId32"/>
    <p:sldId id="452" r:id="rId33"/>
    <p:sldId id="453" r:id="rId34"/>
    <p:sldId id="454" r:id="rId35"/>
    <p:sldId id="455" r:id="rId36"/>
    <p:sldId id="456" r:id="rId37"/>
    <p:sldId id="457" r:id="rId38"/>
    <p:sldId id="459" r:id="rId39"/>
    <p:sldId id="460" r:id="rId40"/>
    <p:sldId id="417" r:id="rId41"/>
    <p:sldId id="415" r:id="rId42"/>
    <p:sldId id="422"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B6C3"/>
    <a:srgbClr val="1CDFF5"/>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43" autoAdjust="0"/>
    <p:restoredTop sz="87843" autoAdjust="0"/>
  </p:normalViewPr>
  <p:slideViewPr>
    <p:cSldViewPr snapToGrid="0" snapToObjects="1" showGuides="1">
      <p:cViewPr varScale="1">
        <p:scale>
          <a:sx n="72" d="100"/>
          <a:sy n="72" d="100"/>
        </p:scale>
        <p:origin x="883"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2" d="100"/>
          <a:sy n="82" d="100"/>
        </p:scale>
        <p:origin x="394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2.xml.rels><?xml version="1.0" encoding="UTF-8" standalone="yes"?>
<Relationships xmlns="http://schemas.openxmlformats.org/package/2006/relationships"><Relationship Id="rId8" Type="http://schemas.openxmlformats.org/officeDocument/2006/relationships/image" Target="../media/image100.sv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svg"/><Relationship Id="rId1" Type="http://schemas.openxmlformats.org/officeDocument/2006/relationships/image" Target="../media/image93.png"/><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9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0.sv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svg"/><Relationship Id="rId1" Type="http://schemas.openxmlformats.org/officeDocument/2006/relationships/image" Target="../media/image93.png"/><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9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2FA9F6-2677-489F-8FEA-5E24F7C363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580D873-BA5A-4AAF-BF00-C7274965BB81}">
      <dgm:prSet/>
      <dgm:spPr/>
      <dgm:t>
        <a:bodyPr/>
        <a:lstStyle/>
        <a:p>
          <a:pPr>
            <a:lnSpc>
              <a:spcPct val="100000"/>
            </a:lnSpc>
          </a:pPr>
          <a:r>
            <a:rPr lang="it-IT" dirty="0"/>
            <a:t>Creare una cartella 7z contenente i file della W.A. (Windows).</a:t>
          </a:r>
          <a:endParaRPr lang="en-US" dirty="0"/>
        </a:p>
      </dgm:t>
    </dgm:pt>
    <dgm:pt modelId="{BA5DED82-3F13-43E2-B9BB-BF2AE146F1B1}" type="parTrans" cxnId="{FA59DFB4-E362-4818-BF28-D7F253170E20}">
      <dgm:prSet/>
      <dgm:spPr/>
      <dgm:t>
        <a:bodyPr/>
        <a:lstStyle/>
        <a:p>
          <a:endParaRPr lang="en-US"/>
        </a:p>
      </dgm:t>
    </dgm:pt>
    <dgm:pt modelId="{E954AEA6-79CB-495D-BE24-FC8DA934FDEF}" type="sibTrans" cxnId="{FA59DFB4-E362-4818-BF28-D7F253170E20}">
      <dgm:prSet/>
      <dgm:spPr/>
      <dgm:t>
        <a:bodyPr/>
        <a:lstStyle/>
        <a:p>
          <a:endParaRPr lang="en-US"/>
        </a:p>
      </dgm:t>
    </dgm:pt>
    <dgm:pt modelId="{4904C470-4CB3-49A8-BB0F-4C26784C39E3}">
      <dgm:prSet/>
      <dgm:spPr/>
      <dgm:t>
        <a:bodyPr/>
        <a:lstStyle/>
        <a:p>
          <a:pPr>
            <a:lnSpc>
              <a:spcPct val="100000"/>
            </a:lnSpc>
          </a:pPr>
          <a:r>
            <a:rPr lang="it-IT"/>
            <a:t>Copiare, tramite SCP, la cartella creata nella directory:</a:t>
          </a:r>
          <a:br>
            <a:rPr lang="it-IT"/>
          </a:br>
          <a:r>
            <a:rPr lang="it-IT"/>
            <a:t>/var/www/html</a:t>
          </a:r>
          <a:br>
            <a:rPr lang="it-IT"/>
          </a:br>
          <a:r>
            <a:rPr lang="it-IT"/>
            <a:t>(document root directory dei servizi di apache2).</a:t>
          </a:r>
          <a:endParaRPr lang="en-US"/>
        </a:p>
      </dgm:t>
    </dgm:pt>
    <dgm:pt modelId="{0833608F-6A39-46F2-A996-D9AED25BC949}" type="parTrans" cxnId="{AE5B00A9-455B-4AF5-A3F5-B1B41B25C902}">
      <dgm:prSet/>
      <dgm:spPr/>
      <dgm:t>
        <a:bodyPr/>
        <a:lstStyle/>
        <a:p>
          <a:endParaRPr lang="en-US"/>
        </a:p>
      </dgm:t>
    </dgm:pt>
    <dgm:pt modelId="{4AFAE647-0EBE-44F0-B32F-8AD188FE2EDD}" type="sibTrans" cxnId="{AE5B00A9-455B-4AF5-A3F5-B1B41B25C902}">
      <dgm:prSet/>
      <dgm:spPr/>
      <dgm:t>
        <a:bodyPr/>
        <a:lstStyle/>
        <a:p>
          <a:endParaRPr lang="en-US"/>
        </a:p>
      </dgm:t>
    </dgm:pt>
    <dgm:pt modelId="{A59AAB38-DE37-4304-B825-40B54D2D9FB8}">
      <dgm:prSet/>
      <dgm:spPr/>
      <dgm:t>
        <a:bodyPr/>
        <a:lstStyle/>
        <a:p>
          <a:pPr>
            <a:lnSpc>
              <a:spcPct val="100000"/>
            </a:lnSpc>
          </a:pPr>
          <a:r>
            <a:rPr lang="it-IT" dirty="0"/>
            <a:t>De zippare i  file tramite 7z (Ubuntu). NOTA: prima di de zippare è importante eliminare o rinominare il file «index.html» default di apache2 per </a:t>
          </a:r>
          <a:r>
            <a:rPr lang="it-IT" dirty="0" err="1"/>
            <a:t>ubuntu</a:t>
          </a:r>
          <a:r>
            <a:rPr lang="it-IT" dirty="0"/>
            <a:t> LTS.</a:t>
          </a:r>
          <a:endParaRPr lang="en-US" dirty="0"/>
        </a:p>
      </dgm:t>
    </dgm:pt>
    <dgm:pt modelId="{914C0B96-E505-4588-BC61-A9D1E814800B}" type="parTrans" cxnId="{A76452F2-3706-47A3-920A-ED6F22AC901A}">
      <dgm:prSet/>
      <dgm:spPr/>
      <dgm:t>
        <a:bodyPr/>
        <a:lstStyle/>
        <a:p>
          <a:endParaRPr lang="en-US"/>
        </a:p>
      </dgm:t>
    </dgm:pt>
    <dgm:pt modelId="{E685197C-7387-41D8-BAE4-9A86064628A0}" type="sibTrans" cxnId="{A76452F2-3706-47A3-920A-ED6F22AC901A}">
      <dgm:prSet/>
      <dgm:spPr/>
      <dgm:t>
        <a:bodyPr/>
        <a:lstStyle/>
        <a:p>
          <a:endParaRPr lang="en-US"/>
        </a:p>
      </dgm:t>
    </dgm:pt>
    <dgm:pt modelId="{3B14EA67-D182-4CFA-BDAB-5646C164E8E0}" type="pres">
      <dgm:prSet presAssocID="{AD2FA9F6-2677-489F-8FEA-5E24F7C3633B}" presName="root" presStyleCnt="0">
        <dgm:presLayoutVars>
          <dgm:dir/>
          <dgm:resizeHandles val="exact"/>
        </dgm:presLayoutVars>
      </dgm:prSet>
      <dgm:spPr/>
    </dgm:pt>
    <dgm:pt modelId="{C70D852E-FF7C-4B67-A518-2E75E4B5D934}" type="pres">
      <dgm:prSet presAssocID="{A580D873-BA5A-4AAF-BF00-C7274965BB81}" presName="compNode" presStyleCnt="0"/>
      <dgm:spPr/>
    </dgm:pt>
    <dgm:pt modelId="{C44C9020-B55B-4B56-B5A0-F53A95F72502}" type="pres">
      <dgm:prSet presAssocID="{A580D873-BA5A-4AAF-BF00-C7274965BB81}" presName="bgRect" presStyleLbl="bgShp" presStyleIdx="0" presStyleCnt="3"/>
      <dgm:spPr/>
    </dgm:pt>
    <dgm:pt modelId="{83864672-0D4B-4762-85FF-BB72927960FB}" type="pres">
      <dgm:prSet presAssocID="{A580D873-BA5A-4AAF-BF00-C7274965BB8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BD902B15-B265-41E0-9087-EE8D1842D53C}" type="pres">
      <dgm:prSet presAssocID="{A580D873-BA5A-4AAF-BF00-C7274965BB81}" presName="spaceRect" presStyleCnt="0"/>
      <dgm:spPr/>
    </dgm:pt>
    <dgm:pt modelId="{AF2378A2-0994-435B-B878-9A188AED25A8}" type="pres">
      <dgm:prSet presAssocID="{A580D873-BA5A-4AAF-BF00-C7274965BB81}" presName="parTx" presStyleLbl="revTx" presStyleIdx="0" presStyleCnt="3">
        <dgm:presLayoutVars>
          <dgm:chMax val="0"/>
          <dgm:chPref val="0"/>
        </dgm:presLayoutVars>
      </dgm:prSet>
      <dgm:spPr/>
    </dgm:pt>
    <dgm:pt modelId="{D3FC2383-8CBC-4158-A007-C7211942192A}" type="pres">
      <dgm:prSet presAssocID="{E954AEA6-79CB-495D-BE24-FC8DA934FDEF}" presName="sibTrans" presStyleCnt="0"/>
      <dgm:spPr/>
    </dgm:pt>
    <dgm:pt modelId="{EBD9C302-BECB-4AFC-84C9-74DCF0CD94E1}" type="pres">
      <dgm:prSet presAssocID="{4904C470-4CB3-49A8-BB0F-4C26784C39E3}" presName="compNode" presStyleCnt="0"/>
      <dgm:spPr/>
    </dgm:pt>
    <dgm:pt modelId="{BDE0F11F-C3E0-4646-914A-B61278BC693A}" type="pres">
      <dgm:prSet presAssocID="{4904C470-4CB3-49A8-BB0F-4C26784C39E3}" presName="bgRect" presStyleLbl="bgShp" presStyleIdx="1" presStyleCnt="3"/>
      <dgm:spPr/>
    </dgm:pt>
    <dgm:pt modelId="{B8FE2F40-8979-42EE-887D-1237914944FB}" type="pres">
      <dgm:prSet presAssocID="{4904C470-4CB3-49A8-BB0F-4C26784C39E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
        </a:ext>
      </dgm:extLst>
    </dgm:pt>
    <dgm:pt modelId="{6B44008C-5539-4B09-948C-52FB520E63D3}" type="pres">
      <dgm:prSet presAssocID="{4904C470-4CB3-49A8-BB0F-4C26784C39E3}" presName="spaceRect" presStyleCnt="0"/>
      <dgm:spPr/>
    </dgm:pt>
    <dgm:pt modelId="{906089EB-928E-4E24-B023-B7502DF38DF8}" type="pres">
      <dgm:prSet presAssocID="{4904C470-4CB3-49A8-BB0F-4C26784C39E3}" presName="parTx" presStyleLbl="revTx" presStyleIdx="1" presStyleCnt="3">
        <dgm:presLayoutVars>
          <dgm:chMax val="0"/>
          <dgm:chPref val="0"/>
        </dgm:presLayoutVars>
      </dgm:prSet>
      <dgm:spPr/>
    </dgm:pt>
    <dgm:pt modelId="{7A314DED-D73E-49A7-864D-613C10A521D6}" type="pres">
      <dgm:prSet presAssocID="{4AFAE647-0EBE-44F0-B32F-8AD188FE2EDD}" presName="sibTrans" presStyleCnt="0"/>
      <dgm:spPr/>
    </dgm:pt>
    <dgm:pt modelId="{75CFC3B8-7F2B-43FC-A02F-361284E55A14}" type="pres">
      <dgm:prSet presAssocID="{A59AAB38-DE37-4304-B825-40B54D2D9FB8}" presName="compNode" presStyleCnt="0"/>
      <dgm:spPr/>
    </dgm:pt>
    <dgm:pt modelId="{93FAAC31-91B3-4D27-8E88-CBDB4EA7690B}" type="pres">
      <dgm:prSet presAssocID="{A59AAB38-DE37-4304-B825-40B54D2D9FB8}" presName="bgRect" presStyleLbl="bgShp" presStyleIdx="2" presStyleCnt="3"/>
      <dgm:spPr/>
    </dgm:pt>
    <dgm:pt modelId="{BB4086EE-6034-4538-A40B-64364B73612C}" type="pres">
      <dgm:prSet presAssocID="{A59AAB38-DE37-4304-B825-40B54D2D9FB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raffetta"/>
        </a:ext>
      </dgm:extLst>
    </dgm:pt>
    <dgm:pt modelId="{02941C18-9506-4066-B562-63E31203F97E}" type="pres">
      <dgm:prSet presAssocID="{A59AAB38-DE37-4304-B825-40B54D2D9FB8}" presName="spaceRect" presStyleCnt="0"/>
      <dgm:spPr/>
    </dgm:pt>
    <dgm:pt modelId="{35D55CB8-6DF2-4006-8B5B-0B529304D59C}" type="pres">
      <dgm:prSet presAssocID="{A59AAB38-DE37-4304-B825-40B54D2D9FB8}" presName="parTx" presStyleLbl="revTx" presStyleIdx="2" presStyleCnt="3">
        <dgm:presLayoutVars>
          <dgm:chMax val="0"/>
          <dgm:chPref val="0"/>
        </dgm:presLayoutVars>
      </dgm:prSet>
      <dgm:spPr/>
    </dgm:pt>
  </dgm:ptLst>
  <dgm:cxnLst>
    <dgm:cxn modelId="{1072C81C-9B36-4675-8236-B4B38091F201}" type="presOf" srcId="{AD2FA9F6-2677-489F-8FEA-5E24F7C3633B}" destId="{3B14EA67-D182-4CFA-BDAB-5646C164E8E0}" srcOrd="0" destOrd="0" presId="urn:microsoft.com/office/officeart/2018/2/layout/IconVerticalSolidList"/>
    <dgm:cxn modelId="{7D68B228-3D96-477B-9CBD-77965AB7A2AF}" type="presOf" srcId="{A580D873-BA5A-4AAF-BF00-C7274965BB81}" destId="{AF2378A2-0994-435B-B878-9A188AED25A8}" srcOrd="0" destOrd="0" presId="urn:microsoft.com/office/officeart/2018/2/layout/IconVerticalSolidList"/>
    <dgm:cxn modelId="{9BA6EDA2-7B6D-40E6-9D64-E66F12EFF4E0}" type="presOf" srcId="{4904C470-4CB3-49A8-BB0F-4C26784C39E3}" destId="{906089EB-928E-4E24-B023-B7502DF38DF8}" srcOrd="0" destOrd="0" presId="urn:microsoft.com/office/officeart/2018/2/layout/IconVerticalSolidList"/>
    <dgm:cxn modelId="{AE5B00A9-455B-4AF5-A3F5-B1B41B25C902}" srcId="{AD2FA9F6-2677-489F-8FEA-5E24F7C3633B}" destId="{4904C470-4CB3-49A8-BB0F-4C26784C39E3}" srcOrd="1" destOrd="0" parTransId="{0833608F-6A39-46F2-A996-D9AED25BC949}" sibTransId="{4AFAE647-0EBE-44F0-B32F-8AD188FE2EDD}"/>
    <dgm:cxn modelId="{FA59DFB4-E362-4818-BF28-D7F253170E20}" srcId="{AD2FA9F6-2677-489F-8FEA-5E24F7C3633B}" destId="{A580D873-BA5A-4AAF-BF00-C7274965BB81}" srcOrd="0" destOrd="0" parTransId="{BA5DED82-3F13-43E2-B9BB-BF2AE146F1B1}" sibTransId="{E954AEA6-79CB-495D-BE24-FC8DA934FDEF}"/>
    <dgm:cxn modelId="{1002ABC2-4A9D-4963-99C6-1FB4E8C2239E}" type="presOf" srcId="{A59AAB38-DE37-4304-B825-40B54D2D9FB8}" destId="{35D55CB8-6DF2-4006-8B5B-0B529304D59C}" srcOrd="0" destOrd="0" presId="urn:microsoft.com/office/officeart/2018/2/layout/IconVerticalSolidList"/>
    <dgm:cxn modelId="{A76452F2-3706-47A3-920A-ED6F22AC901A}" srcId="{AD2FA9F6-2677-489F-8FEA-5E24F7C3633B}" destId="{A59AAB38-DE37-4304-B825-40B54D2D9FB8}" srcOrd="2" destOrd="0" parTransId="{914C0B96-E505-4588-BC61-A9D1E814800B}" sibTransId="{E685197C-7387-41D8-BAE4-9A86064628A0}"/>
    <dgm:cxn modelId="{93D5737A-279E-4CCA-A769-2D90B9B2DB8D}" type="presParOf" srcId="{3B14EA67-D182-4CFA-BDAB-5646C164E8E0}" destId="{C70D852E-FF7C-4B67-A518-2E75E4B5D934}" srcOrd="0" destOrd="0" presId="urn:microsoft.com/office/officeart/2018/2/layout/IconVerticalSolidList"/>
    <dgm:cxn modelId="{E03F97BD-8CB9-45D7-B760-157EE529214C}" type="presParOf" srcId="{C70D852E-FF7C-4B67-A518-2E75E4B5D934}" destId="{C44C9020-B55B-4B56-B5A0-F53A95F72502}" srcOrd="0" destOrd="0" presId="urn:microsoft.com/office/officeart/2018/2/layout/IconVerticalSolidList"/>
    <dgm:cxn modelId="{7DC62DD3-4E15-49AC-9F0C-050FB5623BA2}" type="presParOf" srcId="{C70D852E-FF7C-4B67-A518-2E75E4B5D934}" destId="{83864672-0D4B-4762-85FF-BB72927960FB}" srcOrd="1" destOrd="0" presId="urn:microsoft.com/office/officeart/2018/2/layout/IconVerticalSolidList"/>
    <dgm:cxn modelId="{F3EF4C15-9697-47DA-9CCF-E36F0CBB6619}" type="presParOf" srcId="{C70D852E-FF7C-4B67-A518-2E75E4B5D934}" destId="{BD902B15-B265-41E0-9087-EE8D1842D53C}" srcOrd="2" destOrd="0" presId="urn:microsoft.com/office/officeart/2018/2/layout/IconVerticalSolidList"/>
    <dgm:cxn modelId="{371ED2D9-82D7-41A8-AAFD-04AB467EE932}" type="presParOf" srcId="{C70D852E-FF7C-4B67-A518-2E75E4B5D934}" destId="{AF2378A2-0994-435B-B878-9A188AED25A8}" srcOrd="3" destOrd="0" presId="urn:microsoft.com/office/officeart/2018/2/layout/IconVerticalSolidList"/>
    <dgm:cxn modelId="{9253384E-FAC8-4C60-90BC-46DFF995ECC4}" type="presParOf" srcId="{3B14EA67-D182-4CFA-BDAB-5646C164E8E0}" destId="{D3FC2383-8CBC-4158-A007-C7211942192A}" srcOrd="1" destOrd="0" presId="urn:microsoft.com/office/officeart/2018/2/layout/IconVerticalSolidList"/>
    <dgm:cxn modelId="{F5971B59-08A8-4DE6-B350-873157DD76F0}" type="presParOf" srcId="{3B14EA67-D182-4CFA-BDAB-5646C164E8E0}" destId="{EBD9C302-BECB-4AFC-84C9-74DCF0CD94E1}" srcOrd="2" destOrd="0" presId="urn:microsoft.com/office/officeart/2018/2/layout/IconVerticalSolidList"/>
    <dgm:cxn modelId="{B1FFCFB1-3ADF-48A5-A6CC-A18904D8A395}" type="presParOf" srcId="{EBD9C302-BECB-4AFC-84C9-74DCF0CD94E1}" destId="{BDE0F11F-C3E0-4646-914A-B61278BC693A}" srcOrd="0" destOrd="0" presId="urn:microsoft.com/office/officeart/2018/2/layout/IconVerticalSolidList"/>
    <dgm:cxn modelId="{4A57EB03-96E9-4BD9-8B73-DF8470DB42F6}" type="presParOf" srcId="{EBD9C302-BECB-4AFC-84C9-74DCF0CD94E1}" destId="{B8FE2F40-8979-42EE-887D-1237914944FB}" srcOrd="1" destOrd="0" presId="urn:microsoft.com/office/officeart/2018/2/layout/IconVerticalSolidList"/>
    <dgm:cxn modelId="{87FC4EAA-3A59-4A1B-9D67-0B54C2AE47A6}" type="presParOf" srcId="{EBD9C302-BECB-4AFC-84C9-74DCF0CD94E1}" destId="{6B44008C-5539-4B09-948C-52FB520E63D3}" srcOrd="2" destOrd="0" presId="urn:microsoft.com/office/officeart/2018/2/layout/IconVerticalSolidList"/>
    <dgm:cxn modelId="{641FEB73-D04A-452F-8782-698F6706D1CD}" type="presParOf" srcId="{EBD9C302-BECB-4AFC-84C9-74DCF0CD94E1}" destId="{906089EB-928E-4E24-B023-B7502DF38DF8}" srcOrd="3" destOrd="0" presId="urn:microsoft.com/office/officeart/2018/2/layout/IconVerticalSolidList"/>
    <dgm:cxn modelId="{4865A7F5-0F5F-45E8-91DF-E5A9BAB620C2}" type="presParOf" srcId="{3B14EA67-D182-4CFA-BDAB-5646C164E8E0}" destId="{7A314DED-D73E-49A7-864D-613C10A521D6}" srcOrd="3" destOrd="0" presId="urn:microsoft.com/office/officeart/2018/2/layout/IconVerticalSolidList"/>
    <dgm:cxn modelId="{B207532A-EACA-4609-B793-C132E93E8E4D}" type="presParOf" srcId="{3B14EA67-D182-4CFA-BDAB-5646C164E8E0}" destId="{75CFC3B8-7F2B-43FC-A02F-361284E55A14}" srcOrd="4" destOrd="0" presId="urn:microsoft.com/office/officeart/2018/2/layout/IconVerticalSolidList"/>
    <dgm:cxn modelId="{540F86FA-19A0-4BB2-99A2-61B05BCDDEC7}" type="presParOf" srcId="{75CFC3B8-7F2B-43FC-A02F-361284E55A14}" destId="{93FAAC31-91B3-4D27-8E88-CBDB4EA7690B}" srcOrd="0" destOrd="0" presId="urn:microsoft.com/office/officeart/2018/2/layout/IconVerticalSolidList"/>
    <dgm:cxn modelId="{38C79E79-B7B4-4CD1-B018-01B9407CDC44}" type="presParOf" srcId="{75CFC3B8-7F2B-43FC-A02F-361284E55A14}" destId="{BB4086EE-6034-4538-A40B-64364B73612C}" srcOrd="1" destOrd="0" presId="urn:microsoft.com/office/officeart/2018/2/layout/IconVerticalSolidList"/>
    <dgm:cxn modelId="{5885CDED-CE6B-4DD4-9EC7-F0664EC384E0}" type="presParOf" srcId="{75CFC3B8-7F2B-43FC-A02F-361284E55A14}" destId="{02941C18-9506-4066-B562-63E31203F97E}" srcOrd="2" destOrd="0" presId="urn:microsoft.com/office/officeart/2018/2/layout/IconVerticalSolidList"/>
    <dgm:cxn modelId="{96E9E298-46FF-45BA-B219-525EE7926062}" type="presParOf" srcId="{75CFC3B8-7F2B-43FC-A02F-361284E55A14}" destId="{35D55CB8-6DF2-4006-8B5B-0B529304D59C}"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43CCFF-1EFA-456A-ADCB-33DA8888256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BF8348E-0978-4DA8-A800-F31B1993579E}">
      <dgm:prSet/>
      <dgm:spPr/>
      <dgm:t>
        <a:bodyPr/>
        <a:lstStyle/>
        <a:p>
          <a:pPr>
            <a:lnSpc>
              <a:spcPct val="100000"/>
            </a:lnSpc>
          </a:pPr>
          <a:r>
            <a:rPr lang="en-US" b="1" dirty="0"/>
            <a:t>Web application Firewall: </a:t>
          </a:r>
          <a:r>
            <a:rPr lang="en-US" dirty="0"/>
            <a:t>Un WAF </a:t>
          </a:r>
          <a:r>
            <a:rPr lang="en-US" dirty="0" err="1"/>
            <a:t>monitora</a:t>
          </a:r>
          <a:r>
            <a:rPr lang="en-US" dirty="0"/>
            <a:t> e </a:t>
          </a:r>
          <a:r>
            <a:rPr lang="en-US" dirty="0" err="1"/>
            <a:t>analizza</a:t>
          </a:r>
          <a:r>
            <a:rPr lang="en-US" dirty="0"/>
            <a:t> il </a:t>
          </a:r>
          <a:r>
            <a:rPr lang="en-US" dirty="0" err="1"/>
            <a:t>traffico</a:t>
          </a:r>
          <a:r>
            <a:rPr lang="en-US" dirty="0"/>
            <a:t> in tempo </a:t>
          </a:r>
          <a:r>
            <a:rPr lang="en-US" dirty="0" err="1"/>
            <a:t>reale</a:t>
          </a:r>
          <a:r>
            <a:rPr lang="en-US" dirty="0"/>
            <a:t>, </a:t>
          </a:r>
          <a:r>
            <a:rPr lang="en-US" dirty="0" err="1"/>
            <a:t>rilevando</a:t>
          </a:r>
          <a:r>
            <a:rPr lang="en-US" dirty="0"/>
            <a:t> e </a:t>
          </a:r>
          <a:r>
            <a:rPr lang="en-US" dirty="0" err="1"/>
            <a:t>bloccando</a:t>
          </a:r>
          <a:r>
            <a:rPr lang="en-US" dirty="0"/>
            <a:t> </a:t>
          </a:r>
          <a:r>
            <a:rPr lang="en-US" dirty="0" err="1"/>
            <a:t>richieste</a:t>
          </a:r>
          <a:r>
            <a:rPr lang="en-US" dirty="0"/>
            <a:t> lente o </a:t>
          </a:r>
          <a:r>
            <a:rPr lang="en-US" dirty="0" err="1"/>
            <a:t>comportamenti</a:t>
          </a:r>
          <a:r>
            <a:rPr lang="en-US" dirty="0"/>
            <a:t> </a:t>
          </a:r>
          <a:r>
            <a:rPr lang="en-US" dirty="0" err="1"/>
            <a:t>anomali</a:t>
          </a:r>
          <a:r>
            <a:rPr lang="en-US" dirty="0"/>
            <a:t> </a:t>
          </a:r>
          <a:r>
            <a:rPr lang="en-US" dirty="0" err="1"/>
            <a:t>che</a:t>
          </a:r>
          <a:r>
            <a:rPr lang="en-US" dirty="0"/>
            <a:t> </a:t>
          </a:r>
          <a:r>
            <a:rPr lang="en-US" dirty="0" err="1"/>
            <a:t>potrebbero</a:t>
          </a:r>
          <a:r>
            <a:rPr lang="en-US" dirty="0"/>
            <a:t> </a:t>
          </a:r>
          <a:r>
            <a:rPr lang="en-US" dirty="0" err="1"/>
            <a:t>indicare</a:t>
          </a:r>
          <a:r>
            <a:rPr lang="en-US" dirty="0"/>
            <a:t> un </a:t>
          </a:r>
          <a:r>
            <a:rPr lang="en-US" dirty="0" err="1"/>
            <a:t>attacco</a:t>
          </a:r>
          <a:r>
            <a:rPr lang="en-US" dirty="0"/>
            <a:t> </a:t>
          </a:r>
          <a:r>
            <a:rPr lang="en-US" dirty="0" err="1"/>
            <a:t>SlowLoris</a:t>
          </a:r>
          <a:r>
            <a:rPr lang="en-US" b="1" dirty="0"/>
            <a:t>.</a:t>
          </a:r>
          <a:endParaRPr lang="en-US" dirty="0"/>
        </a:p>
      </dgm:t>
    </dgm:pt>
    <dgm:pt modelId="{3E5DEDB4-01B0-45E3-AB2F-F7B3710BC0BD}" type="parTrans" cxnId="{1723252A-F9EF-4863-B1BD-97C3DB351E43}">
      <dgm:prSet/>
      <dgm:spPr/>
      <dgm:t>
        <a:bodyPr/>
        <a:lstStyle/>
        <a:p>
          <a:endParaRPr lang="en-US"/>
        </a:p>
      </dgm:t>
    </dgm:pt>
    <dgm:pt modelId="{D7DB7D75-E090-4834-8311-41682F7ED2DA}" type="sibTrans" cxnId="{1723252A-F9EF-4863-B1BD-97C3DB351E43}">
      <dgm:prSet/>
      <dgm:spPr/>
      <dgm:t>
        <a:bodyPr/>
        <a:lstStyle/>
        <a:p>
          <a:endParaRPr lang="en-US"/>
        </a:p>
      </dgm:t>
    </dgm:pt>
    <dgm:pt modelId="{91A103DD-DB68-4A47-BE4D-FB06CBC82805}">
      <dgm:prSet/>
      <dgm:spPr/>
      <dgm:t>
        <a:bodyPr/>
        <a:lstStyle/>
        <a:p>
          <a:pPr>
            <a:lnSpc>
              <a:spcPct val="100000"/>
            </a:lnSpc>
          </a:pPr>
          <a:r>
            <a:rPr lang="en-US" b="1" dirty="0"/>
            <a:t>Timeout per le </a:t>
          </a:r>
          <a:r>
            <a:rPr lang="en-US" b="1" dirty="0" err="1"/>
            <a:t>connessioni</a:t>
          </a:r>
          <a:r>
            <a:rPr lang="en-US" b="1" dirty="0"/>
            <a:t>: </a:t>
          </a:r>
          <a:r>
            <a:rPr lang="en-US" dirty="0" err="1"/>
            <a:t>Configurare</a:t>
          </a:r>
          <a:r>
            <a:rPr lang="en-US" dirty="0"/>
            <a:t> un tempo </a:t>
          </a:r>
          <a:r>
            <a:rPr lang="en-US" dirty="0" err="1"/>
            <a:t>massimo</a:t>
          </a:r>
          <a:r>
            <a:rPr lang="en-US" dirty="0"/>
            <a:t> per le </a:t>
          </a:r>
          <a:r>
            <a:rPr lang="en-US" dirty="0" err="1"/>
            <a:t>connessioni</a:t>
          </a:r>
          <a:r>
            <a:rPr lang="en-US" dirty="0"/>
            <a:t> incomplete al server </a:t>
          </a:r>
          <a:r>
            <a:rPr lang="en-US" dirty="0" err="1"/>
            <a:t>aiuta</a:t>
          </a:r>
          <a:r>
            <a:rPr lang="en-US" dirty="0"/>
            <a:t> ad </a:t>
          </a:r>
          <a:r>
            <a:rPr lang="en-US" dirty="0" err="1"/>
            <a:t>evitare</a:t>
          </a:r>
          <a:r>
            <a:rPr lang="en-US" dirty="0"/>
            <a:t> </a:t>
          </a:r>
          <a:r>
            <a:rPr lang="en-US" dirty="0" err="1"/>
            <a:t>che</a:t>
          </a:r>
          <a:r>
            <a:rPr lang="en-US" dirty="0"/>
            <a:t> le </a:t>
          </a:r>
          <a:r>
            <a:rPr lang="en-US" dirty="0" err="1"/>
            <a:t>risorse</a:t>
          </a:r>
          <a:r>
            <a:rPr lang="en-US" dirty="0"/>
            <a:t> </a:t>
          </a:r>
          <a:r>
            <a:rPr lang="en-US" dirty="0" err="1"/>
            <a:t>rimangano</a:t>
          </a:r>
          <a:r>
            <a:rPr lang="en-US" dirty="0"/>
            <a:t> </a:t>
          </a:r>
          <a:r>
            <a:rPr lang="en-US" dirty="0" err="1"/>
            <a:t>occupate</a:t>
          </a:r>
          <a:r>
            <a:rPr lang="en-US" dirty="0"/>
            <a:t> da </a:t>
          </a:r>
          <a:r>
            <a:rPr lang="en-US" dirty="0" err="1"/>
            <a:t>richieste</a:t>
          </a:r>
          <a:r>
            <a:rPr lang="en-US" dirty="0"/>
            <a:t> </a:t>
          </a:r>
          <a:r>
            <a:rPr lang="en-US" dirty="0" err="1"/>
            <a:t>malevole</a:t>
          </a:r>
          <a:r>
            <a:rPr lang="en-US" dirty="0"/>
            <a:t> </a:t>
          </a:r>
          <a:r>
            <a:rPr lang="en-US" dirty="0" err="1"/>
            <a:t>troppo</a:t>
          </a:r>
          <a:r>
            <a:rPr lang="en-US" dirty="0"/>
            <a:t> a </a:t>
          </a:r>
          <a:r>
            <a:rPr lang="en-US" dirty="0" err="1"/>
            <a:t>lungo</a:t>
          </a:r>
          <a:r>
            <a:rPr lang="en-US" dirty="0"/>
            <a:t>. </a:t>
          </a:r>
        </a:p>
      </dgm:t>
    </dgm:pt>
    <dgm:pt modelId="{CF22504F-6D81-450A-A384-228A015D3250}" type="parTrans" cxnId="{614F6595-1475-478B-BA75-F0611480105F}">
      <dgm:prSet/>
      <dgm:spPr/>
      <dgm:t>
        <a:bodyPr/>
        <a:lstStyle/>
        <a:p>
          <a:endParaRPr lang="en-US"/>
        </a:p>
      </dgm:t>
    </dgm:pt>
    <dgm:pt modelId="{FF14E485-2C67-40B6-969C-94D2AC713408}" type="sibTrans" cxnId="{614F6595-1475-478B-BA75-F0611480105F}">
      <dgm:prSet/>
      <dgm:spPr/>
      <dgm:t>
        <a:bodyPr/>
        <a:lstStyle/>
        <a:p>
          <a:endParaRPr lang="en-US"/>
        </a:p>
      </dgm:t>
    </dgm:pt>
    <dgm:pt modelId="{512CAA6B-FA82-4FAB-8415-4A59CC96EE9A}">
      <dgm:prSet/>
      <dgm:spPr/>
      <dgm:t>
        <a:bodyPr/>
        <a:lstStyle/>
        <a:p>
          <a:pPr>
            <a:lnSpc>
              <a:spcPct val="100000"/>
            </a:lnSpc>
          </a:pPr>
          <a:r>
            <a:rPr lang="en-US" b="1" dirty="0" err="1"/>
            <a:t>Limitare</a:t>
          </a:r>
          <a:r>
            <a:rPr lang="en-US" b="1" dirty="0"/>
            <a:t> il </a:t>
          </a:r>
          <a:r>
            <a:rPr lang="en-US" b="1" dirty="0" err="1"/>
            <a:t>numero</a:t>
          </a:r>
          <a:r>
            <a:rPr lang="en-US" b="1" dirty="0"/>
            <a:t> di </a:t>
          </a:r>
          <a:r>
            <a:rPr lang="en-US" b="1" dirty="0" err="1"/>
            <a:t>connessioni</a:t>
          </a:r>
          <a:r>
            <a:rPr lang="en-US" b="1" dirty="0"/>
            <a:t> IP: </a:t>
          </a:r>
          <a:r>
            <a:rPr lang="en-US" dirty="0"/>
            <a:t>Diminuendo il </a:t>
          </a:r>
          <a:r>
            <a:rPr lang="en-US" dirty="0" err="1"/>
            <a:t>numero</a:t>
          </a:r>
          <a:r>
            <a:rPr lang="en-US" dirty="0"/>
            <a:t> di </a:t>
          </a:r>
          <a:r>
            <a:rPr lang="en-US" dirty="0" err="1"/>
            <a:t>connessioni</a:t>
          </a:r>
          <a:r>
            <a:rPr lang="en-US" dirty="0"/>
            <a:t> </a:t>
          </a:r>
          <a:r>
            <a:rPr lang="en-US" dirty="0" err="1"/>
            <a:t>simultanee</a:t>
          </a:r>
          <a:r>
            <a:rPr lang="en-US" dirty="0"/>
            <a:t> </a:t>
          </a:r>
          <a:r>
            <a:rPr lang="en-US" dirty="0" err="1"/>
            <a:t>provenienti</a:t>
          </a:r>
          <a:r>
            <a:rPr lang="en-US" dirty="0"/>
            <a:t> da uno </a:t>
          </a:r>
          <a:r>
            <a:rPr lang="en-US" dirty="0" err="1"/>
            <a:t>stesso</a:t>
          </a:r>
          <a:r>
            <a:rPr lang="en-US" dirty="0"/>
            <a:t> </a:t>
          </a:r>
          <a:r>
            <a:rPr lang="en-US" dirty="0" err="1"/>
            <a:t>indirizzo</a:t>
          </a:r>
          <a:r>
            <a:rPr lang="en-US" dirty="0"/>
            <a:t> IP è </a:t>
          </a:r>
          <a:r>
            <a:rPr lang="en-US" dirty="0" err="1"/>
            <a:t>possibile</a:t>
          </a:r>
          <a:r>
            <a:rPr lang="en-US" dirty="0"/>
            <a:t> </a:t>
          </a:r>
          <a:r>
            <a:rPr lang="en-US" dirty="0" err="1"/>
            <a:t>ridurre</a:t>
          </a:r>
          <a:r>
            <a:rPr lang="en-US" dirty="0"/>
            <a:t> </a:t>
          </a:r>
          <a:r>
            <a:rPr lang="en-US" dirty="0" err="1"/>
            <a:t>l’impatto</a:t>
          </a:r>
          <a:r>
            <a:rPr lang="en-US" dirty="0"/>
            <a:t> di un </a:t>
          </a:r>
          <a:r>
            <a:rPr lang="en-US" dirty="0" err="1"/>
            <a:t>attacco</a:t>
          </a:r>
          <a:r>
            <a:rPr lang="en-US" dirty="0"/>
            <a:t> </a:t>
          </a:r>
          <a:r>
            <a:rPr lang="en-US" dirty="0" err="1"/>
            <a:t>Slowloris</a:t>
          </a:r>
          <a:r>
            <a:rPr lang="en-US" dirty="0"/>
            <a:t> se </a:t>
          </a:r>
          <a:r>
            <a:rPr lang="en-US" dirty="0" err="1"/>
            <a:t>proviene</a:t>
          </a:r>
          <a:r>
            <a:rPr lang="en-US" dirty="0"/>
            <a:t> da </a:t>
          </a:r>
          <a:r>
            <a:rPr lang="en-US" dirty="0" err="1"/>
            <a:t>una</a:t>
          </a:r>
          <a:r>
            <a:rPr lang="en-US" dirty="0"/>
            <a:t> </a:t>
          </a:r>
          <a:r>
            <a:rPr lang="en-US" dirty="0" err="1"/>
            <a:t>singola</a:t>
          </a:r>
          <a:r>
            <a:rPr lang="en-US" dirty="0"/>
            <a:t> </a:t>
          </a:r>
          <a:r>
            <a:rPr lang="en-US" dirty="0" err="1"/>
            <a:t>fonte</a:t>
          </a:r>
          <a:r>
            <a:rPr lang="en-US" dirty="0"/>
            <a:t>. </a:t>
          </a:r>
        </a:p>
      </dgm:t>
    </dgm:pt>
    <dgm:pt modelId="{42AC04F1-B343-4408-BD17-7BFEEA877EBE}" type="parTrans" cxnId="{0687C3D7-DCA6-4D77-BF82-51E23C1C23DA}">
      <dgm:prSet/>
      <dgm:spPr/>
      <dgm:t>
        <a:bodyPr/>
        <a:lstStyle/>
        <a:p>
          <a:endParaRPr lang="en-US"/>
        </a:p>
      </dgm:t>
    </dgm:pt>
    <dgm:pt modelId="{41A0A25D-022C-4802-9600-53AEC5FAF28C}" type="sibTrans" cxnId="{0687C3D7-DCA6-4D77-BF82-51E23C1C23DA}">
      <dgm:prSet/>
      <dgm:spPr/>
      <dgm:t>
        <a:bodyPr/>
        <a:lstStyle/>
        <a:p>
          <a:endParaRPr lang="en-US"/>
        </a:p>
      </dgm:t>
    </dgm:pt>
    <dgm:pt modelId="{683A8FDE-889E-4CCB-8BC3-DEA293FDC644}">
      <dgm:prSet/>
      <dgm:spPr/>
      <dgm:t>
        <a:bodyPr/>
        <a:lstStyle/>
        <a:p>
          <a:pPr>
            <a:lnSpc>
              <a:spcPct val="100000"/>
            </a:lnSpc>
          </a:pPr>
          <a:r>
            <a:rPr lang="en-US" b="1" dirty="0" err="1"/>
            <a:t>Abilitare</a:t>
          </a:r>
          <a:r>
            <a:rPr lang="en-US" b="1" dirty="0"/>
            <a:t> moduli Apache </a:t>
          </a:r>
          <a:r>
            <a:rPr lang="en-US" b="1" dirty="0" err="1"/>
            <a:t>specifici</a:t>
          </a:r>
          <a:r>
            <a:rPr lang="en-US" b="1" dirty="0"/>
            <a:t>: </a:t>
          </a:r>
          <a:r>
            <a:rPr lang="en-US" dirty="0"/>
            <a:t>(se la web application è </a:t>
          </a:r>
          <a:r>
            <a:rPr lang="en-US" dirty="0" err="1"/>
            <a:t>hostata</a:t>
          </a:r>
          <a:r>
            <a:rPr lang="en-US" dirty="0"/>
            <a:t> da </a:t>
          </a:r>
          <a:r>
            <a:rPr lang="en-US" dirty="0" err="1"/>
            <a:t>servizi</a:t>
          </a:r>
          <a:r>
            <a:rPr lang="en-US" dirty="0"/>
            <a:t> Apache) Uno di </a:t>
          </a:r>
          <a:r>
            <a:rPr lang="en-US" dirty="0" err="1"/>
            <a:t>questi</a:t>
          </a:r>
          <a:r>
            <a:rPr lang="en-US" dirty="0"/>
            <a:t> moduli è </a:t>
          </a:r>
          <a:r>
            <a:rPr lang="en-US" b="1" dirty="0" err="1"/>
            <a:t>mod_reqtimeout</a:t>
          </a:r>
          <a:r>
            <a:rPr lang="en-US" b="1" dirty="0"/>
            <a:t> </a:t>
          </a:r>
          <a:r>
            <a:rPr lang="en-US" dirty="0" err="1"/>
            <a:t>che</a:t>
          </a:r>
          <a:r>
            <a:rPr lang="en-US" dirty="0"/>
            <a:t> </a:t>
          </a:r>
          <a:r>
            <a:rPr lang="en-US" dirty="0" err="1"/>
            <a:t>limita</a:t>
          </a:r>
          <a:r>
            <a:rPr lang="en-US" dirty="0"/>
            <a:t> la </a:t>
          </a:r>
          <a:r>
            <a:rPr lang="en-US" dirty="0" err="1"/>
            <a:t>durata</a:t>
          </a:r>
          <a:r>
            <a:rPr lang="en-US" dirty="0"/>
            <a:t> delle </a:t>
          </a:r>
          <a:r>
            <a:rPr lang="en-US" dirty="0" err="1"/>
            <a:t>richieste</a:t>
          </a:r>
          <a:r>
            <a:rPr lang="en-US" dirty="0"/>
            <a:t> lente. </a:t>
          </a:r>
        </a:p>
      </dgm:t>
    </dgm:pt>
    <dgm:pt modelId="{59426AE4-5D2E-437D-AC0B-99C403FD5807}" type="parTrans" cxnId="{E6840F95-F9D7-40CD-A02B-D59112B637E7}">
      <dgm:prSet/>
      <dgm:spPr/>
      <dgm:t>
        <a:bodyPr/>
        <a:lstStyle/>
        <a:p>
          <a:endParaRPr lang="en-US"/>
        </a:p>
      </dgm:t>
    </dgm:pt>
    <dgm:pt modelId="{F454D7F7-9DB5-4C10-B25F-D1F4BFFD8D04}" type="sibTrans" cxnId="{E6840F95-F9D7-40CD-A02B-D59112B637E7}">
      <dgm:prSet/>
      <dgm:spPr/>
      <dgm:t>
        <a:bodyPr/>
        <a:lstStyle/>
        <a:p>
          <a:endParaRPr lang="en-US"/>
        </a:p>
      </dgm:t>
    </dgm:pt>
    <dgm:pt modelId="{BEB3925C-83C6-4778-9735-AEF24DF2D794}" type="pres">
      <dgm:prSet presAssocID="{BB43CCFF-1EFA-456A-ADCB-33DA88882561}" presName="root" presStyleCnt="0">
        <dgm:presLayoutVars>
          <dgm:dir/>
          <dgm:resizeHandles val="exact"/>
        </dgm:presLayoutVars>
      </dgm:prSet>
      <dgm:spPr/>
    </dgm:pt>
    <dgm:pt modelId="{89E95BA6-AB83-4583-A36F-C9636678073D}" type="pres">
      <dgm:prSet presAssocID="{BBF8348E-0978-4DA8-A800-F31B1993579E}" presName="compNode" presStyleCnt="0"/>
      <dgm:spPr/>
    </dgm:pt>
    <dgm:pt modelId="{4331A55F-32B4-43FE-80DE-1977EED4C7A0}" type="pres">
      <dgm:prSet presAssocID="{BBF8348E-0978-4DA8-A800-F31B1993579E}" presName="bgRect" presStyleLbl="bgShp" presStyleIdx="0" presStyleCnt="4"/>
      <dgm:spPr/>
    </dgm:pt>
    <dgm:pt modelId="{62DCE5D3-04CB-4FFD-8481-1767048EEF5C}" type="pres">
      <dgm:prSet presAssocID="{BBF8348E-0978-4DA8-A800-F31B1993579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sso"/>
        </a:ext>
      </dgm:extLst>
    </dgm:pt>
    <dgm:pt modelId="{2D90039F-74CD-4BDE-A0A9-95CAF1DBCA72}" type="pres">
      <dgm:prSet presAssocID="{BBF8348E-0978-4DA8-A800-F31B1993579E}" presName="spaceRect" presStyleCnt="0"/>
      <dgm:spPr/>
    </dgm:pt>
    <dgm:pt modelId="{BA1070ED-695E-4F70-BBE9-1EA95C421488}" type="pres">
      <dgm:prSet presAssocID="{BBF8348E-0978-4DA8-A800-F31B1993579E}" presName="parTx" presStyleLbl="revTx" presStyleIdx="0" presStyleCnt="4">
        <dgm:presLayoutVars>
          <dgm:chMax val="0"/>
          <dgm:chPref val="0"/>
        </dgm:presLayoutVars>
      </dgm:prSet>
      <dgm:spPr/>
    </dgm:pt>
    <dgm:pt modelId="{C88BF640-F8D1-4137-ADE7-131CEE2FC6BE}" type="pres">
      <dgm:prSet presAssocID="{D7DB7D75-E090-4834-8311-41682F7ED2DA}" presName="sibTrans" presStyleCnt="0"/>
      <dgm:spPr/>
    </dgm:pt>
    <dgm:pt modelId="{6BD924C0-00C0-4152-A401-2F87B0D0F89A}" type="pres">
      <dgm:prSet presAssocID="{91A103DD-DB68-4A47-BE4D-FB06CBC82805}" presName="compNode" presStyleCnt="0"/>
      <dgm:spPr/>
    </dgm:pt>
    <dgm:pt modelId="{E08C0E79-3FA9-4EA9-8FD2-D200A3D37993}" type="pres">
      <dgm:prSet presAssocID="{91A103DD-DB68-4A47-BE4D-FB06CBC82805}" presName="bgRect" presStyleLbl="bgShp" presStyleIdx="1" presStyleCnt="4"/>
      <dgm:spPr/>
    </dgm:pt>
    <dgm:pt modelId="{BAE5AF54-763D-4F22-BFA8-6BD23AD28067}" type="pres">
      <dgm:prSet presAssocID="{91A103DD-DB68-4A47-BE4D-FB06CBC8280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agramma di flusso"/>
        </a:ext>
      </dgm:extLst>
    </dgm:pt>
    <dgm:pt modelId="{75B88C4C-9E6A-4CFD-BE7D-3480886EC5AA}" type="pres">
      <dgm:prSet presAssocID="{91A103DD-DB68-4A47-BE4D-FB06CBC82805}" presName="spaceRect" presStyleCnt="0"/>
      <dgm:spPr/>
    </dgm:pt>
    <dgm:pt modelId="{32E41CFA-96E8-4C22-8BFA-3423FC4FE487}" type="pres">
      <dgm:prSet presAssocID="{91A103DD-DB68-4A47-BE4D-FB06CBC82805}" presName="parTx" presStyleLbl="revTx" presStyleIdx="1" presStyleCnt="4">
        <dgm:presLayoutVars>
          <dgm:chMax val="0"/>
          <dgm:chPref val="0"/>
        </dgm:presLayoutVars>
      </dgm:prSet>
      <dgm:spPr/>
    </dgm:pt>
    <dgm:pt modelId="{60841307-C187-4956-8D16-207FDBE18256}" type="pres">
      <dgm:prSet presAssocID="{FF14E485-2C67-40B6-969C-94D2AC713408}" presName="sibTrans" presStyleCnt="0"/>
      <dgm:spPr/>
    </dgm:pt>
    <dgm:pt modelId="{371F1255-E261-47E0-942B-936A271B6A91}" type="pres">
      <dgm:prSet presAssocID="{512CAA6B-FA82-4FAB-8415-4A59CC96EE9A}" presName="compNode" presStyleCnt="0"/>
      <dgm:spPr/>
    </dgm:pt>
    <dgm:pt modelId="{DB4C7A9F-4782-4EE2-A6B2-CEE198B365E0}" type="pres">
      <dgm:prSet presAssocID="{512CAA6B-FA82-4FAB-8415-4A59CC96EE9A}" presName="bgRect" presStyleLbl="bgShp" presStyleIdx="2" presStyleCnt="4"/>
      <dgm:spPr/>
    </dgm:pt>
    <dgm:pt modelId="{FFFC68FC-AA73-471F-981B-9318C71E5926}" type="pres">
      <dgm:prSet presAssocID="{512CAA6B-FA82-4FAB-8415-4A59CC96EE9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vieto"/>
        </a:ext>
      </dgm:extLst>
    </dgm:pt>
    <dgm:pt modelId="{4F093994-8617-40AC-9200-41D58C2D1E1D}" type="pres">
      <dgm:prSet presAssocID="{512CAA6B-FA82-4FAB-8415-4A59CC96EE9A}" presName="spaceRect" presStyleCnt="0"/>
      <dgm:spPr/>
    </dgm:pt>
    <dgm:pt modelId="{1FB2CB35-1FDB-4832-A744-12A4FDF0FD7F}" type="pres">
      <dgm:prSet presAssocID="{512CAA6B-FA82-4FAB-8415-4A59CC96EE9A}" presName="parTx" presStyleLbl="revTx" presStyleIdx="2" presStyleCnt="4">
        <dgm:presLayoutVars>
          <dgm:chMax val="0"/>
          <dgm:chPref val="0"/>
        </dgm:presLayoutVars>
      </dgm:prSet>
      <dgm:spPr/>
    </dgm:pt>
    <dgm:pt modelId="{66F0C5EB-B11F-4C22-AC07-B3C35DCD18F6}" type="pres">
      <dgm:prSet presAssocID="{41A0A25D-022C-4802-9600-53AEC5FAF28C}" presName="sibTrans" presStyleCnt="0"/>
      <dgm:spPr/>
    </dgm:pt>
    <dgm:pt modelId="{03024234-2871-4490-BB36-691E892AC767}" type="pres">
      <dgm:prSet presAssocID="{683A8FDE-889E-4CCB-8BC3-DEA293FDC644}" presName="compNode" presStyleCnt="0"/>
      <dgm:spPr/>
    </dgm:pt>
    <dgm:pt modelId="{06E069DA-E902-486A-AE1F-F81414126F3A}" type="pres">
      <dgm:prSet presAssocID="{683A8FDE-889E-4CCB-8BC3-DEA293FDC644}" presName="bgRect" presStyleLbl="bgShp" presStyleIdx="3" presStyleCnt="4"/>
      <dgm:spPr/>
    </dgm:pt>
    <dgm:pt modelId="{85B1ED94-436A-418E-A79D-E1E4A35C8067}" type="pres">
      <dgm:prSet presAssocID="{683A8FDE-889E-4CCB-8BC3-DEA293FDC64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tabase"/>
        </a:ext>
      </dgm:extLst>
    </dgm:pt>
    <dgm:pt modelId="{F5360FF5-7E15-4E8A-87D5-F04687EE1A3A}" type="pres">
      <dgm:prSet presAssocID="{683A8FDE-889E-4CCB-8BC3-DEA293FDC644}" presName="spaceRect" presStyleCnt="0"/>
      <dgm:spPr/>
    </dgm:pt>
    <dgm:pt modelId="{8C346994-3A18-4051-87C8-D9B4E9C426AB}" type="pres">
      <dgm:prSet presAssocID="{683A8FDE-889E-4CCB-8BC3-DEA293FDC644}" presName="parTx" presStyleLbl="revTx" presStyleIdx="3" presStyleCnt="4">
        <dgm:presLayoutVars>
          <dgm:chMax val="0"/>
          <dgm:chPref val="0"/>
        </dgm:presLayoutVars>
      </dgm:prSet>
      <dgm:spPr/>
    </dgm:pt>
  </dgm:ptLst>
  <dgm:cxnLst>
    <dgm:cxn modelId="{2DE29904-302D-46F9-914A-C6DB5E8297A7}" type="presOf" srcId="{683A8FDE-889E-4CCB-8BC3-DEA293FDC644}" destId="{8C346994-3A18-4051-87C8-D9B4E9C426AB}" srcOrd="0" destOrd="0" presId="urn:microsoft.com/office/officeart/2018/2/layout/IconVerticalSolidList"/>
    <dgm:cxn modelId="{FA65E010-920E-4A1F-BA8E-24326A221824}" type="presOf" srcId="{BB43CCFF-1EFA-456A-ADCB-33DA88882561}" destId="{BEB3925C-83C6-4778-9735-AEF24DF2D794}" srcOrd="0" destOrd="0" presId="urn:microsoft.com/office/officeart/2018/2/layout/IconVerticalSolidList"/>
    <dgm:cxn modelId="{33084117-E32E-4BD0-AD1A-7104E1EB0E78}" type="presOf" srcId="{512CAA6B-FA82-4FAB-8415-4A59CC96EE9A}" destId="{1FB2CB35-1FDB-4832-A744-12A4FDF0FD7F}" srcOrd="0" destOrd="0" presId="urn:microsoft.com/office/officeart/2018/2/layout/IconVerticalSolidList"/>
    <dgm:cxn modelId="{A10F1820-DAE3-4AEF-939D-58EFF1680F90}" type="presOf" srcId="{BBF8348E-0978-4DA8-A800-F31B1993579E}" destId="{BA1070ED-695E-4F70-BBE9-1EA95C421488}" srcOrd="0" destOrd="0" presId="urn:microsoft.com/office/officeart/2018/2/layout/IconVerticalSolidList"/>
    <dgm:cxn modelId="{1723252A-F9EF-4863-B1BD-97C3DB351E43}" srcId="{BB43CCFF-1EFA-456A-ADCB-33DA88882561}" destId="{BBF8348E-0978-4DA8-A800-F31B1993579E}" srcOrd="0" destOrd="0" parTransId="{3E5DEDB4-01B0-45E3-AB2F-F7B3710BC0BD}" sibTransId="{D7DB7D75-E090-4834-8311-41682F7ED2DA}"/>
    <dgm:cxn modelId="{3D009043-5AF4-4523-9E0F-EFC73571F463}" type="presOf" srcId="{91A103DD-DB68-4A47-BE4D-FB06CBC82805}" destId="{32E41CFA-96E8-4C22-8BFA-3423FC4FE487}" srcOrd="0" destOrd="0" presId="urn:microsoft.com/office/officeart/2018/2/layout/IconVerticalSolidList"/>
    <dgm:cxn modelId="{E6840F95-F9D7-40CD-A02B-D59112B637E7}" srcId="{BB43CCFF-1EFA-456A-ADCB-33DA88882561}" destId="{683A8FDE-889E-4CCB-8BC3-DEA293FDC644}" srcOrd="3" destOrd="0" parTransId="{59426AE4-5D2E-437D-AC0B-99C403FD5807}" sibTransId="{F454D7F7-9DB5-4C10-B25F-D1F4BFFD8D04}"/>
    <dgm:cxn modelId="{614F6595-1475-478B-BA75-F0611480105F}" srcId="{BB43CCFF-1EFA-456A-ADCB-33DA88882561}" destId="{91A103DD-DB68-4A47-BE4D-FB06CBC82805}" srcOrd="1" destOrd="0" parTransId="{CF22504F-6D81-450A-A384-228A015D3250}" sibTransId="{FF14E485-2C67-40B6-969C-94D2AC713408}"/>
    <dgm:cxn modelId="{0687C3D7-DCA6-4D77-BF82-51E23C1C23DA}" srcId="{BB43CCFF-1EFA-456A-ADCB-33DA88882561}" destId="{512CAA6B-FA82-4FAB-8415-4A59CC96EE9A}" srcOrd="2" destOrd="0" parTransId="{42AC04F1-B343-4408-BD17-7BFEEA877EBE}" sibTransId="{41A0A25D-022C-4802-9600-53AEC5FAF28C}"/>
    <dgm:cxn modelId="{7747CA36-E5F0-4357-88E6-889E8C45FB27}" type="presParOf" srcId="{BEB3925C-83C6-4778-9735-AEF24DF2D794}" destId="{89E95BA6-AB83-4583-A36F-C9636678073D}" srcOrd="0" destOrd="0" presId="urn:microsoft.com/office/officeart/2018/2/layout/IconVerticalSolidList"/>
    <dgm:cxn modelId="{3B31C908-6A9B-4310-BC50-44593D17DB8F}" type="presParOf" srcId="{89E95BA6-AB83-4583-A36F-C9636678073D}" destId="{4331A55F-32B4-43FE-80DE-1977EED4C7A0}" srcOrd="0" destOrd="0" presId="urn:microsoft.com/office/officeart/2018/2/layout/IconVerticalSolidList"/>
    <dgm:cxn modelId="{55E8AD91-CE21-4D2B-A702-D8AA9F5825E6}" type="presParOf" srcId="{89E95BA6-AB83-4583-A36F-C9636678073D}" destId="{62DCE5D3-04CB-4FFD-8481-1767048EEF5C}" srcOrd="1" destOrd="0" presId="urn:microsoft.com/office/officeart/2018/2/layout/IconVerticalSolidList"/>
    <dgm:cxn modelId="{4F81E533-42DF-45CB-8195-E95474E9650E}" type="presParOf" srcId="{89E95BA6-AB83-4583-A36F-C9636678073D}" destId="{2D90039F-74CD-4BDE-A0A9-95CAF1DBCA72}" srcOrd="2" destOrd="0" presId="urn:microsoft.com/office/officeart/2018/2/layout/IconVerticalSolidList"/>
    <dgm:cxn modelId="{12A21FE6-57BD-43DA-9A23-B27A6A38EB04}" type="presParOf" srcId="{89E95BA6-AB83-4583-A36F-C9636678073D}" destId="{BA1070ED-695E-4F70-BBE9-1EA95C421488}" srcOrd="3" destOrd="0" presId="urn:microsoft.com/office/officeart/2018/2/layout/IconVerticalSolidList"/>
    <dgm:cxn modelId="{7E0E1D14-D585-4F08-A683-D11EC235CB5B}" type="presParOf" srcId="{BEB3925C-83C6-4778-9735-AEF24DF2D794}" destId="{C88BF640-F8D1-4137-ADE7-131CEE2FC6BE}" srcOrd="1" destOrd="0" presId="urn:microsoft.com/office/officeart/2018/2/layout/IconVerticalSolidList"/>
    <dgm:cxn modelId="{FDCDF18E-F5C7-4BCE-BF7C-EF13E7DB8B88}" type="presParOf" srcId="{BEB3925C-83C6-4778-9735-AEF24DF2D794}" destId="{6BD924C0-00C0-4152-A401-2F87B0D0F89A}" srcOrd="2" destOrd="0" presId="urn:microsoft.com/office/officeart/2018/2/layout/IconVerticalSolidList"/>
    <dgm:cxn modelId="{043E2115-3EC2-4DA3-A504-FFA4507AA4D6}" type="presParOf" srcId="{6BD924C0-00C0-4152-A401-2F87B0D0F89A}" destId="{E08C0E79-3FA9-4EA9-8FD2-D200A3D37993}" srcOrd="0" destOrd="0" presId="urn:microsoft.com/office/officeart/2018/2/layout/IconVerticalSolidList"/>
    <dgm:cxn modelId="{5706FFF2-D7F9-4DA7-A45F-B2F690BC7661}" type="presParOf" srcId="{6BD924C0-00C0-4152-A401-2F87B0D0F89A}" destId="{BAE5AF54-763D-4F22-BFA8-6BD23AD28067}" srcOrd="1" destOrd="0" presId="urn:microsoft.com/office/officeart/2018/2/layout/IconVerticalSolidList"/>
    <dgm:cxn modelId="{4DF9C0CA-E510-4ADF-B29A-8E5F2FABF934}" type="presParOf" srcId="{6BD924C0-00C0-4152-A401-2F87B0D0F89A}" destId="{75B88C4C-9E6A-4CFD-BE7D-3480886EC5AA}" srcOrd="2" destOrd="0" presId="urn:microsoft.com/office/officeart/2018/2/layout/IconVerticalSolidList"/>
    <dgm:cxn modelId="{63BDAC1C-A98D-48DA-8A19-C2FB6FC139F4}" type="presParOf" srcId="{6BD924C0-00C0-4152-A401-2F87B0D0F89A}" destId="{32E41CFA-96E8-4C22-8BFA-3423FC4FE487}" srcOrd="3" destOrd="0" presId="urn:microsoft.com/office/officeart/2018/2/layout/IconVerticalSolidList"/>
    <dgm:cxn modelId="{14EDEBC5-BF93-411D-9C74-B12885C816E7}" type="presParOf" srcId="{BEB3925C-83C6-4778-9735-AEF24DF2D794}" destId="{60841307-C187-4956-8D16-207FDBE18256}" srcOrd="3" destOrd="0" presId="urn:microsoft.com/office/officeart/2018/2/layout/IconVerticalSolidList"/>
    <dgm:cxn modelId="{6A917441-D6B9-4E04-971C-07D4EA146BC2}" type="presParOf" srcId="{BEB3925C-83C6-4778-9735-AEF24DF2D794}" destId="{371F1255-E261-47E0-942B-936A271B6A91}" srcOrd="4" destOrd="0" presId="urn:microsoft.com/office/officeart/2018/2/layout/IconVerticalSolidList"/>
    <dgm:cxn modelId="{0BFCC682-9A68-4F33-B21C-9DA08C26656D}" type="presParOf" srcId="{371F1255-E261-47E0-942B-936A271B6A91}" destId="{DB4C7A9F-4782-4EE2-A6B2-CEE198B365E0}" srcOrd="0" destOrd="0" presId="urn:microsoft.com/office/officeart/2018/2/layout/IconVerticalSolidList"/>
    <dgm:cxn modelId="{7086C295-B8C7-48E2-B499-22CF371C7177}" type="presParOf" srcId="{371F1255-E261-47E0-942B-936A271B6A91}" destId="{FFFC68FC-AA73-471F-981B-9318C71E5926}" srcOrd="1" destOrd="0" presId="urn:microsoft.com/office/officeart/2018/2/layout/IconVerticalSolidList"/>
    <dgm:cxn modelId="{A3B2BD18-4D97-4417-B3A7-A70717E35B78}" type="presParOf" srcId="{371F1255-E261-47E0-942B-936A271B6A91}" destId="{4F093994-8617-40AC-9200-41D58C2D1E1D}" srcOrd="2" destOrd="0" presId="urn:microsoft.com/office/officeart/2018/2/layout/IconVerticalSolidList"/>
    <dgm:cxn modelId="{5C7503C2-866D-4E9E-A354-4E12A51183D1}" type="presParOf" srcId="{371F1255-E261-47E0-942B-936A271B6A91}" destId="{1FB2CB35-1FDB-4832-A744-12A4FDF0FD7F}" srcOrd="3" destOrd="0" presId="urn:microsoft.com/office/officeart/2018/2/layout/IconVerticalSolidList"/>
    <dgm:cxn modelId="{D24FD7B8-1CBC-4AE0-A560-BBAF3CFD285E}" type="presParOf" srcId="{BEB3925C-83C6-4778-9735-AEF24DF2D794}" destId="{66F0C5EB-B11F-4C22-AC07-B3C35DCD18F6}" srcOrd="5" destOrd="0" presId="urn:microsoft.com/office/officeart/2018/2/layout/IconVerticalSolidList"/>
    <dgm:cxn modelId="{A252E58F-6FC2-4899-9BAB-E29762932649}" type="presParOf" srcId="{BEB3925C-83C6-4778-9735-AEF24DF2D794}" destId="{03024234-2871-4490-BB36-691E892AC767}" srcOrd="6" destOrd="0" presId="urn:microsoft.com/office/officeart/2018/2/layout/IconVerticalSolidList"/>
    <dgm:cxn modelId="{26B3EB56-826A-46BE-8C13-52339B58BC8A}" type="presParOf" srcId="{03024234-2871-4490-BB36-691E892AC767}" destId="{06E069DA-E902-486A-AE1F-F81414126F3A}" srcOrd="0" destOrd="0" presId="urn:microsoft.com/office/officeart/2018/2/layout/IconVerticalSolidList"/>
    <dgm:cxn modelId="{F4852650-E7A3-4EAD-B309-0C71BE37D99D}" type="presParOf" srcId="{03024234-2871-4490-BB36-691E892AC767}" destId="{85B1ED94-436A-418E-A79D-E1E4A35C8067}" srcOrd="1" destOrd="0" presId="urn:microsoft.com/office/officeart/2018/2/layout/IconVerticalSolidList"/>
    <dgm:cxn modelId="{FA3E0E7B-EC30-4E03-8709-4B76CA7A5040}" type="presParOf" srcId="{03024234-2871-4490-BB36-691E892AC767}" destId="{F5360FF5-7E15-4E8A-87D5-F04687EE1A3A}" srcOrd="2" destOrd="0" presId="urn:microsoft.com/office/officeart/2018/2/layout/IconVerticalSolidList"/>
    <dgm:cxn modelId="{2748A47C-C507-48BD-8E26-17BA93DF6763}" type="presParOf" srcId="{03024234-2871-4490-BB36-691E892AC767}" destId="{8C346994-3A18-4051-87C8-D9B4E9C426A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C9020-B55B-4B56-B5A0-F53A95F72502}">
      <dsp:nvSpPr>
        <dsp:cNvPr id="0" name=""/>
        <dsp:cNvSpPr/>
      </dsp:nvSpPr>
      <dsp:spPr>
        <a:xfrm>
          <a:off x="0" y="2616"/>
          <a:ext cx="4389120" cy="1186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864672-0D4B-4762-85FF-BB72927960FB}">
      <dsp:nvSpPr>
        <dsp:cNvPr id="0" name=""/>
        <dsp:cNvSpPr/>
      </dsp:nvSpPr>
      <dsp:spPr>
        <a:xfrm>
          <a:off x="358903" y="269569"/>
          <a:ext cx="653189" cy="6525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2378A2-0994-435B-B878-9A188AED25A8}">
      <dsp:nvSpPr>
        <dsp:cNvPr id="0" name=""/>
        <dsp:cNvSpPr/>
      </dsp:nvSpPr>
      <dsp:spPr>
        <a:xfrm>
          <a:off x="1370996" y="2616"/>
          <a:ext cx="2997010" cy="1223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491" tIns="129491" rIns="129491" bIns="129491" numCol="1" spcCol="1270" anchor="ctr" anchorCtr="0">
          <a:noAutofit/>
        </a:bodyPr>
        <a:lstStyle/>
        <a:p>
          <a:pPr marL="0" lvl="0" indent="0" algn="l" defTabSz="622300">
            <a:lnSpc>
              <a:spcPct val="100000"/>
            </a:lnSpc>
            <a:spcBef>
              <a:spcPct val="0"/>
            </a:spcBef>
            <a:spcAft>
              <a:spcPct val="35000"/>
            </a:spcAft>
            <a:buNone/>
          </a:pPr>
          <a:r>
            <a:rPr lang="it-IT" sz="1400" kern="1200" dirty="0"/>
            <a:t>Creare una cartella 7z contenente i file della W.A. (Windows).</a:t>
          </a:r>
          <a:endParaRPr lang="en-US" sz="1400" kern="1200" dirty="0"/>
        </a:p>
      </dsp:txBody>
      <dsp:txXfrm>
        <a:off x="1370996" y="2616"/>
        <a:ext cx="2997010" cy="1223534"/>
      </dsp:txXfrm>
    </dsp:sp>
    <dsp:sp modelId="{BDE0F11F-C3E0-4646-914A-B61278BC693A}">
      <dsp:nvSpPr>
        <dsp:cNvPr id="0" name=""/>
        <dsp:cNvSpPr/>
      </dsp:nvSpPr>
      <dsp:spPr>
        <a:xfrm>
          <a:off x="0" y="1532033"/>
          <a:ext cx="4389120" cy="1186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FE2F40-8979-42EE-887D-1237914944FB}">
      <dsp:nvSpPr>
        <dsp:cNvPr id="0" name=""/>
        <dsp:cNvSpPr/>
      </dsp:nvSpPr>
      <dsp:spPr>
        <a:xfrm>
          <a:off x="358903" y="1798986"/>
          <a:ext cx="653189" cy="6525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6089EB-928E-4E24-B023-B7502DF38DF8}">
      <dsp:nvSpPr>
        <dsp:cNvPr id="0" name=""/>
        <dsp:cNvSpPr/>
      </dsp:nvSpPr>
      <dsp:spPr>
        <a:xfrm>
          <a:off x="1370996" y="1532033"/>
          <a:ext cx="2997010" cy="1223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491" tIns="129491" rIns="129491" bIns="129491" numCol="1" spcCol="1270" anchor="ctr" anchorCtr="0">
          <a:noAutofit/>
        </a:bodyPr>
        <a:lstStyle/>
        <a:p>
          <a:pPr marL="0" lvl="0" indent="0" algn="l" defTabSz="622300">
            <a:lnSpc>
              <a:spcPct val="100000"/>
            </a:lnSpc>
            <a:spcBef>
              <a:spcPct val="0"/>
            </a:spcBef>
            <a:spcAft>
              <a:spcPct val="35000"/>
            </a:spcAft>
            <a:buNone/>
          </a:pPr>
          <a:r>
            <a:rPr lang="it-IT" sz="1400" kern="1200"/>
            <a:t>Copiare, tramite SCP, la cartella creata nella directory:</a:t>
          </a:r>
          <a:br>
            <a:rPr lang="it-IT" sz="1400" kern="1200"/>
          </a:br>
          <a:r>
            <a:rPr lang="it-IT" sz="1400" kern="1200"/>
            <a:t>/var/www/html</a:t>
          </a:r>
          <a:br>
            <a:rPr lang="it-IT" sz="1400" kern="1200"/>
          </a:br>
          <a:r>
            <a:rPr lang="it-IT" sz="1400" kern="1200"/>
            <a:t>(document root directory dei servizi di apache2).</a:t>
          </a:r>
          <a:endParaRPr lang="en-US" sz="1400" kern="1200"/>
        </a:p>
      </dsp:txBody>
      <dsp:txXfrm>
        <a:off x="1370996" y="1532033"/>
        <a:ext cx="2997010" cy="1223534"/>
      </dsp:txXfrm>
    </dsp:sp>
    <dsp:sp modelId="{93FAAC31-91B3-4D27-8E88-CBDB4EA7690B}">
      <dsp:nvSpPr>
        <dsp:cNvPr id="0" name=""/>
        <dsp:cNvSpPr/>
      </dsp:nvSpPr>
      <dsp:spPr>
        <a:xfrm>
          <a:off x="0" y="3061451"/>
          <a:ext cx="4389120" cy="11864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4086EE-6034-4538-A40B-64364B73612C}">
      <dsp:nvSpPr>
        <dsp:cNvPr id="0" name=""/>
        <dsp:cNvSpPr/>
      </dsp:nvSpPr>
      <dsp:spPr>
        <a:xfrm>
          <a:off x="358903" y="3328404"/>
          <a:ext cx="653189" cy="6525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D55CB8-6DF2-4006-8B5B-0B529304D59C}">
      <dsp:nvSpPr>
        <dsp:cNvPr id="0" name=""/>
        <dsp:cNvSpPr/>
      </dsp:nvSpPr>
      <dsp:spPr>
        <a:xfrm>
          <a:off x="1370996" y="3061451"/>
          <a:ext cx="2997010" cy="1223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491" tIns="129491" rIns="129491" bIns="129491" numCol="1" spcCol="1270" anchor="ctr" anchorCtr="0">
          <a:noAutofit/>
        </a:bodyPr>
        <a:lstStyle/>
        <a:p>
          <a:pPr marL="0" lvl="0" indent="0" algn="l" defTabSz="622300">
            <a:lnSpc>
              <a:spcPct val="100000"/>
            </a:lnSpc>
            <a:spcBef>
              <a:spcPct val="0"/>
            </a:spcBef>
            <a:spcAft>
              <a:spcPct val="35000"/>
            </a:spcAft>
            <a:buNone/>
          </a:pPr>
          <a:r>
            <a:rPr lang="it-IT" sz="1400" kern="1200" dirty="0"/>
            <a:t>De zippare i  file tramite 7z (Ubuntu). NOTA: prima di de zippare è importante eliminare o rinominare il file «index.html» default di apache2 per </a:t>
          </a:r>
          <a:r>
            <a:rPr lang="it-IT" sz="1400" kern="1200" dirty="0" err="1"/>
            <a:t>ubuntu</a:t>
          </a:r>
          <a:r>
            <a:rPr lang="it-IT" sz="1400" kern="1200" dirty="0"/>
            <a:t> LTS.</a:t>
          </a:r>
          <a:endParaRPr lang="en-US" sz="1400" kern="1200" dirty="0"/>
        </a:p>
      </dsp:txBody>
      <dsp:txXfrm>
        <a:off x="1370996" y="3061451"/>
        <a:ext cx="2997010" cy="12235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31A55F-32B4-43FE-80DE-1977EED4C7A0}">
      <dsp:nvSpPr>
        <dsp:cNvPr id="0" name=""/>
        <dsp:cNvSpPr/>
      </dsp:nvSpPr>
      <dsp:spPr>
        <a:xfrm>
          <a:off x="0" y="4208"/>
          <a:ext cx="5437236" cy="9497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DCE5D3-04CB-4FFD-8481-1767048EEF5C}">
      <dsp:nvSpPr>
        <dsp:cNvPr id="0" name=""/>
        <dsp:cNvSpPr/>
      </dsp:nvSpPr>
      <dsp:spPr>
        <a:xfrm>
          <a:off x="287285" y="217891"/>
          <a:ext cx="522848" cy="5223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1070ED-695E-4F70-BBE9-1EA95C421488}">
      <dsp:nvSpPr>
        <dsp:cNvPr id="0" name=""/>
        <dsp:cNvSpPr/>
      </dsp:nvSpPr>
      <dsp:spPr>
        <a:xfrm>
          <a:off x="1097420" y="4208"/>
          <a:ext cx="4322914" cy="97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51" tIns="103651" rIns="103651" bIns="103651" numCol="1" spcCol="1270" anchor="ctr" anchorCtr="0">
          <a:noAutofit/>
        </a:bodyPr>
        <a:lstStyle/>
        <a:p>
          <a:pPr marL="0" lvl="0" indent="0" algn="l" defTabSz="622300">
            <a:lnSpc>
              <a:spcPct val="100000"/>
            </a:lnSpc>
            <a:spcBef>
              <a:spcPct val="0"/>
            </a:spcBef>
            <a:spcAft>
              <a:spcPct val="35000"/>
            </a:spcAft>
            <a:buNone/>
          </a:pPr>
          <a:r>
            <a:rPr lang="en-US" sz="1400" b="1" kern="1200" dirty="0"/>
            <a:t>Web application Firewall: </a:t>
          </a:r>
          <a:r>
            <a:rPr lang="en-US" sz="1400" kern="1200" dirty="0"/>
            <a:t>Un WAF </a:t>
          </a:r>
          <a:r>
            <a:rPr lang="en-US" sz="1400" kern="1200" dirty="0" err="1"/>
            <a:t>monitora</a:t>
          </a:r>
          <a:r>
            <a:rPr lang="en-US" sz="1400" kern="1200" dirty="0"/>
            <a:t> e </a:t>
          </a:r>
          <a:r>
            <a:rPr lang="en-US" sz="1400" kern="1200" dirty="0" err="1"/>
            <a:t>analizza</a:t>
          </a:r>
          <a:r>
            <a:rPr lang="en-US" sz="1400" kern="1200" dirty="0"/>
            <a:t> il </a:t>
          </a:r>
          <a:r>
            <a:rPr lang="en-US" sz="1400" kern="1200" dirty="0" err="1"/>
            <a:t>traffico</a:t>
          </a:r>
          <a:r>
            <a:rPr lang="en-US" sz="1400" kern="1200" dirty="0"/>
            <a:t> in tempo </a:t>
          </a:r>
          <a:r>
            <a:rPr lang="en-US" sz="1400" kern="1200" dirty="0" err="1"/>
            <a:t>reale</a:t>
          </a:r>
          <a:r>
            <a:rPr lang="en-US" sz="1400" kern="1200" dirty="0"/>
            <a:t>, </a:t>
          </a:r>
          <a:r>
            <a:rPr lang="en-US" sz="1400" kern="1200" dirty="0" err="1"/>
            <a:t>rilevando</a:t>
          </a:r>
          <a:r>
            <a:rPr lang="en-US" sz="1400" kern="1200" dirty="0"/>
            <a:t> e </a:t>
          </a:r>
          <a:r>
            <a:rPr lang="en-US" sz="1400" kern="1200" dirty="0" err="1"/>
            <a:t>bloccando</a:t>
          </a:r>
          <a:r>
            <a:rPr lang="en-US" sz="1400" kern="1200" dirty="0"/>
            <a:t> </a:t>
          </a:r>
          <a:r>
            <a:rPr lang="en-US" sz="1400" kern="1200" dirty="0" err="1"/>
            <a:t>richieste</a:t>
          </a:r>
          <a:r>
            <a:rPr lang="en-US" sz="1400" kern="1200" dirty="0"/>
            <a:t> lente o </a:t>
          </a:r>
          <a:r>
            <a:rPr lang="en-US" sz="1400" kern="1200" dirty="0" err="1"/>
            <a:t>comportamenti</a:t>
          </a:r>
          <a:r>
            <a:rPr lang="en-US" sz="1400" kern="1200" dirty="0"/>
            <a:t> </a:t>
          </a:r>
          <a:r>
            <a:rPr lang="en-US" sz="1400" kern="1200" dirty="0" err="1"/>
            <a:t>anomali</a:t>
          </a:r>
          <a:r>
            <a:rPr lang="en-US" sz="1400" kern="1200" dirty="0"/>
            <a:t> </a:t>
          </a:r>
          <a:r>
            <a:rPr lang="en-US" sz="1400" kern="1200" dirty="0" err="1"/>
            <a:t>che</a:t>
          </a:r>
          <a:r>
            <a:rPr lang="en-US" sz="1400" kern="1200" dirty="0"/>
            <a:t> </a:t>
          </a:r>
          <a:r>
            <a:rPr lang="en-US" sz="1400" kern="1200" dirty="0" err="1"/>
            <a:t>potrebbero</a:t>
          </a:r>
          <a:r>
            <a:rPr lang="en-US" sz="1400" kern="1200" dirty="0"/>
            <a:t> </a:t>
          </a:r>
          <a:r>
            <a:rPr lang="en-US" sz="1400" kern="1200" dirty="0" err="1"/>
            <a:t>indicare</a:t>
          </a:r>
          <a:r>
            <a:rPr lang="en-US" sz="1400" kern="1200" dirty="0"/>
            <a:t> un </a:t>
          </a:r>
          <a:r>
            <a:rPr lang="en-US" sz="1400" kern="1200" dirty="0" err="1"/>
            <a:t>attacco</a:t>
          </a:r>
          <a:r>
            <a:rPr lang="en-US" sz="1400" kern="1200" dirty="0"/>
            <a:t> </a:t>
          </a:r>
          <a:r>
            <a:rPr lang="en-US" sz="1400" kern="1200" dirty="0" err="1"/>
            <a:t>SlowLoris</a:t>
          </a:r>
          <a:r>
            <a:rPr lang="en-US" sz="1400" b="1" kern="1200" dirty="0"/>
            <a:t>.</a:t>
          </a:r>
          <a:endParaRPr lang="en-US" sz="1400" kern="1200" dirty="0"/>
        </a:p>
      </dsp:txBody>
      <dsp:txXfrm>
        <a:off x="1097420" y="4208"/>
        <a:ext cx="4322914" cy="979383"/>
      </dsp:txXfrm>
    </dsp:sp>
    <dsp:sp modelId="{E08C0E79-3FA9-4EA9-8FD2-D200A3D37993}">
      <dsp:nvSpPr>
        <dsp:cNvPr id="0" name=""/>
        <dsp:cNvSpPr/>
      </dsp:nvSpPr>
      <dsp:spPr>
        <a:xfrm>
          <a:off x="0" y="1228438"/>
          <a:ext cx="5437236" cy="9497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E5AF54-763D-4F22-BFA8-6BD23AD28067}">
      <dsp:nvSpPr>
        <dsp:cNvPr id="0" name=""/>
        <dsp:cNvSpPr/>
      </dsp:nvSpPr>
      <dsp:spPr>
        <a:xfrm>
          <a:off x="287285" y="1442121"/>
          <a:ext cx="522848" cy="5223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E41CFA-96E8-4C22-8BFA-3423FC4FE487}">
      <dsp:nvSpPr>
        <dsp:cNvPr id="0" name=""/>
        <dsp:cNvSpPr/>
      </dsp:nvSpPr>
      <dsp:spPr>
        <a:xfrm>
          <a:off x="1097420" y="1228438"/>
          <a:ext cx="4322914" cy="97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51" tIns="103651" rIns="103651" bIns="103651" numCol="1" spcCol="1270" anchor="ctr" anchorCtr="0">
          <a:noAutofit/>
        </a:bodyPr>
        <a:lstStyle/>
        <a:p>
          <a:pPr marL="0" lvl="0" indent="0" algn="l" defTabSz="622300">
            <a:lnSpc>
              <a:spcPct val="100000"/>
            </a:lnSpc>
            <a:spcBef>
              <a:spcPct val="0"/>
            </a:spcBef>
            <a:spcAft>
              <a:spcPct val="35000"/>
            </a:spcAft>
            <a:buNone/>
          </a:pPr>
          <a:r>
            <a:rPr lang="en-US" sz="1400" b="1" kern="1200" dirty="0"/>
            <a:t>Timeout per le </a:t>
          </a:r>
          <a:r>
            <a:rPr lang="en-US" sz="1400" b="1" kern="1200" dirty="0" err="1"/>
            <a:t>connessioni</a:t>
          </a:r>
          <a:r>
            <a:rPr lang="en-US" sz="1400" b="1" kern="1200" dirty="0"/>
            <a:t>: </a:t>
          </a:r>
          <a:r>
            <a:rPr lang="en-US" sz="1400" kern="1200" dirty="0" err="1"/>
            <a:t>Configurare</a:t>
          </a:r>
          <a:r>
            <a:rPr lang="en-US" sz="1400" kern="1200" dirty="0"/>
            <a:t> un tempo </a:t>
          </a:r>
          <a:r>
            <a:rPr lang="en-US" sz="1400" kern="1200" dirty="0" err="1"/>
            <a:t>massimo</a:t>
          </a:r>
          <a:r>
            <a:rPr lang="en-US" sz="1400" kern="1200" dirty="0"/>
            <a:t> per le </a:t>
          </a:r>
          <a:r>
            <a:rPr lang="en-US" sz="1400" kern="1200" dirty="0" err="1"/>
            <a:t>connessioni</a:t>
          </a:r>
          <a:r>
            <a:rPr lang="en-US" sz="1400" kern="1200" dirty="0"/>
            <a:t> incomplete al server </a:t>
          </a:r>
          <a:r>
            <a:rPr lang="en-US" sz="1400" kern="1200" dirty="0" err="1"/>
            <a:t>aiuta</a:t>
          </a:r>
          <a:r>
            <a:rPr lang="en-US" sz="1400" kern="1200" dirty="0"/>
            <a:t> ad </a:t>
          </a:r>
          <a:r>
            <a:rPr lang="en-US" sz="1400" kern="1200" dirty="0" err="1"/>
            <a:t>evitare</a:t>
          </a:r>
          <a:r>
            <a:rPr lang="en-US" sz="1400" kern="1200" dirty="0"/>
            <a:t> </a:t>
          </a:r>
          <a:r>
            <a:rPr lang="en-US" sz="1400" kern="1200" dirty="0" err="1"/>
            <a:t>che</a:t>
          </a:r>
          <a:r>
            <a:rPr lang="en-US" sz="1400" kern="1200" dirty="0"/>
            <a:t> le </a:t>
          </a:r>
          <a:r>
            <a:rPr lang="en-US" sz="1400" kern="1200" dirty="0" err="1"/>
            <a:t>risorse</a:t>
          </a:r>
          <a:r>
            <a:rPr lang="en-US" sz="1400" kern="1200" dirty="0"/>
            <a:t> </a:t>
          </a:r>
          <a:r>
            <a:rPr lang="en-US" sz="1400" kern="1200" dirty="0" err="1"/>
            <a:t>rimangano</a:t>
          </a:r>
          <a:r>
            <a:rPr lang="en-US" sz="1400" kern="1200" dirty="0"/>
            <a:t> </a:t>
          </a:r>
          <a:r>
            <a:rPr lang="en-US" sz="1400" kern="1200" dirty="0" err="1"/>
            <a:t>occupate</a:t>
          </a:r>
          <a:r>
            <a:rPr lang="en-US" sz="1400" kern="1200" dirty="0"/>
            <a:t> da </a:t>
          </a:r>
          <a:r>
            <a:rPr lang="en-US" sz="1400" kern="1200" dirty="0" err="1"/>
            <a:t>richieste</a:t>
          </a:r>
          <a:r>
            <a:rPr lang="en-US" sz="1400" kern="1200" dirty="0"/>
            <a:t> </a:t>
          </a:r>
          <a:r>
            <a:rPr lang="en-US" sz="1400" kern="1200" dirty="0" err="1"/>
            <a:t>malevole</a:t>
          </a:r>
          <a:r>
            <a:rPr lang="en-US" sz="1400" kern="1200" dirty="0"/>
            <a:t> </a:t>
          </a:r>
          <a:r>
            <a:rPr lang="en-US" sz="1400" kern="1200" dirty="0" err="1"/>
            <a:t>troppo</a:t>
          </a:r>
          <a:r>
            <a:rPr lang="en-US" sz="1400" kern="1200" dirty="0"/>
            <a:t> a </a:t>
          </a:r>
          <a:r>
            <a:rPr lang="en-US" sz="1400" kern="1200" dirty="0" err="1"/>
            <a:t>lungo</a:t>
          </a:r>
          <a:r>
            <a:rPr lang="en-US" sz="1400" kern="1200" dirty="0"/>
            <a:t>. </a:t>
          </a:r>
        </a:p>
      </dsp:txBody>
      <dsp:txXfrm>
        <a:off x="1097420" y="1228438"/>
        <a:ext cx="4322914" cy="979383"/>
      </dsp:txXfrm>
    </dsp:sp>
    <dsp:sp modelId="{DB4C7A9F-4782-4EE2-A6B2-CEE198B365E0}">
      <dsp:nvSpPr>
        <dsp:cNvPr id="0" name=""/>
        <dsp:cNvSpPr/>
      </dsp:nvSpPr>
      <dsp:spPr>
        <a:xfrm>
          <a:off x="0" y="2452667"/>
          <a:ext cx="5437236" cy="9497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FC68FC-AA73-471F-981B-9318C71E5926}">
      <dsp:nvSpPr>
        <dsp:cNvPr id="0" name=""/>
        <dsp:cNvSpPr/>
      </dsp:nvSpPr>
      <dsp:spPr>
        <a:xfrm>
          <a:off x="287285" y="2666351"/>
          <a:ext cx="522848" cy="5223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B2CB35-1FDB-4832-A744-12A4FDF0FD7F}">
      <dsp:nvSpPr>
        <dsp:cNvPr id="0" name=""/>
        <dsp:cNvSpPr/>
      </dsp:nvSpPr>
      <dsp:spPr>
        <a:xfrm>
          <a:off x="1097420" y="2452667"/>
          <a:ext cx="4322914" cy="97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51" tIns="103651" rIns="103651" bIns="103651" numCol="1" spcCol="1270" anchor="ctr" anchorCtr="0">
          <a:noAutofit/>
        </a:bodyPr>
        <a:lstStyle/>
        <a:p>
          <a:pPr marL="0" lvl="0" indent="0" algn="l" defTabSz="622300">
            <a:lnSpc>
              <a:spcPct val="100000"/>
            </a:lnSpc>
            <a:spcBef>
              <a:spcPct val="0"/>
            </a:spcBef>
            <a:spcAft>
              <a:spcPct val="35000"/>
            </a:spcAft>
            <a:buNone/>
          </a:pPr>
          <a:r>
            <a:rPr lang="en-US" sz="1400" b="1" kern="1200" dirty="0" err="1"/>
            <a:t>Limitare</a:t>
          </a:r>
          <a:r>
            <a:rPr lang="en-US" sz="1400" b="1" kern="1200" dirty="0"/>
            <a:t> il </a:t>
          </a:r>
          <a:r>
            <a:rPr lang="en-US" sz="1400" b="1" kern="1200" dirty="0" err="1"/>
            <a:t>numero</a:t>
          </a:r>
          <a:r>
            <a:rPr lang="en-US" sz="1400" b="1" kern="1200" dirty="0"/>
            <a:t> di </a:t>
          </a:r>
          <a:r>
            <a:rPr lang="en-US" sz="1400" b="1" kern="1200" dirty="0" err="1"/>
            <a:t>connessioni</a:t>
          </a:r>
          <a:r>
            <a:rPr lang="en-US" sz="1400" b="1" kern="1200" dirty="0"/>
            <a:t> IP: </a:t>
          </a:r>
          <a:r>
            <a:rPr lang="en-US" sz="1400" kern="1200" dirty="0"/>
            <a:t>Diminuendo il </a:t>
          </a:r>
          <a:r>
            <a:rPr lang="en-US" sz="1400" kern="1200" dirty="0" err="1"/>
            <a:t>numero</a:t>
          </a:r>
          <a:r>
            <a:rPr lang="en-US" sz="1400" kern="1200" dirty="0"/>
            <a:t> di </a:t>
          </a:r>
          <a:r>
            <a:rPr lang="en-US" sz="1400" kern="1200" dirty="0" err="1"/>
            <a:t>connessioni</a:t>
          </a:r>
          <a:r>
            <a:rPr lang="en-US" sz="1400" kern="1200" dirty="0"/>
            <a:t> </a:t>
          </a:r>
          <a:r>
            <a:rPr lang="en-US" sz="1400" kern="1200" dirty="0" err="1"/>
            <a:t>simultanee</a:t>
          </a:r>
          <a:r>
            <a:rPr lang="en-US" sz="1400" kern="1200" dirty="0"/>
            <a:t> </a:t>
          </a:r>
          <a:r>
            <a:rPr lang="en-US" sz="1400" kern="1200" dirty="0" err="1"/>
            <a:t>provenienti</a:t>
          </a:r>
          <a:r>
            <a:rPr lang="en-US" sz="1400" kern="1200" dirty="0"/>
            <a:t> da uno </a:t>
          </a:r>
          <a:r>
            <a:rPr lang="en-US" sz="1400" kern="1200" dirty="0" err="1"/>
            <a:t>stesso</a:t>
          </a:r>
          <a:r>
            <a:rPr lang="en-US" sz="1400" kern="1200" dirty="0"/>
            <a:t> </a:t>
          </a:r>
          <a:r>
            <a:rPr lang="en-US" sz="1400" kern="1200" dirty="0" err="1"/>
            <a:t>indirizzo</a:t>
          </a:r>
          <a:r>
            <a:rPr lang="en-US" sz="1400" kern="1200" dirty="0"/>
            <a:t> IP è </a:t>
          </a:r>
          <a:r>
            <a:rPr lang="en-US" sz="1400" kern="1200" dirty="0" err="1"/>
            <a:t>possibile</a:t>
          </a:r>
          <a:r>
            <a:rPr lang="en-US" sz="1400" kern="1200" dirty="0"/>
            <a:t> </a:t>
          </a:r>
          <a:r>
            <a:rPr lang="en-US" sz="1400" kern="1200" dirty="0" err="1"/>
            <a:t>ridurre</a:t>
          </a:r>
          <a:r>
            <a:rPr lang="en-US" sz="1400" kern="1200" dirty="0"/>
            <a:t> </a:t>
          </a:r>
          <a:r>
            <a:rPr lang="en-US" sz="1400" kern="1200" dirty="0" err="1"/>
            <a:t>l’impatto</a:t>
          </a:r>
          <a:r>
            <a:rPr lang="en-US" sz="1400" kern="1200" dirty="0"/>
            <a:t> di un </a:t>
          </a:r>
          <a:r>
            <a:rPr lang="en-US" sz="1400" kern="1200" dirty="0" err="1"/>
            <a:t>attacco</a:t>
          </a:r>
          <a:r>
            <a:rPr lang="en-US" sz="1400" kern="1200" dirty="0"/>
            <a:t> </a:t>
          </a:r>
          <a:r>
            <a:rPr lang="en-US" sz="1400" kern="1200" dirty="0" err="1"/>
            <a:t>Slowloris</a:t>
          </a:r>
          <a:r>
            <a:rPr lang="en-US" sz="1400" kern="1200" dirty="0"/>
            <a:t> se </a:t>
          </a:r>
          <a:r>
            <a:rPr lang="en-US" sz="1400" kern="1200" dirty="0" err="1"/>
            <a:t>proviene</a:t>
          </a:r>
          <a:r>
            <a:rPr lang="en-US" sz="1400" kern="1200" dirty="0"/>
            <a:t> da </a:t>
          </a:r>
          <a:r>
            <a:rPr lang="en-US" sz="1400" kern="1200" dirty="0" err="1"/>
            <a:t>una</a:t>
          </a:r>
          <a:r>
            <a:rPr lang="en-US" sz="1400" kern="1200" dirty="0"/>
            <a:t> </a:t>
          </a:r>
          <a:r>
            <a:rPr lang="en-US" sz="1400" kern="1200" dirty="0" err="1"/>
            <a:t>singola</a:t>
          </a:r>
          <a:r>
            <a:rPr lang="en-US" sz="1400" kern="1200" dirty="0"/>
            <a:t> </a:t>
          </a:r>
          <a:r>
            <a:rPr lang="en-US" sz="1400" kern="1200" dirty="0" err="1"/>
            <a:t>fonte</a:t>
          </a:r>
          <a:r>
            <a:rPr lang="en-US" sz="1400" kern="1200" dirty="0"/>
            <a:t>. </a:t>
          </a:r>
        </a:p>
      </dsp:txBody>
      <dsp:txXfrm>
        <a:off x="1097420" y="2452667"/>
        <a:ext cx="4322914" cy="979383"/>
      </dsp:txXfrm>
    </dsp:sp>
    <dsp:sp modelId="{06E069DA-E902-486A-AE1F-F81414126F3A}">
      <dsp:nvSpPr>
        <dsp:cNvPr id="0" name=""/>
        <dsp:cNvSpPr/>
      </dsp:nvSpPr>
      <dsp:spPr>
        <a:xfrm>
          <a:off x="0" y="3676897"/>
          <a:ext cx="5437236" cy="9497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B1ED94-436A-418E-A79D-E1E4A35C8067}">
      <dsp:nvSpPr>
        <dsp:cNvPr id="0" name=""/>
        <dsp:cNvSpPr/>
      </dsp:nvSpPr>
      <dsp:spPr>
        <a:xfrm>
          <a:off x="287285" y="3890581"/>
          <a:ext cx="522848" cy="5223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346994-3A18-4051-87C8-D9B4E9C426AB}">
      <dsp:nvSpPr>
        <dsp:cNvPr id="0" name=""/>
        <dsp:cNvSpPr/>
      </dsp:nvSpPr>
      <dsp:spPr>
        <a:xfrm>
          <a:off x="1097420" y="3676897"/>
          <a:ext cx="4322914" cy="979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51" tIns="103651" rIns="103651" bIns="103651" numCol="1" spcCol="1270" anchor="ctr" anchorCtr="0">
          <a:noAutofit/>
        </a:bodyPr>
        <a:lstStyle/>
        <a:p>
          <a:pPr marL="0" lvl="0" indent="0" algn="l" defTabSz="622300">
            <a:lnSpc>
              <a:spcPct val="100000"/>
            </a:lnSpc>
            <a:spcBef>
              <a:spcPct val="0"/>
            </a:spcBef>
            <a:spcAft>
              <a:spcPct val="35000"/>
            </a:spcAft>
            <a:buNone/>
          </a:pPr>
          <a:r>
            <a:rPr lang="en-US" sz="1400" b="1" kern="1200" dirty="0" err="1"/>
            <a:t>Abilitare</a:t>
          </a:r>
          <a:r>
            <a:rPr lang="en-US" sz="1400" b="1" kern="1200" dirty="0"/>
            <a:t> moduli Apache </a:t>
          </a:r>
          <a:r>
            <a:rPr lang="en-US" sz="1400" b="1" kern="1200" dirty="0" err="1"/>
            <a:t>specifici</a:t>
          </a:r>
          <a:r>
            <a:rPr lang="en-US" sz="1400" b="1" kern="1200" dirty="0"/>
            <a:t>: </a:t>
          </a:r>
          <a:r>
            <a:rPr lang="en-US" sz="1400" kern="1200" dirty="0"/>
            <a:t>(se la web application è </a:t>
          </a:r>
          <a:r>
            <a:rPr lang="en-US" sz="1400" kern="1200" dirty="0" err="1"/>
            <a:t>hostata</a:t>
          </a:r>
          <a:r>
            <a:rPr lang="en-US" sz="1400" kern="1200" dirty="0"/>
            <a:t> da </a:t>
          </a:r>
          <a:r>
            <a:rPr lang="en-US" sz="1400" kern="1200" dirty="0" err="1"/>
            <a:t>servizi</a:t>
          </a:r>
          <a:r>
            <a:rPr lang="en-US" sz="1400" kern="1200" dirty="0"/>
            <a:t> Apache) Uno di </a:t>
          </a:r>
          <a:r>
            <a:rPr lang="en-US" sz="1400" kern="1200" dirty="0" err="1"/>
            <a:t>questi</a:t>
          </a:r>
          <a:r>
            <a:rPr lang="en-US" sz="1400" kern="1200" dirty="0"/>
            <a:t> moduli è </a:t>
          </a:r>
          <a:r>
            <a:rPr lang="en-US" sz="1400" b="1" kern="1200" dirty="0" err="1"/>
            <a:t>mod_reqtimeout</a:t>
          </a:r>
          <a:r>
            <a:rPr lang="en-US" sz="1400" b="1" kern="1200" dirty="0"/>
            <a:t> </a:t>
          </a:r>
          <a:r>
            <a:rPr lang="en-US" sz="1400" kern="1200" dirty="0" err="1"/>
            <a:t>che</a:t>
          </a:r>
          <a:r>
            <a:rPr lang="en-US" sz="1400" kern="1200" dirty="0"/>
            <a:t> </a:t>
          </a:r>
          <a:r>
            <a:rPr lang="en-US" sz="1400" kern="1200" dirty="0" err="1"/>
            <a:t>limita</a:t>
          </a:r>
          <a:r>
            <a:rPr lang="en-US" sz="1400" kern="1200" dirty="0"/>
            <a:t> la </a:t>
          </a:r>
          <a:r>
            <a:rPr lang="en-US" sz="1400" kern="1200" dirty="0" err="1"/>
            <a:t>durata</a:t>
          </a:r>
          <a:r>
            <a:rPr lang="en-US" sz="1400" kern="1200" dirty="0"/>
            <a:t> delle </a:t>
          </a:r>
          <a:r>
            <a:rPr lang="en-US" sz="1400" kern="1200" dirty="0" err="1"/>
            <a:t>richieste</a:t>
          </a:r>
          <a:r>
            <a:rPr lang="en-US" sz="1400" kern="1200" dirty="0"/>
            <a:t> lente. </a:t>
          </a:r>
        </a:p>
      </dsp:txBody>
      <dsp:txXfrm>
        <a:off x="1097420" y="3676897"/>
        <a:ext cx="4322914" cy="97938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it-IT" sz="1200"/>
            </a:lvl1pPr>
          </a:lstStyle>
          <a:p>
            <a:pPr rtl="0"/>
            <a:fld id="{E258BBA8-EEB6-4C1F-8A2D-82A045253B14}" type="datetime1">
              <a:rPr lang="it-IT" smtClean="0"/>
              <a:t>18/02/2026</a:t>
            </a:fld>
            <a:endParaRPr lang="it-IT" dirty="0"/>
          </a:p>
        </p:txBody>
      </p:sp>
      <p:sp>
        <p:nvSpPr>
          <p:cNvPr id="4" name="Segnaposto piè di pagina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5" name="Segnaposto numero diapositiva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9E9D61A1-75D9-49F7-83EB-F5872642613A}" type="slidenum">
              <a:rPr lang="it-IT" smtClean="0"/>
              <a:t>‹N›</a:t>
            </a:fld>
            <a:endParaRPr lang="it-IT"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it-IT" sz="1200"/>
            </a:lvl1pPr>
          </a:lstStyle>
          <a:p>
            <a:fld id="{BF6410F2-3BC7-405F-8DC8-8784828E26F3}" type="datetime1">
              <a:rPr lang="it-IT" smtClean="0"/>
              <a:pPr/>
              <a:t>18/02/2026</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it-IT"/>
            </a:defPPr>
          </a:lstStyle>
          <a:p>
            <a:pPr rtl="0"/>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DEF75CB5-5666-5049-9AE0-38EFD385C21E}" type="slidenum">
              <a:rPr lang="it-IT" smtClean="0"/>
              <a:t>‹N›</a:t>
            </a:fld>
            <a:endParaRPr lang="it-IT"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lang="it-IT" sz="1200" kern="1200">
        <a:solidFill>
          <a:schemeClr val="tx1"/>
        </a:solidFill>
        <a:latin typeface="+mn-lt"/>
        <a:ea typeface="+mn-ea"/>
        <a:cs typeface="+mn-cs"/>
      </a:defRPr>
    </a:lvl1pPr>
    <a:lvl2pPr marL="457200" algn="l" defTabSz="914400" rtl="0" eaLnBrk="1" latinLnBrk="0" hangingPunct="1">
      <a:defRPr lang="it-IT" sz="1200" kern="1200">
        <a:solidFill>
          <a:schemeClr val="tx1"/>
        </a:solidFill>
        <a:latin typeface="+mn-lt"/>
        <a:ea typeface="+mn-ea"/>
        <a:cs typeface="+mn-cs"/>
      </a:defRPr>
    </a:lvl2pPr>
    <a:lvl3pPr marL="914400" algn="l" defTabSz="914400" rtl="0" eaLnBrk="1" latinLnBrk="0" hangingPunct="1">
      <a:defRPr lang="it-IT" sz="1200" kern="1200">
        <a:solidFill>
          <a:schemeClr val="tx1"/>
        </a:solidFill>
        <a:latin typeface="+mn-lt"/>
        <a:ea typeface="+mn-ea"/>
        <a:cs typeface="+mn-cs"/>
      </a:defRPr>
    </a:lvl3pPr>
    <a:lvl4pPr marL="1371600" algn="l" defTabSz="914400" rtl="0" eaLnBrk="1" latinLnBrk="0" hangingPunct="1">
      <a:defRPr lang="it-IT" sz="1200" kern="1200">
        <a:solidFill>
          <a:schemeClr val="tx1"/>
        </a:solidFill>
        <a:latin typeface="+mn-lt"/>
        <a:ea typeface="+mn-ea"/>
        <a:cs typeface="+mn-cs"/>
      </a:defRPr>
    </a:lvl4pPr>
    <a:lvl5pPr marL="1828800" algn="l" defTabSz="914400" rtl="0" eaLnBrk="1" latinLnBrk="0" hangingPunct="1">
      <a:defRPr lang="it-IT" sz="1200" kern="1200">
        <a:solidFill>
          <a:schemeClr val="tx1"/>
        </a:solidFill>
        <a:latin typeface="+mn-lt"/>
        <a:ea typeface="+mn-ea"/>
        <a:cs typeface="+mn-cs"/>
      </a:defRPr>
    </a:lvl5pPr>
    <a:lvl6pPr marL="2286000" algn="l" defTabSz="914400" rtl="0" eaLnBrk="1" latinLnBrk="0" hangingPunct="1">
      <a:defRPr lang="it-IT" sz="1200" kern="1200">
        <a:solidFill>
          <a:schemeClr val="tx1"/>
        </a:solidFill>
        <a:latin typeface="+mn-lt"/>
        <a:ea typeface="+mn-ea"/>
        <a:cs typeface="+mn-cs"/>
      </a:defRPr>
    </a:lvl6pPr>
    <a:lvl7pPr marL="2743200" algn="l" defTabSz="914400" rtl="0" eaLnBrk="1" latinLnBrk="0" hangingPunct="1">
      <a:defRPr lang="it-IT" sz="1200" kern="1200">
        <a:solidFill>
          <a:schemeClr val="tx1"/>
        </a:solidFill>
        <a:latin typeface="+mn-lt"/>
        <a:ea typeface="+mn-ea"/>
        <a:cs typeface="+mn-cs"/>
      </a:defRPr>
    </a:lvl7pPr>
    <a:lvl8pPr marL="3200400" algn="l" defTabSz="914400" rtl="0" eaLnBrk="1" latinLnBrk="0" hangingPunct="1">
      <a:defRPr lang="it-IT" sz="1200" kern="1200">
        <a:solidFill>
          <a:schemeClr val="tx1"/>
        </a:solidFill>
        <a:latin typeface="+mn-lt"/>
        <a:ea typeface="+mn-ea"/>
        <a:cs typeface="+mn-cs"/>
      </a:defRPr>
    </a:lvl8pPr>
    <a:lvl9pPr marL="3657600" algn="l" defTabSz="914400" rtl="0" eaLnBrk="1" latinLnBrk="0" hangingPunct="1">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queste sono le vulnerabilità legate al protocollo HTTP. </a:t>
            </a:r>
            <a:r>
              <a:rPr lang="it-IT" dirty="0" err="1"/>
              <a:t>Slowloris</a:t>
            </a:r>
            <a:r>
              <a:rPr lang="it-IT" dirty="0"/>
              <a:t> riesce ad essere efficace anche li dove sono presenti configurazioni errate per i server</a:t>
            </a:r>
          </a:p>
          <a:p>
            <a:endParaRPr lang="it-IT" dirty="0"/>
          </a:p>
        </p:txBody>
      </p:sp>
      <p:sp>
        <p:nvSpPr>
          <p:cNvPr id="4" name="Segnaposto numero diapositiva 3"/>
          <p:cNvSpPr>
            <a:spLocks noGrp="1"/>
          </p:cNvSpPr>
          <p:nvPr>
            <p:ph type="sldNum" sz="quarter" idx="5"/>
          </p:nvPr>
        </p:nvSpPr>
        <p:spPr/>
        <p:txBody>
          <a:bodyPr/>
          <a:lstStyle/>
          <a:p>
            <a:pPr rtl="0"/>
            <a:fld id="{DEF75CB5-5666-5049-9AE0-38EFD385C21E}" type="slidenum">
              <a:rPr lang="it-IT" smtClean="0"/>
              <a:t>7</a:t>
            </a:fld>
            <a:endParaRPr lang="it-IT" dirty="0"/>
          </a:p>
        </p:txBody>
      </p:sp>
    </p:spTree>
    <p:extLst>
      <p:ext uri="{BB962C8B-B14F-4D97-AF65-F5344CB8AC3E}">
        <p14:creationId xmlns:p14="http://schemas.microsoft.com/office/powerpoint/2010/main" val="698810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L’ambiente controllato è indispensabile per studiare comportamenti di tali attacchi in quanto simularli in un ambiente qualsiasi potrebbe arrecare seri danni con ripercussioni legali</a:t>
            </a:r>
          </a:p>
          <a:p>
            <a:endParaRPr lang="it-IT" dirty="0"/>
          </a:p>
        </p:txBody>
      </p:sp>
      <p:sp>
        <p:nvSpPr>
          <p:cNvPr id="4" name="Segnaposto numero diapositiva 3"/>
          <p:cNvSpPr>
            <a:spLocks noGrp="1"/>
          </p:cNvSpPr>
          <p:nvPr>
            <p:ph type="sldNum" sz="quarter" idx="5"/>
          </p:nvPr>
        </p:nvSpPr>
        <p:spPr/>
        <p:txBody>
          <a:bodyPr/>
          <a:lstStyle/>
          <a:p>
            <a:pPr rtl="0"/>
            <a:fld id="{DEF75CB5-5666-5049-9AE0-38EFD385C21E}" type="slidenum">
              <a:rPr lang="it-IT" smtClean="0"/>
              <a:t>11</a:t>
            </a:fld>
            <a:endParaRPr lang="it-IT" dirty="0"/>
          </a:p>
        </p:txBody>
      </p:sp>
    </p:spTree>
    <p:extLst>
      <p:ext uri="{BB962C8B-B14F-4D97-AF65-F5344CB8AC3E}">
        <p14:creationId xmlns:p14="http://schemas.microsoft.com/office/powerpoint/2010/main" val="2449485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rtl="0"/>
            <a:fld id="{DEF75CB5-5666-5049-9AE0-38EFD385C21E}" type="slidenum">
              <a:rPr lang="it-IT" smtClean="0"/>
              <a:t>13</a:t>
            </a:fld>
            <a:endParaRPr lang="it-IT" dirty="0"/>
          </a:p>
        </p:txBody>
      </p:sp>
    </p:spTree>
    <p:extLst>
      <p:ext uri="{BB962C8B-B14F-4D97-AF65-F5344CB8AC3E}">
        <p14:creationId xmlns:p14="http://schemas.microsoft.com/office/powerpoint/2010/main" val="1536887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136C9-F7CD-ED09-BCA0-C924821FAB8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B1D31F0-ECA2-4FD4-B9DE-0915665C3DA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B4DDAA8-44FD-00CC-BAE6-8492B68E19EE}"/>
              </a:ext>
            </a:extLst>
          </p:cNvPr>
          <p:cNvSpPr>
            <a:spLocks noGrp="1"/>
          </p:cNvSpPr>
          <p:nvPr>
            <p:ph type="body" idx="1"/>
          </p:nvPr>
        </p:nvSpPr>
        <p:spPr/>
        <p:txBody>
          <a:bodyPr/>
          <a:lstStyle/>
          <a:p>
            <a:pPr rtl="0"/>
            <a:r>
              <a:rPr lang="it-IT" dirty="0"/>
              <a:t>NOTA: utilizziamo i server DNS </a:t>
            </a:r>
            <a:r>
              <a:rPr lang="it-IT" dirty="0" err="1"/>
              <a:t>CloudFlare</a:t>
            </a:r>
            <a:r>
              <a:rPr lang="it-IT" dirty="0"/>
              <a:t> in quanto sono noti per essere veloci, affidabili e orientati alla privacy. </a:t>
            </a:r>
          </a:p>
        </p:txBody>
      </p:sp>
      <p:sp>
        <p:nvSpPr>
          <p:cNvPr id="4" name="Segnaposto numero diapositiva 3">
            <a:extLst>
              <a:ext uri="{FF2B5EF4-FFF2-40B4-BE49-F238E27FC236}">
                <a16:creationId xmlns:a16="http://schemas.microsoft.com/office/drawing/2014/main" id="{50C963FF-7DC4-9560-4CDE-006B1F9E467A}"/>
              </a:ext>
            </a:extLst>
          </p:cNvPr>
          <p:cNvSpPr>
            <a:spLocks noGrp="1"/>
          </p:cNvSpPr>
          <p:nvPr>
            <p:ph type="sldNum" sz="quarter" idx="5"/>
          </p:nvPr>
        </p:nvSpPr>
        <p:spPr/>
        <p:txBody>
          <a:bodyPr/>
          <a:lstStyle/>
          <a:p>
            <a:pPr rtl="0"/>
            <a:fld id="{DEF75CB5-5666-5049-9AE0-38EFD385C21E}" type="slidenum">
              <a:rPr lang="it-IT" smtClean="0"/>
              <a:t>14</a:t>
            </a:fld>
            <a:endParaRPr lang="it-IT" dirty="0"/>
          </a:p>
        </p:txBody>
      </p:sp>
    </p:spTree>
    <p:extLst>
      <p:ext uri="{BB962C8B-B14F-4D97-AF65-F5344CB8AC3E}">
        <p14:creationId xmlns:p14="http://schemas.microsoft.com/office/powerpoint/2010/main" val="4041304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8DEE-99F8-622D-A5AF-706257F7B33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85FF549-3113-A40B-CEBE-EC0AA8385BC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B2F8D52-864F-D64D-F1C4-B4A1E079F7A0}"/>
              </a:ext>
            </a:extLst>
          </p:cNvPr>
          <p:cNvSpPr>
            <a:spLocks noGrp="1"/>
          </p:cNvSpPr>
          <p:nvPr>
            <p:ph type="body" idx="1"/>
          </p:nvPr>
        </p:nvSpPr>
        <p:spPr/>
        <p:txBody>
          <a:bodyPr/>
          <a:lstStyle/>
          <a:p>
            <a:pPr rtl="0"/>
            <a:r>
              <a:rPr lang="it-IT" dirty="0"/>
              <a:t>NOTA: il file in /</a:t>
            </a:r>
            <a:r>
              <a:rPr lang="it-IT" dirty="0" err="1"/>
              <a:t>etc</a:t>
            </a:r>
            <a:r>
              <a:rPr lang="it-IT" dirty="0"/>
              <a:t>/</a:t>
            </a:r>
            <a:r>
              <a:rPr lang="it-IT" dirty="0" err="1"/>
              <a:t>netplan</a:t>
            </a:r>
            <a:r>
              <a:rPr lang="it-IT" dirty="0"/>
              <a:t> .</a:t>
            </a:r>
            <a:r>
              <a:rPr lang="it-IT" dirty="0" err="1"/>
              <a:t>yaml</a:t>
            </a:r>
            <a:r>
              <a:rPr lang="it-IT" dirty="0"/>
              <a:t> può chiamarsi anche in maniera diversa. Accertarsi del nome tramite cd /</a:t>
            </a:r>
            <a:r>
              <a:rPr lang="it-IT" dirty="0" err="1"/>
              <a:t>etc</a:t>
            </a:r>
            <a:r>
              <a:rPr lang="it-IT" dirty="0"/>
              <a:t>/</a:t>
            </a:r>
            <a:r>
              <a:rPr lang="it-IT" dirty="0" err="1"/>
              <a:t>netplan</a:t>
            </a:r>
            <a:r>
              <a:rPr lang="it-IT" dirty="0"/>
              <a:t> e poi </a:t>
            </a:r>
            <a:r>
              <a:rPr lang="it-IT" dirty="0" err="1"/>
              <a:t>ls</a:t>
            </a:r>
            <a:r>
              <a:rPr lang="it-IT" dirty="0"/>
              <a:t>. </a:t>
            </a:r>
          </a:p>
        </p:txBody>
      </p:sp>
      <p:sp>
        <p:nvSpPr>
          <p:cNvPr id="4" name="Segnaposto numero diapositiva 3">
            <a:extLst>
              <a:ext uri="{FF2B5EF4-FFF2-40B4-BE49-F238E27FC236}">
                <a16:creationId xmlns:a16="http://schemas.microsoft.com/office/drawing/2014/main" id="{BA24A320-4119-4537-C2D9-7FF097C67309}"/>
              </a:ext>
            </a:extLst>
          </p:cNvPr>
          <p:cNvSpPr>
            <a:spLocks noGrp="1"/>
          </p:cNvSpPr>
          <p:nvPr>
            <p:ph type="sldNum" sz="quarter" idx="5"/>
          </p:nvPr>
        </p:nvSpPr>
        <p:spPr/>
        <p:txBody>
          <a:bodyPr/>
          <a:lstStyle/>
          <a:p>
            <a:pPr rtl="0"/>
            <a:fld id="{DEF75CB5-5666-5049-9AE0-38EFD385C21E}" type="slidenum">
              <a:rPr lang="it-IT" smtClean="0"/>
              <a:t>15</a:t>
            </a:fld>
            <a:endParaRPr lang="it-IT" dirty="0"/>
          </a:p>
        </p:txBody>
      </p:sp>
    </p:spTree>
    <p:extLst>
      <p:ext uri="{BB962C8B-B14F-4D97-AF65-F5344CB8AC3E}">
        <p14:creationId xmlns:p14="http://schemas.microsoft.com/office/powerpoint/2010/main" val="1164146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E5FF-8DEE-3487-EC16-85496F6991B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28222A5-4872-A6FB-81BB-462913AEBE4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F2F6E44-5211-52F5-4498-36603BCCEEB6}"/>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06911F16-BC73-3E98-A965-458246CC8E2F}"/>
              </a:ext>
            </a:extLst>
          </p:cNvPr>
          <p:cNvSpPr>
            <a:spLocks noGrp="1"/>
          </p:cNvSpPr>
          <p:nvPr>
            <p:ph type="sldNum" sz="quarter" idx="5"/>
          </p:nvPr>
        </p:nvSpPr>
        <p:spPr/>
        <p:txBody>
          <a:bodyPr/>
          <a:lstStyle/>
          <a:p>
            <a:pPr rtl="0"/>
            <a:fld id="{DEF75CB5-5666-5049-9AE0-38EFD385C21E}" type="slidenum">
              <a:rPr lang="it-IT" smtClean="0"/>
              <a:t>16</a:t>
            </a:fld>
            <a:endParaRPr lang="it-IT" dirty="0"/>
          </a:p>
        </p:txBody>
      </p:sp>
    </p:spTree>
    <p:extLst>
      <p:ext uri="{BB962C8B-B14F-4D97-AF65-F5344CB8AC3E}">
        <p14:creationId xmlns:p14="http://schemas.microsoft.com/office/powerpoint/2010/main" val="989418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55452-8D20-CE05-649B-E801906F3D5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8445DF9-2C14-7993-A71E-B34DB5D8741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427474A-A72B-8D75-371B-CE545A79BA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per sapere gli indirizzi </a:t>
            </a:r>
            <a:r>
              <a:rPr lang="it-IT" dirty="0" err="1"/>
              <a:t>ip</a:t>
            </a:r>
            <a:r>
              <a:rPr lang="it-IT" dirty="0"/>
              <a:t> da inserire (per verificare la comunicazione delle macchine) sono facilmente reperibili utilizzando il comando «</a:t>
            </a:r>
            <a:r>
              <a:rPr lang="it-IT" dirty="0" err="1"/>
              <a:t>ip</a:t>
            </a:r>
            <a:r>
              <a:rPr lang="it-IT" dirty="0"/>
              <a:t> a»</a:t>
            </a:r>
          </a:p>
          <a:p>
            <a:pPr rtl="0"/>
            <a:endParaRPr lang="it-IT" dirty="0"/>
          </a:p>
        </p:txBody>
      </p:sp>
      <p:sp>
        <p:nvSpPr>
          <p:cNvPr id="4" name="Segnaposto numero diapositiva 3">
            <a:extLst>
              <a:ext uri="{FF2B5EF4-FFF2-40B4-BE49-F238E27FC236}">
                <a16:creationId xmlns:a16="http://schemas.microsoft.com/office/drawing/2014/main" id="{89A5B788-0C64-76F7-B80C-82CD4FBABF9C}"/>
              </a:ext>
            </a:extLst>
          </p:cNvPr>
          <p:cNvSpPr>
            <a:spLocks noGrp="1"/>
          </p:cNvSpPr>
          <p:nvPr>
            <p:ph type="sldNum" sz="quarter" idx="5"/>
          </p:nvPr>
        </p:nvSpPr>
        <p:spPr/>
        <p:txBody>
          <a:bodyPr/>
          <a:lstStyle/>
          <a:p>
            <a:pPr rtl="0"/>
            <a:fld id="{DEF75CB5-5666-5049-9AE0-38EFD385C21E}" type="slidenum">
              <a:rPr lang="it-IT" smtClean="0"/>
              <a:t>17</a:t>
            </a:fld>
            <a:endParaRPr lang="it-IT" dirty="0"/>
          </a:p>
        </p:txBody>
      </p:sp>
    </p:spTree>
    <p:extLst>
      <p:ext uri="{BB962C8B-B14F-4D97-AF65-F5344CB8AC3E}">
        <p14:creationId xmlns:p14="http://schemas.microsoft.com/office/powerpoint/2010/main" val="910220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A459B-716C-1BAF-C105-5698B82D766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95DA361-9EE0-6E40-1B49-597789A027A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74462D9-2561-7F74-AC21-F70FC1A880BD}"/>
              </a:ext>
            </a:extLst>
          </p:cNvPr>
          <p:cNvSpPr>
            <a:spLocks noGrp="1"/>
          </p:cNvSpPr>
          <p:nvPr>
            <p:ph type="body" idx="1"/>
          </p:nvPr>
        </p:nvSpPr>
        <p:spPr/>
        <p:txBody>
          <a:bodyPr/>
          <a:lstStyle/>
          <a:p>
            <a:pPr rtl="0"/>
            <a:r>
              <a:rPr lang="it-IT" dirty="0"/>
              <a:t>Tutto fatto tramite i comandi sudo </a:t>
            </a:r>
            <a:r>
              <a:rPr lang="it-IT" dirty="0" err="1"/>
              <a:t>apt</a:t>
            </a:r>
            <a:r>
              <a:rPr lang="it-IT" dirty="0"/>
              <a:t> </a:t>
            </a:r>
            <a:r>
              <a:rPr lang="it-IT" dirty="0" err="1"/>
              <a:t>install</a:t>
            </a:r>
            <a:r>
              <a:rPr lang="it-IT" dirty="0"/>
              <a:t> </a:t>
            </a:r>
          </a:p>
        </p:txBody>
      </p:sp>
      <p:sp>
        <p:nvSpPr>
          <p:cNvPr id="4" name="Segnaposto numero diapositiva 3">
            <a:extLst>
              <a:ext uri="{FF2B5EF4-FFF2-40B4-BE49-F238E27FC236}">
                <a16:creationId xmlns:a16="http://schemas.microsoft.com/office/drawing/2014/main" id="{33411805-E4EE-D10D-794A-0704ABA4057D}"/>
              </a:ext>
            </a:extLst>
          </p:cNvPr>
          <p:cNvSpPr>
            <a:spLocks noGrp="1"/>
          </p:cNvSpPr>
          <p:nvPr>
            <p:ph type="sldNum" sz="quarter" idx="5"/>
          </p:nvPr>
        </p:nvSpPr>
        <p:spPr/>
        <p:txBody>
          <a:bodyPr/>
          <a:lstStyle/>
          <a:p>
            <a:pPr rtl="0"/>
            <a:fld id="{DEF75CB5-5666-5049-9AE0-38EFD385C21E}" type="slidenum">
              <a:rPr lang="it-IT" smtClean="0"/>
              <a:t>18</a:t>
            </a:fld>
            <a:endParaRPr lang="it-IT" dirty="0"/>
          </a:p>
        </p:txBody>
      </p:sp>
    </p:spTree>
    <p:extLst>
      <p:ext uri="{BB962C8B-B14F-4D97-AF65-F5344CB8AC3E}">
        <p14:creationId xmlns:p14="http://schemas.microsoft.com/office/powerpoint/2010/main" val="532253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39EB4-04F0-6AAB-D708-F2966C1DDB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96D2B90-179B-A7D6-AE22-8BF30BB21D0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1172B24-E155-3586-BCC5-4B4DB92F676E}"/>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E7F265F0-E8CB-93F8-53B3-EB574A1A827C}"/>
              </a:ext>
            </a:extLst>
          </p:cNvPr>
          <p:cNvSpPr>
            <a:spLocks noGrp="1"/>
          </p:cNvSpPr>
          <p:nvPr>
            <p:ph type="sldNum" sz="quarter" idx="5"/>
          </p:nvPr>
        </p:nvSpPr>
        <p:spPr/>
        <p:txBody>
          <a:bodyPr/>
          <a:lstStyle/>
          <a:p>
            <a:pPr rtl="0"/>
            <a:fld id="{DEF75CB5-5666-5049-9AE0-38EFD385C21E}" type="slidenum">
              <a:rPr lang="it-IT" smtClean="0"/>
              <a:t>19</a:t>
            </a:fld>
            <a:endParaRPr lang="it-IT" dirty="0"/>
          </a:p>
        </p:txBody>
      </p:sp>
    </p:spTree>
    <p:extLst>
      <p:ext uri="{BB962C8B-B14F-4D97-AF65-F5344CB8AC3E}">
        <p14:creationId xmlns:p14="http://schemas.microsoft.com/office/powerpoint/2010/main" val="2102867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91229-FB93-6970-B953-54E873C1152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0221FCA-8D43-FB73-9D03-C34502F2823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1F04BBE-1E43-4D1F-3B17-0C93FB9F867E}"/>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1CE1105F-87DD-445B-A346-2092832E54A1}"/>
              </a:ext>
            </a:extLst>
          </p:cNvPr>
          <p:cNvSpPr>
            <a:spLocks noGrp="1"/>
          </p:cNvSpPr>
          <p:nvPr>
            <p:ph type="sldNum" sz="quarter" idx="5"/>
          </p:nvPr>
        </p:nvSpPr>
        <p:spPr/>
        <p:txBody>
          <a:bodyPr/>
          <a:lstStyle/>
          <a:p>
            <a:pPr rtl="0"/>
            <a:fld id="{DEF75CB5-5666-5049-9AE0-38EFD385C21E}" type="slidenum">
              <a:rPr lang="it-IT" smtClean="0"/>
              <a:t>20</a:t>
            </a:fld>
            <a:endParaRPr lang="it-IT" dirty="0"/>
          </a:p>
        </p:txBody>
      </p:sp>
    </p:spTree>
    <p:extLst>
      <p:ext uri="{BB962C8B-B14F-4D97-AF65-F5344CB8AC3E}">
        <p14:creationId xmlns:p14="http://schemas.microsoft.com/office/powerpoint/2010/main" val="4279326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751-D856-D70D-1D30-35010623357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E289B6E-9743-A053-5230-B42B3C7F159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B3FECED-D48A-0B56-0D3A-3AE62E78320F}"/>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1207C370-C261-F6A3-3142-F98E2F3972F1}"/>
              </a:ext>
            </a:extLst>
          </p:cNvPr>
          <p:cNvSpPr>
            <a:spLocks noGrp="1"/>
          </p:cNvSpPr>
          <p:nvPr>
            <p:ph type="sldNum" sz="quarter" idx="5"/>
          </p:nvPr>
        </p:nvSpPr>
        <p:spPr/>
        <p:txBody>
          <a:bodyPr/>
          <a:lstStyle/>
          <a:p>
            <a:pPr rtl="0"/>
            <a:fld id="{DEF75CB5-5666-5049-9AE0-38EFD385C21E}" type="slidenum">
              <a:rPr lang="it-IT" smtClean="0"/>
              <a:t>21</a:t>
            </a:fld>
            <a:endParaRPr lang="it-IT" dirty="0"/>
          </a:p>
        </p:txBody>
      </p:sp>
    </p:spTree>
    <p:extLst>
      <p:ext uri="{BB962C8B-B14F-4D97-AF65-F5344CB8AC3E}">
        <p14:creationId xmlns:p14="http://schemas.microsoft.com/office/powerpoint/2010/main" val="399784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9B26-B98C-31B2-01D2-592085D7566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E8B1AEF-14AF-E085-9C57-B0BC0BCE2D6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F9E961F-43D2-64AC-196F-4E44E43B6A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una volta effettuati i passaggi per l’utente ROOT sarà necessario eseguire un FLUSH PRIVILEGES; e di seguito restartare il servizio </a:t>
            </a:r>
            <a:r>
              <a:rPr lang="it-IT" dirty="0" err="1"/>
              <a:t>mysql</a:t>
            </a:r>
            <a:r>
              <a:rPr lang="it-IT" dirty="0"/>
              <a:t>: sudo </a:t>
            </a:r>
            <a:r>
              <a:rPr lang="it-IT" dirty="0" err="1"/>
              <a:t>systemctl</a:t>
            </a:r>
            <a:r>
              <a:rPr lang="it-IT" dirty="0"/>
              <a:t> </a:t>
            </a:r>
            <a:r>
              <a:rPr lang="it-IT" dirty="0" err="1"/>
              <a:t>restart</a:t>
            </a:r>
            <a:r>
              <a:rPr lang="it-IT" dirty="0"/>
              <a:t> </a:t>
            </a:r>
            <a:r>
              <a:rPr lang="it-IT" dirty="0" err="1"/>
              <a:t>mysql</a:t>
            </a:r>
            <a:r>
              <a:rPr lang="it-IT" dirty="0"/>
              <a:t>.</a:t>
            </a:r>
          </a:p>
        </p:txBody>
      </p:sp>
      <p:sp>
        <p:nvSpPr>
          <p:cNvPr id="4" name="Segnaposto numero diapositiva 3">
            <a:extLst>
              <a:ext uri="{FF2B5EF4-FFF2-40B4-BE49-F238E27FC236}">
                <a16:creationId xmlns:a16="http://schemas.microsoft.com/office/drawing/2014/main" id="{994911D0-BDB9-9289-DC88-5D9DD512769A}"/>
              </a:ext>
            </a:extLst>
          </p:cNvPr>
          <p:cNvSpPr>
            <a:spLocks noGrp="1"/>
          </p:cNvSpPr>
          <p:nvPr>
            <p:ph type="sldNum" sz="quarter" idx="5"/>
          </p:nvPr>
        </p:nvSpPr>
        <p:spPr/>
        <p:txBody>
          <a:bodyPr/>
          <a:lstStyle/>
          <a:p>
            <a:pPr rtl="0"/>
            <a:fld id="{DEF75CB5-5666-5049-9AE0-38EFD385C21E}" type="slidenum">
              <a:rPr lang="it-IT" smtClean="0"/>
              <a:t>22</a:t>
            </a:fld>
            <a:endParaRPr lang="it-IT" dirty="0"/>
          </a:p>
        </p:txBody>
      </p:sp>
    </p:spTree>
    <p:extLst>
      <p:ext uri="{BB962C8B-B14F-4D97-AF65-F5344CB8AC3E}">
        <p14:creationId xmlns:p14="http://schemas.microsoft.com/office/powerpoint/2010/main" val="3974204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EB05C-C0AA-9FD2-6ECE-0DB5F45FFEE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DA3DDE8-E2F8-81D7-EBE2-B9C35ED188D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4CFFF74-9CD4-79D9-A6F3-6E59EBA4ECDF}"/>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6D0899FF-726B-934C-BDA0-7AEA820675F5}"/>
              </a:ext>
            </a:extLst>
          </p:cNvPr>
          <p:cNvSpPr>
            <a:spLocks noGrp="1"/>
          </p:cNvSpPr>
          <p:nvPr>
            <p:ph type="sldNum" sz="quarter" idx="5"/>
          </p:nvPr>
        </p:nvSpPr>
        <p:spPr/>
        <p:txBody>
          <a:bodyPr/>
          <a:lstStyle/>
          <a:p>
            <a:pPr rtl="0"/>
            <a:fld id="{DEF75CB5-5666-5049-9AE0-38EFD385C21E}" type="slidenum">
              <a:rPr lang="it-IT" smtClean="0"/>
              <a:t>23</a:t>
            </a:fld>
            <a:endParaRPr lang="it-IT" dirty="0"/>
          </a:p>
        </p:txBody>
      </p:sp>
    </p:spTree>
    <p:extLst>
      <p:ext uri="{BB962C8B-B14F-4D97-AF65-F5344CB8AC3E}">
        <p14:creationId xmlns:p14="http://schemas.microsoft.com/office/powerpoint/2010/main" val="424539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5BD98-99D0-BB6E-05FD-CB511AE8E2C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C7B2E16-5FFB-0269-807D-D2D82413270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384EFE8-2F63-EF45-7537-14D4C6BF27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Viene aggiunto un controllo qualora </a:t>
            </a:r>
            <a:r>
              <a:rPr lang="it-IT" dirty="0" err="1"/>
              <a:t>l’host</a:t>
            </a:r>
            <a:r>
              <a:rPr lang="it-IT" dirty="0"/>
              <a:t> non viene definito che avvisa l’utente che l’argomento è obbligatorio. Tutti gli argomenti (escluso </a:t>
            </a:r>
            <a:r>
              <a:rPr lang="it-IT" dirty="0" err="1"/>
              <a:t>host</a:t>
            </a:r>
            <a:r>
              <a:rPr lang="it-IT" dirty="0"/>
              <a:t>) hanno un proprio valore di default definito tramite default = valore oppure tramite la funzione </a:t>
            </a:r>
            <a:r>
              <a:rPr lang="it-IT" dirty="0" err="1"/>
              <a:t>parser.set_default</a:t>
            </a:r>
            <a:r>
              <a:rPr lang="it-IT" dirty="0"/>
              <a:t>(nome </a:t>
            </a:r>
            <a:r>
              <a:rPr lang="it-IT" dirty="0" err="1"/>
              <a:t>paramentro</a:t>
            </a:r>
            <a:r>
              <a:rPr lang="it-IT" dirty="0"/>
              <a:t> = valore). La seconda è utilizzata per i parametri booleani. Parametri come proxy </a:t>
            </a:r>
            <a:r>
              <a:rPr lang="it-IT" dirty="0" err="1"/>
              <a:t>host</a:t>
            </a:r>
            <a:r>
              <a:rPr lang="it-IT" dirty="0"/>
              <a:t> e proxy port vengono presi in considerazione solo nel momento in cui si specifica di utilizzare il proxy. Nella definizione degli argomenti sono presenti anche gli alias: Ad esempio si può specificare il numero di connessioni da aprire tramite i parametri –s oppure –-</a:t>
            </a:r>
            <a:r>
              <a:rPr lang="it-IT" dirty="0" err="1"/>
              <a:t>sockets</a:t>
            </a:r>
            <a:endParaRPr lang="it-IT" dirty="0"/>
          </a:p>
          <a:p>
            <a:pPr rtl="0"/>
            <a:endParaRPr lang="it-IT" dirty="0"/>
          </a:p>
        </p:txBody>
      </p:sp>
      <p:sp>
        <p:nvSpPr>
          <p:cNvPr id="4" name="Segnaposto numero diapositiva 3">
            <a:extLst>
              <a:ext uri="{FF2B5EF4-FFF2-40B4-BE49-F238E27FC236}">
                <a16:creationId xmlns:a16="http://schemas.microsoft.com/office/drawing/2014/main" id="{18742FA5-A721-150F-424C-408DB254AB8C}"/>
              </a:ext>
            </a:extLst>
          </p:cNvPr>
          <p:cNvSpPr>
            <a:spLocks noGrp="1"/>
          </p:cNvSpPr>
          <p:nvPr>
            <p:ph type="sldNum" sz="quarter" idx="5"/>
          </p:nvPr>
        </p:nvSpPr>
        <p:spPr/>
        <p:txBody>
          <a:bodyPr/>
          <a:lstStyle/>
          <a:p>
            <a:pPr rtl="0"/>
            <a:fld id="{DEF75CB5-5666-5049-9AE0-38EFD385C21E}" type="slidenum">
              <a:rPr lang="it-IT" smtClean="0"/>
              <a:t>24</a:t>
            </a:fld>
            <a:endParaRPr lang="it-IT" dirty="0"/>
          </a:p>
        </p:txBody>
      </p:sp>
    </p:spTree>
    <p:extLst>
      <p:ext uri="{BB962C8B-B14F-4D97-AF65-F5344CB8AC3E}">
        <p14:creationId xmlns:p14="http://schemas.microsoft.com/office/powerpoint/2010/main" val="4132770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CAB4B-4A7B-1F3B-5589-036EE3C39B3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A7111C8-E1EA-B3BB-928E-EAE7E515B4E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FD3D35B-8133-1892-E3F2-59E7ABE75B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utilizzare un proxy può essere un vantaggio per l’attaccante qualora volesse nascondere il proprio indirizzo IP e aggirare alcune restrizioni di accesso.</a:t>
            </a:r>
          </a:p>
          <a:p>
            <a:pPr rtl="0"/>
            <a:endParaRPr lang="it-IT" dirty="0"/>
          </a:p>
        </p:txBody>
      </p:sp>
      <p:sp>
        <p:nvSpPr>
          <p:cNvPr id="4" name="Segnaposto numero diapositiva 3">
            <a:extLst>
              <a:ext uri="{FF2B5EF4-FFF2-40B4-BE49-F238E27FC236}">
                <a16:creationId xmlns:a16="http://schemas.microsoft.com/office/drawing/2014/main" id="{3515893D-EF50-B4C7-F82F-91FA6B1957C9}"/>
              </a:ext>
            </a:extLst>
          </p:cNvPr>
          <p:cNvSpPr>
            <a:spLocks noGrp="1"/>
          </p:cNvSpPr>
          <p:nvPr>
            <p:ph type="sldNum" sz="quarter" idx="5"/>
          </p:nvPr>
        </p:nvSpPr>
        <p:spPr/>
        <p:txBody>
          <a:bodyPr/>
          <a:lstStyle/>
          <a:p>
            <a:pPr rtl="0"/>
            <a:fld id="{DEF75CB5-5666-5049-9AE0-38EFD385C21E}" type="slidenum">
              <a:rPr lang="it-IT" smtClean="0"/>
              <a:t>25</a:t>
            </a:fld>
            <a:endParaRPr lang="it-IT" dirty="0"/>
          </a:p>
        </p:txBody>
      </p:sp>
    </p:spTree>
    <p:extLst>
      <p:ext uri="{BB962C8B-B14F-4D97-AF65-F5344CB8AC3E}">
        <p14:creationId xmlns:p14="http://schemas.microsoft.com/office/powerpoint/2010/main" val="1829380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9E2ED-C79C-707F-BAF4-370C0A0DE98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FA9B8C9-789F-F2A9-61C5-518E1613594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AA22879-59DD-6399-4BCC-7ADBE50DEBA3}"/>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5B3848FD-4658-73BD-C5E8-E27B85D670F3}"/>
              </a:ext>
            </a:extLst>
          </p:cNvPr>
          <p:cNvSpPr>
            <a:spLocks noGrp="1"/>
          </p:cNvSpPr>
          <p:nvPr>
            <p:ph type="sldNum" sz="quarter" idx="5"/>
          </p:nvPr>
        </p:nvSpPr>
        <p:spPr/>
        <p:txBody>
          <a:bodyPr/>
          <a:lstStyle/>
          <a:p>
            <a:pPr rtl="0"/>
            <a:fld id="{DEF75CB5-5666-5049-9AE0-38EFD385C21E}" type="slidenum">
              <a:rPr lang="it-IT" smtClean="0"/>
              <a:t>26</a:t>
            </a:fld>
            <a:endParaRPr lang="it-IT" dirty="0"/>
          </a:p>
        </p:txBody>
      </p:sp>
    </p:spTree>
    <p:extLst>
      <p:ext uri="{BB962C8B-B14F-4D97-AF65-F5344CB8AC3E}">
        <p14:creationId xmlns:p14="http://schemas.microsoft.com/office/powerpoint/2010/main" val="2509330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8D445-A29D-8F42-E94F-DBC7E6895CE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E6ACFCA-91FD-1E4B-5226-B6E9EF15C7B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83F990D-A65D-E298-7FC6-E84341306F8D}"/>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B0FFB988-0D8A-583A-D998-B5C161D924BF}"/>
              </a:ext>
            </a:extLst>
          </p:cNvPr>
          <p:cNvSpPr>
            <a:spLocks noGrp="1"/>
          </p:cNvSpPr>
          <p:nvPr>
            <p:ph type="sldNum" sz="quarter" idx="5"/>
          </p:nvPr>
        </p:nvSpPr>
        <p:spPr/>
        <p:txBody>
          <a:bodyPr/>
          <a:lstStyle/>
          <a:p>
            <a:pPr rtl="0"/>
            <a:fld id="{DEF75CB5-5666-5049-9AE0-38EFD385C21E}" type="slidenum">
              <a:rPr lang="it-IT" smtClean="0"/>
              <a:t>27</a:t>
            </a:fld>
            <a:endParaRPr lang="it-IT" dirty="0"/>
          </a:p>
        </p:txBody>
      </p:sp>
    </p:spTree>
    <p:extLst>
      <p:ext uri="{BB962C8B-B14F-4D97-AF65-F5344CB8AC3E}">
        <p14:creationId xmlns:p14="http://schemas.microsoft.com/office/powerpoint/2010/main" val="3654177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C55C4-510E-50DB-99A4-9C27A585146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F8373A7-1757-35F7-7256-E7A3ACE69C5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0B172AE-1A2A-ACEA-8BE8-14B018DF94A4}"/>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13D8BD73-3BA2-3A46-FD9D-402E05E8B5E8}"/>
              </a:ext>
            </a:extLst>
          </p:cNvPr>
          <p:cNvSpPr>
            <a:spLocks noGrp="1"/>
          </p:cNvSpPr>
          <p:nvPr>
            <p:ph type="sldNum" sz="quarter" idx="5"/>
          </p:nvPr>
        </p:nvSpPr>
        <p:spPr/>
        <p:txBody>
          <a:bodyPr/>
          <a:lstStyle/>
          <a:p>
            <a:pPr rtl="0"/>
            <a:fld id="{DEF75CB5-5666-5049-9AE0-38EFD385C21E}" type="slidenum">
              <a:rPr lang="it-IT" smtClean="0"/>
              <a:t>28</a:t>
            </a:fld>
            <a:endParaRPr lang="it-IT" dirty="0"/>
          </a:p>
        </p:txBody>
      </p:sp>
    </p:spTree>
    <p:extLst>
      <p:ext uri="{BB962C8B-B14F-4D97-AF65-F5344CB8AC3E}">
        <p14:creationId xmlns:p14="http://schemas.microsoft.com/office/powerpoint/2010/main" val="28028498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2B9CB-CC10-0881-96A1-81FFF59BC93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D600828-7595-25A5-546D-9587E0B8E3C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25FB38D-B9B0-908D-1E26-778487FFB302}"/>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285DE1E3-F870-7F85-B318-10C733FA151E}"/>
              </a:ext>
            </a:extLst>
          </p:cNvPr>
          <p:cNvSpPr>
            <a:spLocks noGrp="1"/>
          </p:cNvSpPr>
          <p:nvPr>
            <p:ph type="sldNum" sz="quarter" idx="5"/>
          </p:nvPr>
        </p:nvSpPr>
        <p:spPr/>
        <p:txBody>
          <a:bodyPr/>
          <a:lstStyle/>
          <a:p>
            <a:pPr rtl="0"/>
            <a:fld id="{DEF75CB5-5666-5049-9AE0-38EFD385C21E}" type="slidenum">
              <a:rPr lang="it-IT" smtClean="0"/>
              <a:t>29</a:t>
            </a:fld>
            <a:endParaRPr lang="it-IT" dirty="0"/>
          </a:p>
        </p:txBody>
      </p:sp>
    </p:spTree>
    <p:extLst>
      <p:ext uri="{BB962C8B-B14F-4D97-AF65-F5344CB8AC3E}">
        <p14:creationId xmlns:p14="http://schemas.microsoft.com/office/powerpoint/2010/main" val="1858996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FECCA-A7F1-6E37-D9EB-FE41DBD5125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B52F166-35DF-58BA-C528-767F8737D6A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22D3A9D-D551-36FC-D7BB-AED1EF44D312}"/>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9A1F0DDC-F4FA-539E-8094-2DD1AC3152C4}"/>
              </a:ext>
            </a:extLst>
          </p:cNvPr>
          <p:cNvSpPr>
            <a:spLocks noGrp="1"/>
          </p:cNvSpPr>
          <p:nvPr>
            <p:ph type="sldNum" sz="quarter" idx="5"/>
          </p:nvPr>
        </p:nvSpPr>
        <p:spPr/>
        <p:txBody>
          <a:bodyPr/>
          <a:lstStyle/>
          <a:p>
            <a:pPr rtl="0"/>
            <a:fld id="{DEF75CB5-5666-5049-9AE0-38EFD385C21E}" type="slidenum">
              <a:rPr lang="it-IT" smtClean="0"/>
              <a:t>30</a:t>
            </a:fld>
            <a:endParaRPr lang="it-IT" dirty="0"/>
          </a:p>
        </p:txBody>
      </p:sp>
    </p:spTree>
    <p:extLst>
      <p:ext uri="{BB962C8B-B14F-4D97-AF65-F5344CB8AC3E}">
        <p14:creationId xmlns:p14="http://schemas.microsoft.com/office/powerpoint/2010/main" val="1012028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E889C-F132-1515-FB2D-C445D5D65B0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76908A5-5CE0-9E2A-3EBF-7F360FBABAD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6F2661F-A3FD-02AE-C7AB-CBF5575EEF6E}"/>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97927417-071C-EE0B-DEF2-5EF7281FD8E3}"/>
              </a:ext>
            </a:extLst>
          </p:cNvPr>
          <p:cNvSpPr>
            <a:spLocks noGrp="1"/>
          </p:cNvSpPr>
          <p:nvPr>
            <p:ph type="sldNum" sz="quarter" idx="5"/>
          </p:nvPr>
        </p:nvSpPr>
        <p:spPr/>
        <p:txBody>
          <a:bodyPr/>
          <a:lstStyle/>
          <a:p>
            <a:pPr rtl="0"/>
            <a:fld id="{DEF75CB5-5666-5049-9AE0-38EFD385C21E}" type="slidenum">
              <a:rPr lang="it-IT" smtClean="0"/>
              <a:t>31</a:t>
            </a:fld>
            <a:endParaRPr lang="it-IT" dirty="0"/>
          </a:p>
        </p:txBody>
      </p:sp>
    </p:spTree>
    <p:extLst>
      <p:ext uri="{BB962C8B-B14F-4D97-AF65-F5344CB8AC3E}">
        <p14:creationId xmlns:p14="http://schemas.microsoft.com/office/powerpoint/2010/main" val="513841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67C48-2D7D-5A09-3537-4B3CC5FBD28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1703FE7-489A-CCFF-BB12-3F3FF52D74C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4A1EA4C-059A-E3CA-1AE0-B8EB51865773}"/>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78821F3C-94BC-1F7D-988C-6B12742E0453}"/>
              </a:ext>
            </a:extLst>
          </p:cNvPr>
          <p:cNvSpPr>
            <a:spLocks noGrp="1"/>
          </p:cNvSpPr>
          <p:nvPr>
            <p:ph type="sldNum" sz="quarter" idx="5"/>
          </p:nvPr>
        </p:nvSpPr>
        <p:spPr/>
        <p:txBody>
          <a:bodyPr/>
          <a:lstStyle/>
          <a:p>
            <a:pPr rtl="0"/>
            <a:fld id="{DEF75CB5-5666-5049-9AE0-38EFD385C21E}" type="slidenum">
              <a:rPr lang="it-IT" smtClean="0"/>
              <a:t>32</a:t>
            </a:fld>
            <a:endParaRPr lang="it-IT" dirty="0"/>
          </a:p>
        </p:txBody>
      </p:sp>
    </p:spTree>
    <p:extLst>
      <p:ext uri="{BB962C8B-B14F-4D97-AF65-F5344CB8AC3E}">
        <p14:creationId xmlns:p14="http://schemas.microsoft.com/office/powerpoint/2010/main" val="767002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AC002-7829-6A98-D0C6-D1F23E569F7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99B655E-1E56-337D-44B8-77753557C5B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8A08844-597B-DEDB-FB6A-6533A5B33FAA}"/>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C79C96F0-0FD4-5E2A-B2B2-ECEA572B12FE}"/>
              </a:ext>
            </a:extLst>
          </p:cNvPr>
          <p:cNvSpPr>
            <a:spLocks noGrp="1"/>
          </p:cNvSpPr>
          <p:nvPr>
            <p:ph type="sldNum" sz="quarter" idx="5"/>
          </p:nvPr>
        </p:nvSpPr>
        <p:spPr/>
        <p:txBody>
          <a:bodyPr/>
          <a:lstStyle/>
          <a:p>
            <a:pPr rtl="0"/>
            <a:fld id="{DEF75CB5-5666-5049-9AE0-38EFD385C21E}" type="slidenum">
              <a:rPr lang="it-IT" smtClean="0"/>
              <a:t>33</a:t>
            </a:fld>
            <a:endParaRPr lang="it-IT" dirty="0"/>
          </a:p>
        </p:txBody>
      </p:sp>
    </p:spTree>
    <p:extLst>
      <p:ext uri="{BB962C8B-B14F-4D97-AF65-F5344CB8AC3E}">
        <p14:creationId xmlns:p14="http://schemas.microsoft.com/office/powerpoint/2010/main" val="1423622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97329-E1E8-9AB2-AF7E-D3EF26AAAA6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D61C57F-241B-FBC2-BBC9-929AD914BD9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BD8B49D-F4C4-6DA8-6E3A-E2177533B504}"/>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932C6EA0-24FB-4C8B-DF0E-32C053752221}"/>
              </a:ext>
            </a:extLst>
          </p:cNvPr>
          <p:cNvSpPr>
            <a:spLocks noGrp="1"/>
          </p:cNvSpPr>
          <p:nvPr>
            <p:ph type="sldNum" sz="quarter" idx="5"/>
          </p:nvPr>
        </p:nvSpPr>
        <p:spPr/>
        <p:txBody>
          <a:bodyPr/>
          <a:lstStyle/>
          <a:p>
            <a:pPr rtl="0"/>
            <a:fld id="{DEF75CB5-5666-5049-9AE0-38EFD385C21E}" type="slidenum">
              <a:rPr lang="it-IT" smtClean="0"/>
              <a:t>34</a:t>
            </a:fld>
            <a:endParaRPr lang="it-IT" dirty="0"/>
          </a:p>
        </p:txBody>
      </p:sp>
    </p:spTree>
    <p:extLst>
      <p:ext uri="{BB962C8B-B14F-4D97-AF65-F5344CB8AC3E}">
        <p14:creationId xmlns:p14="http://schemas.microsoft.com/office/powerpoint/2010/main" val="37624647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16A18-D1C8-5E28-65E1-F8612065BCB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D5653C-41DE-E603-2CF0-C04CD732A2D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EB032EF-2C80-3791-2D0F-3228BAB569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NOTA: il numero e le righe dell’elenco dovrebbero essere 500. Non è così in quanto il server cerca di chiudere le connessioni tramite </a:t>
            </a:r>
            <a:r>
              <a:rPr lang="it-IT" dirty="0" err="1"/>
              <a:t>timeout</a:t>
            </a:r>
            <a:r>
              <a:rPr lang="it-IT" dirty="0"/>
              <a:t> ma l’attaccante le riapre in continuazione. </a:t>
            </a:r>
          </a:p>
          <a:p>
            <a:pPr rtl="0"/>
            <a:endParaRPr lang="it-IT" dirty="0"/>
          </a:p>
        </p:txBody>
      </p:sp>
      <p:sp>
        <p:nvSpPr>
          <p:cNvPr id="4" name="Segnaposto numero diapositiva 3">
            <a:extLst>
              <a:ext uri="{FF2B5EF4-FFF2-40B4-BE49-F238E27FC236}">
                <a16:creationId xmlns:a16="http://schemas.microsoft.com/office/drawing/2014/main" id="{DC5A9F19-BD26-4C93-DA93-BC039F5A70D3}"/>
              </a:ext>
            </a:extLst>
          </p:cNvPr>
          <p:cNvSpPr>
            <a:spLocks noGrp="1"/>
          </p:cNvSpPr>
          <p:nvPr>
            <p:ph type="sldNum" sz="quarter" idx="5"/>
          </p:nvPr>
        </p:nvSpPr>
        <p:spPr/>
        <p:txBody>
          <a:bodyPr/>
          <a:lstStyle/>
          <a:p>
            <a:pPr rtl="0"/>
            <a:fld id="{DEF75CB5-5666-5049-9AE0-38EFD385C21E}" type="slidenum">
              <a:rPr lang="it-IT" smtClean="0"/>
              <a:t>35</a:t>
            </a:fld>
            <a:endParaRPr lang="it-IT" dirty="0"/>
          </a:p>
        </p:txBody>
      </p:sp>
    </p:spTree>
    <p:extLst>
      <p:ext uri="{BB962C8B-B14F-4D97-AF65-F5344CB8AC3E}">
        <p14:creationId xmlns:p14="http://schemas.microsoft.com/office/powerpoint/2010/main" val="12183871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E74A9-B331-7492-74E6-79091257A9A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B3D894E-29FE-351A-4594-477F5DB063F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D3716EA-E55E-8DF8-E72B-F762B64577EA}"/>
              </a:ext>
            </a:extLst>
          </p:cNvPr>
          <p:cNvSpPr>
            <a:spLocks noGrp="1"/>
          </p:cNvSpPr>
          <p:nvPr>
            <p:ph type="body" idx="1"/>
          </p:nvPr>
        </p:nvSpPr>
        <p:spPr/>
        <p:txBody>
          <a:bodyPr/>
          <a:lstStyle/>
          <a:p>
            <a:pPr rtl="0"/>
            <a:endParaRPr lang="it-IT" dirty="0"/>
          </a:p>
        </p:txBody>
      </p:sp>
      <p:sp>
        <p:nvSpPr>
          <p:cNvPr id="4" name="Segnaposto numero diapositiva 3">
            <a:extLst>
              <a:ext uri="{FF2B5EF4-FFF2-40B4-BE49-F238E27FC236}">
                <a16:creationId xmlns:a16="http://schemas.microsoft.com/office/drawing/2014/main" id="{A1495CEC-0253-E62A-CD47-2838B2387DB1}"/>
              </a:ext>
            </a:extLst>
          </p:cNvPr>
          <p:cNvSpPr>
            <a:spLocks noGrp="1"/>
          </p:cNvSpPr>
          <p:nvPr>
            <p:ph type="sldNum" sz="quarter" idx="5"/>
          </p:nvPr>
        </p:nvSpPr>
        <p:spPr/>
        <p:txBody>
          <a:bodyPr/>
          <a:lstStyle/>
          <a:p>
            <a:pPr rtl="0"/>
            <a:fld id="{DEF75CB5-5666-5049-9AE0-38EFD385C21E}" type="slidenum">
              <a:rPr lang="it-IT" smtClean="0"/>
              <a:t>36</a:t>
            </a:fld>
            <a:endParaRPr lang="it-IT" dirty="0"/>
          </a:p>
        </p:txBody>
      </p:sp>
    </p:spTree>
    <p:extLst>
      <p:ext uri="{BB962C8B-B14F-4D97-AF65-F5344CB8AC3E}">
        <p14:creationId xmlns:p14="http://schemas.microsoft.com/office/powerpoint/2010/main" val="2629408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lvl1pPr algn="l">
              <a:defRPr/>
            </a:lvl1pPr>
          </a:lstStyle>
          <a:p>
            <a:pPr rtl="0"/>
            <a:endParaRPr lang="it-IT" dirty="0"/>
          </a:p>
        </p:txBody>
      </p:sp>
      <p:sp>
        <p:nvSpPr>
          <p:cNvPr id="5" name="Footer Placeholder 4"/>
          <p:cNvSpPr>
            <a:spLocks noGrp="1"/>
          </p:cNvSpPr>
          <p:nvPr>
            <p:ph type="ftr" sz="quarter" idx="11"/>
          </p:nvPr>
        </p:nvSpPr>
        <p:spPr/>
        <p:txBody>
          <a:bodyPr/>
          <a:lstStyle/>
          <a:p>
            <a:pPr rtl="0"/>
            <a:r>
              <a:rPr lang="it-IT"/>
              <a:t>Titolo presentazione</a:t>
            </a:r>
          </a:p>
        </p:txBody>
      </p:sp>
      <p:sp>
        <p:nvSpPr>
          <p:cNvPr id="6" name="Slide Number Placeholder 5"/>
          <p:cNvSpPr>
            <a:spLocks noGrp="1"/>
          </p:cNvSpPr>
          <p:nvPr>
            <p:ph type="sldNum" sz="quarter" idx="12"/>
          </p:nvPr>
        </p:nvSpPr>
        <p:spPr/>
        <p:txBody>
          <a:bodyPr/>
          <a:lstStyle/>
          <a:p>
            <a:pPr rtl="0"/>
            <a:fld id="{FE024F78-56A6-7740-B68D-8D4D026EDF3F}" type="slidenum">
              <a:rPr lang="it-IT" smtClean="0"/>
              <a:pPr/>
              <a:t>‹N›</a:t>
            </a:fld>
            <a:endParaRPr lang="it-IT"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966266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pPr rtl="0"/>
            <a:endParaRPr lang="it-IT" dirty="0"/>
          </a:p>
        </p:txBody>
      </p:sp>
      <p:sp>
        <p:nvSpPr>
          <p:cNvPr id="5" name="Footer Placeholder 4"/>
          <p:cNvSpPr>
            <a:spLocks noGrp="1"/>
          </p:cNvSpPr>
          <p:nvPr>
            <p:ph type="ftr" sz="quarter" idx="11"/>
          </p:nvPr>
        </p:nvSpPr>
        <p:spPr/>
        <p:txBody>
          <a:bodyPr/>
          <a:lstStyle/>
          <a:p>
            <a:pPr rtl="0"/>
            <a:r>
              <a:rPr lang="it-IT"/>
              <a:t>Titolo presentazione</a:t>
            </a:r>
          </a:p>
        </p:txBody>
      </p:sp>
      <p:sp>
        <p:nvSpPr>
          <p:cNvPr id="6" name="Slide Number Placeholder 5"/>
          <p:cNvSpPr>
            <a:spLocks noGrp="1"/>
          </p:cNvSpPr>
          <p:nvPr>
            <p:ph type="sldNum" sz="quarter" idx="12"/>
          </p:nvPr>
        </p:nvSpPr>
        <p:spPr/>
        <p:txBody>
          <a:body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126099003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pPr rtl="0"/>
            <a:endParaRPr lang="it-IT" dirty="0"/>
          </a:p>
        </p:txBody>
      </p:sp>
      <p:sp>
        <p:nvSpPr>
          <p:cNvPr id="5" name="Footer Placeholder 4"/>
          <p:cNvSpPr>
            <a:spLocks noGrp="1"/>
          </p:cNvSpPr>
          <p:nvPr>
            <p:ph type="ftr" sz="quarter" idx="11"/>
          </p:nvPr>
        </p:nvSpPr>
        <p:spPr/>
        <p:txBody>
          <a:bodyPr/>
          <a:lstStyle/>
          <a:p>
            <a:pPr rtl="0"/>
            <a:r>
              <a:rPr lang="it-IT"/>
              <a:t>Titolo presentazione</a:t>
            </a:r>
          </a:p>
        </p:txBody>
      </p:sp>
      <p:sp>
        <p:nvSpPr>
          <p:cNvPr id="6" name="Slide Number Placeholder 5"/>
          <p:cNvSpPr>
            <a:spLocks noGrp="1"/>
          </p:cNvSpPr>
          <p:nvPr>
            <p:ph type="sldNum" sz="quarter" idx="12"/>
          </p:nvPr>
        </p:nvSpPr>
        <p:spPr/>
        <p:txBody>
          <a:bodyPr/>
          <a:lstStyle/>
          <a:p>
            <a:pPr rtl="0"/>
            <a:fld id="{FE024F78-56A6-7740-B68D-8D4D026EDF3F}" type="slidenum">
              <a:rPr lang="it-IT" smtClean="0"/>
              <a:pPr/>
              <a:t>‹N›</a:t>
            </a:fld>
            <a:endParaRPr lang="it-IT"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97005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pPr rtl="0"/>
            <a:endParaRPr lang="it-IT" dirty="0"/>
          </a:p>
        </p:txBody>
      </p:sp>
      <p:sp>
        <p:nvSpPr>
          <p:cNvPr id="6" name="Footer Placeholder 5"/>
          <p:cNvSpPr>
            <a:spLocks noGrp="1"/>
          </p:cNvSpPr>
          <p:nvPr>
            <p:ph type="ftr" sz="quarter" idx="11"/>
          </p:nvPr>
        </p:nvSpPr>
        <p:spPr/>
        <p:txBody>
          <a:bodyPr/>
          <a:lstStyle/>
          <a:p>
            <a:pPr rtl="0"/>
            <a:r>
              <a:rPr lang="it-IT"/>
              <a:t>Titolo presentazione</a:t>
            </a:r>
          </a:p>
        </p:txBody>
      </p:sp>
      <p:sp>
        <p:nvSpPr>
          <p:cNvPr id="7" name="Slide Number Placeholder 6"/>
          <p:cNvSpPr>
            <a:spLocks noGrp="1"/>
          </p:cNvSpPr>
          <p:nvPr>
            <p:ph type="sldNum" sz="quarter" idx="12"/>
          </p:nvPr>
        </p:nvSpPr>
        <p:spPr/>
        <p:txBody>
          <a:body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228031287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024128" y="2967788"/>
            <a:ext cx="4754880" cy="33415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it-IT"/>
              <a:t>Fare clic per modificare gli stili del testo dello schema</a:t>
            </a:r>
          </a:p>
        </p:txBody>
      </p:sp>
      <p:sp>
        <p:nvSpPr>
          <p:cNvPr id="6" name="Content Placeholder 5"/>
          <p:cNvSpPr>
            <a:spLocks noGrp="1"/>
          </p:cNvSpPr>
          <p:nvPr>
            <p:ph sz="quarter" idx="4"/>
          </p:nvPr>
        </p:nvSpPr>
        <p:spPr>
          <a:xfrm>
            <a:off x="5990888" y="2967788"/>
            <a:ext cx="4754880" cy="33415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pPr rtl="0"/>
            <a:endParaRPr lang="it-IT" dirty="0"/>
          </a:p>
        </p:txBody>
      </p:sp>
      <p:sp>
        <p:nvSpPr>
          <p:cNvPr id="8" name="Footer Placeholder 7"/>
          <p:cNvSpPr>
            <a:spLocks noGrp="1"/>
          </p:cNvSpPr>
          <p:nvPr>
            <p:ph type="ftr" sz="quarter" idx="11"/>
          </p:nvPr>
        </p:nvSpPr>
        <p:spPr/>
        <p:txBody>
          <a:bodyPr/>
          <a:lstStyle/>
          <a:p>
            <a:pPr rtl="0"/>
            <a:r>
              <a:rPr lang="it-IT"/>
              <a:t>Titolo presentazione</a:t>
            </a:r>
          </a:p>
        </p:txBody>
      </p:sp>
      <p:sp>
        <p:nvSpPr>
          <p:cNvPr id="9" name="Slide Number Placeholder 8"/>
          <p:cNvSpPr>
            <a:spLocks noGrp="1"/>
          </p:cNvSpPr>
          <p:nvPr>
            <p:ph type="sldNum" sz="quarter" idx="12"/>
          </p:nvPr>
        </p:nvSpPr>
        <p:spPr/>
        <p:txBody>
          <a:body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88720407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2/18/2026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‹N›</a:t>
            </a:fld>
            <a:endParaRPr lang="en-US" dirty="0"/>
          </a:p>
        </p:txBody>
      </p:sp>
      <p:pic>
        <p:nvPicPr>
          <p:cNvPr id="6" name="Immagine 5">
            <a:extLst>
              <a:ext uri="{FF2B5EF4-FFF2-40B4-BE49-F238E27FC236}">
                <a16:creationId xmlns:a16="http://schemas.microsoft.com/office/drawing/2014/main" id="{E4335F18-F15A-5F14-8F6D-DC35FE2B5D3B}"/>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Tree>
    <p:extLst>
      <p:ext uri="{BB962C8B-B14F-4D97-AF65-F5344CB8AC3E}">
        <p14:creationId xmlns:p14="http://schemas.microsoft.com/office/powerpoint/2010/main" val="9644795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endParaRPr lang="it-IT" dirty="0"/>
          </a:p>
        </p:txBody>
      </p:sp>
      <p:sp>
        <p:nvSpPr>
          <p:cNvPr id="3" name="Footer Placeholder 2"/>
          <p:cNvSpPr>
            <a:spLocks noGrp="1"/>
          </p:cNvSpPr>
          <p:nvPr>
            <p:ph type="ftr" sz="quarter" idx="11"/>
          </p:nvPr>
        </p:nvSpPr>
        <p:spPr/>
        <p:txBody>
          <a:bodyPr/>
          <a:lstStyle/>
          <a:p>
            <a:pPr rtl="0"/>
            <a:r>
              <a:rPr lang="it-IT"/>
              <a:t>Titolo presentazione</a:t>
            </a:r>
          </a:p>
        </p:txBody>
      </p:sp>
      <p:sp>
        <p:nvSpPr>
          <p:cNvPr id="4" name="Slide Number Placeholder 3"/>
          <p:cNvSpPr>
            <a:spLocks noGrp="1"/>
          </p:cNvSpPr>
          <p:nvPr>
            <p:ph type="sldNum" sz="quarter" idx="12"/>
          </p:nvPr>
        </p:nvSpPr>
        <p:spPr/>
        <p:txBody>
          <a:body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345537167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pPr rtl="0"/>
            <a:endParaRPr lang="it-IT" dirty="0"/>
          </a:p>
        </p:txBody>
      </p:sp>
      <p:sp>
        <p:nvSpPr>
          <p:cNvPr id="6" name="Footer Placeholder 5"/>
          <p:cNvSpPr>
            <a:spLocks noGrp="1"/>
          </p:cNvSpPr>
          <p:nvPr>
            <p:ph type="ftr" sz="quarter" idx="11"/>
          </p:nvPr>
        </p:nvSpPr>
        <p:spPr/>
        <p:txBody>
          <a:bodyPr/>
          <a:lstStyle/>
          <a:p>
            <a:pPr rtl="0"/>
            <a:r>
              <a:rPr lang="it-IT"/>
              <a:t>Titolo presentazione</a:t>
            </a:r>
          </a:p>
        </p:txBody>
      </p:sp>
      <p:sp>
        <p:nvSpPr>
          <p:cNvPr id="7" name="Slide Number Placeholder 6"/>
          <p:cNvSpPr>
            <a:spLocks noGrp="1"/>
          </p:cNvSpPr>
          <p:nvPr>
            <p:ph type="sldNum" sz="quarter" idx="12"/>
          </p:nvPr>
        </p:nvSpPr>
        <p:spPr/>
        <p:txBody>
          <a:body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242508490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pPr rtl="0"/>
            <a:endParaRPr lang="it-IT" dirty="0"/>
          </a:p>
        </p:txBody>
      </p:sp>
      <p:sp>
        <p:nvSpPr>
          <p:cNvPr id="6" name="Footer Placeholder 5"/>
          <p:cNvSpPr>
            <a:spLocks noGrp="1"/>
          </p:cNvSpPr>
          <p:nvPr>
            <p:ph type="ftr" sz="quarter" idx="11"/>
          </p:nvPr>
        </p:nvSpPr>
        <p:spPr/>
        <p:txBody>
          <a:bodyPr/>
          <a:lstStyle/>
          <a:p>
            <a:pPr rtl="0"/>
            <a:r>
              <a:rPr lang="it-IT"/>
              <a:t>Titolo presentazione</a:t>
            </a:r>
          </a:p>
        </p:txBody>
      </p:sp>
      <p:sp>
        <p:nvSpPr>
          <p:cNvPr id="7" name="Slide Number Placeholder 6"/>
          <p:cNvSpPr>
            <a:spLocks noGrp="1"/>
          </p:cNvSpPr>
          <p:nvPr>
            <p:ph type="sldNum" sz="quarter" idx="12"/>
          </p:nvPr>
        </p:nvSpPr>
        <p:spPr/>
        <p:txBody>
          <a:bodyPr/>
          <a:lstStyle/>
          <a:p>
            <a:pPr rtl="0"/>
            <a:fld id="{FE024F78-56A6-7740-B68D-8D4D026EDF3F}" type="slidenum">
              <a:rPr lang="it-IT" smtClean="0"/>
              <a:pPr/>
              <a:t>‹N›</a:t>
            </a:fld>
            <a:endParaRPr lang="it-IT"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167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pPr rtl="0"/>
            <a:endParaRPr lang="it-IT" dirty="0"/>
          </a:p>
        </p:txBody>
      </p:sp>
      <p:sp>
        <p:nvSpPr>
          <p:cNvPr id="5" name="Footer Placeholder 4"/>
          <p:cNvSpPr>
            <a:spLocks noGrp="1"/>
          </p:cNvSpPr>
          <p:nvPr>
            <p:ph type="ftr" sz="quarter" idx="11"/>
          </p:nvPr>
        </p:nvSpPr>
        <p:spPr/>
        <p:txBody>
          <a:bodyPr/>
          <a:lstStyle/>
          <a:p>
            <a:pPr rtl="0"/>
            <a:r>
              <a:rPr lang="it-IT"/>
              <a:t>Titolo presentazione</a:t>
            </a:r>
          </a:p>
        </p:txBody>
      </p:sp>
      <p:sp>
        <p:nvSpPr>
          <p:cNvPr id="6" name="Slide Number Placeholder 5"/>
          <p:cNvSpPr>
            <a:spLocks noGrp="1"/>
          </p:cNvSpPr>
          <p:nvPr>
            <p:ph type="sldNum" sz="quarter" idx="12"/>
          </p:nvPr>
        </p:nvSpPr>
        <p:spPr/>
        <p:txBody>
          <a:body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262228617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pPr rtl="0"/>
            <a:endParaRPr lang="it-IT" dirty="0"/>
          </a:p>
        </p:txBody>
      </p:sp>
      <p:sp>
        <p:nvSpPr>
          <p:cNvPr id="5" name="Footer Placeholder 4"/>
          <p:cNvSpPr>
            <a:spLocks noGrp="1"/>
          </p:cNvSpPr>
          <p:nvPr>
            <p:ph type="ftr" sz="quarter" idx="11"/>
          </p:nvPr>
        </p:nvSpPr>
        <p:spPr/>
        <p:txBody>
          <a:bodyPr/>
          <a:lstStyle/>
          <a:p>
            <a:pPr rtl="0"/>
            <a:r>
              <a:rPr lang="it-IT"/>
              <a:t>Titolo presentazione</a:t>
            </a:r>
          </a:p>
        </p:txBody>
      </p:sp>
      <p:sp>
        <p:nvSpPr>
          <p:cNvPr id="6" name="Slide Number Placeholder 5"/>
          <p:cNvSpPr>
            <a:spLocks noGrp="1"/>
          </p:cNvSpPr>
          <p:nvPr>
            <p:ph type="sldNum" sz="quarter" idx="12"/>
          </p:nvPr>
        </p:nvSpPr>
        <p:spPr/>
        <p:txBody>
          <a:bodyPr/>
          <a:lstStyle/>
          <a:p>
            <a:pPr rtl="0"/>
            <a:fld id="{FE024F78-56A6-7740-B68D-8D4D026EDF3F}" type="slidenum">
              <a:rPr lang="it-IT" smtClean="0"/>
              <a:pPr/>
              <a:t>‹N›</a:t>
            </a:fld>
            <a:endParaRPr lang="it-IT"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783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olo e 2 colonne">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ttangolo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pic>
          <p:nvPicPr>
            <p:cNvPr id="3" name="Immagin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uppo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Elemento grafico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it-IT"/>
                </a:defPPr>
              </a:lstStyle>
              <a:p>
                <a:pPr rtl="0"/>
                <a:endParaRPr lang="it-IT" dirty="0"/>
              </a:p>
            </p:txBody>
          </p:sp>
          <p:sp>
            <p:nvSpPr>
              <p:cNvPr id="13" name="Elemento grafico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grpSp>
        <p:grpSp>
          <p:nvGrpSpPr>
            <p:cNvPr id="14" name="Gruppo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Elemento grafico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it-IT"/>
                </a:defPPr>
              </a:lstStyle>
              <a:p>
                <a:pPr rtl="0"/>
                <a:endParaRPr lang="it-IT" dirty="0"/>
              </a:p>
            </p:txBody>
          </p:sp>
          <p:sp>
            <p:nvSpPr>
              <p:cNvPr id="7" name="Elemento grafico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grpSp>
      </p:grpSp>
      <p:sp>
        <p:nvSpPr>
          <p:cNvPr id="2" name="Titolo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rtlCol="0" anchor="b"/>
          <a:lstStyle>
            <a:lvl1pPr algn="ctr">
              <a:defRPr lang="it-IT" sz="3200" cap="all" spc="600" baseline="0">
                <a:solidFill>
                  <a:schemeClr val="accent3">
                    <a:lumMod val="75000"/>
                  </a:schemeClr>
                </a:solidFill>
              </a:defRPr>
            </a:lvl1pPr>
          </a:lstStyle>
          <a:p>
            <a:pPr rtl="0"/>
            <a:r>
              <a:rPr lang="it-IT"/>
              <a:t>Fare clic per modificare lo stile del titolo</a:t>
            </a:r>
          </a:p>
        </p:txBody>
      </p:sp>
      <p:sp>
        <p:nvSpPr>
          <p:cNvPr id="5" name="Sottotitolo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rtlCol="0">
            <a:noAutofit/>
          </a:bodyPr>
          <a:lstStyle>
            <a:lvl1pPr marL="0" indent="0" algn="ctr">
              <a:buNone/>
              <a:defRPr lang="it-IT" sz="1800" b="0" i="0" cap="all" spc="300" baseline="0">
                <a:solidFill>
                  <a:schemeClr val="bg1"/>
                </a:solidFill>
                <a:latin typeface="+mj-lt"/>
                <a:cs typeface="Biome Light" panose="020B0303030204020804" pitchFamily="34" charset="0"/>
              </a:defRPr>
            </a:lvl1pPr>
            <a:lvl2pPr marL="457200" indent="0" algn="ctr">
              <a:buNone/>
              <a:defRPr lang="it-IT" sz="2000"/>
            </a:lvl2pPr>
            <a:lvl3pPr marL="914400" indent="0" algn="ctr">
              <a:buNone/>
              <a:defRPr lang="it-IT" sz="1800"/>
            </a:lvl3pPr>
            <a:lvl4pPr marL="1371600" indent="0" algn="ctr">
              <a:buNone/>
              <a:defRPr lang="it-IT" sz="1600"/>
            </a:lvl4pPr>
            <a:lvl5pPr marL="1828800" indent="0" algn="ctr">
              <a:buNone/>
              <a:defRPr lang="it-IT" sz="1600"/>
            </a:lvl5pPr>
            <a:lvl6pPr marL="2286000" indent="0" algn="ctr">
              <a:buNone/>
              <a:defRPr lang="it-IT" sz="1600"/>
            </a:lvl6pPr>
            <a:lvl7pPr marL="2743200" indent="0" algn="ctr">
              <a:buNone/>
              <a:defRPr lang="it-IT" sz="1600"/>
            </a:lvl7pPr>
            <a:lvl8pPr marL="3200400" indent="0" algn="ctr">
              <a:buNone/>
              <a:defRPr lang="it-IT" sz="1600"/>
            </a:lvl8pPr>
            <a:lvl9pPr marL="3657600" indent="0" algn="ctr">
              <a:buNone/>
              <a:defRPr lang="it-IT" sz="1600"/>
            </a:lvl9pPr>
          </a:lstStyle>
          <a:p>
            <a:pPr rtl="0"/>
            <a:r>
              <a:rPr lang="it-IT"/>
              <a:t>Fare clic per inserire il sottotitolo</a:t>
            </a:r>
          </a:p>
        </p:txBody>
      </p:sp>
    </p:spTree>
    <p:extLst>
      <p:ext uri="{BB962C8B-B14F-4D97-AF65-F5344CB8AC3E}">
        <p14:creationId xmlns:p14="http://schemas.microsoft.com/office/powerpoint/2010/main" val="3540379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olo titolo">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olo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rtlCol="0" anchor="ctr" anchorCtr="0">
            <a:noAutofit/>
          </a:bodyPr>
          <a:lstStyle>
            <a:lvl1pPr algn="ctr">
              <a:defRPr lang="it-IT" sz="6000" kern="1200" cap="all" spc="300" baseline="0">
                <a:solidFill>
                  <a:schemeClr val="accent3">
                    <a:lumMod val="75000"/>
                  </a:schemeClr>
                </a:solidFill>
              </a:defRPr>
            </a:lvl1pPr>
          </a:lstStyle>
          <a:p>
            <a:pPr rtl="0"/>
            <a:r>
              <a:rPr lang="it-IT"/>
              <a:t>Fare clic per inserire il titolo</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olo e contenuto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uppo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ttangolo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it-IT"/>
              </a:defPPr>
            </a:lstStyle>
            <a:p>
              <a:pPr algn="ctr" rtl="0"/>
              <a:endParaRPr lang="it-IT" dirty="0"/>
            </a:p>
          </p:txBody>
        </p:sp>
        <p:pic>
          <p:nvPicPr>
            <p:cNvPr id="6" name="Segnaposto contenuto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uppo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e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it-IT"/>
                </a:defPPr>
              </a:lstStyle>
              <a:p>
                <a:pPr algn="ctr" rtl="0"/>
                <a:endParaRPr lang="it-IT" dirty="0"/>
              </a:p>
            </p:txBody>
          </p:sp>
          <p:sp>
            <p:nvSpPr>
              <p:cNvPr id="9" name="Elemento grafico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grpSp>
      </p:grpSp>
      <p:sp>
        <p:nvSpPr>
          <p:cNvPr id="2" name="Titolo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rtlCol="0" anchor="b"/>
          <a:lstStyle>
            <a:lvl1pPr>
              <a:defRPr lang="it-IT" sz="3200" cap="all" baseline="0">
                <a:solidFill>
                  <a:schemeClr val="accent3">
                    <a:lumMod val="75000"/>
                  </a:schemeClr>
                </a:solidFill>
              </a:defRPr>
            </a:lvl1pPr>
          </a:lstStyle>
          <a:p>
            <a:pPr rtl="0"/>
            <a:r>
              <a:rPr lang="it-IT"/>
              <a:t>Fare clic per modificare lo stile del titolo</a:t>
            </a:r>
          </a:p>
        </p:txBody>
      </p:sp>
      <p:cxnSp>
        <p:nvCxnSpPr>
          <p:cNvPr id="5" name="Connettore diritto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Segnaposto contenuto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rtlCol="0"/>
          <a:lstStyle>
            <a:lvl1pPr>
              <a:lnSpc>
                <a:spcPct val="120000"/>
              </a:lnSpc>
              <a:spcBef>
                <a:spcPts val="1000"/>
              </a:spcBef>
              <a:spcAft>
                <a:spcPts val="600"/>
              </a:spcAft>
              <a:defRPr lang="it-IT" sz="1800">
                <a:solidFill>
                  <a:schemeClr val="bg1"/>
                </a:solidFill>
                <a:latin typeface="+mn-lt"/>
              </a:defRPr>
            </a:lvl1pPr>
            <a:lvl2pPr>
              <a:lnSpc>
                <a:spcPct val="120000"/>
              </a:lnSpc>
              <a:spcBef>
                <a:spcPts val="1000"/>
              </a:spcBef>
              <a:spcAft>
                <a:spcPts val="600"/>
              </a:spcAft>
              <a:defRPr lang="it-IT" sz="1600">
                <a:solidFill>
                  <a:schemeClr val="bg1"/>
                </a:solidFill>
                <a:latin typeface="+mn-lt"/>
              </a:defRPr>
            </a:lvl2pPr>
            <a:lvl3pPr>
              <a:lnSpc>
                <a:spcPct val="120000"/>
              </a:lnSpc>
              <a:spcBef>
                <a:spcPts val="1000"/>
              </a:spcBef>
              <a:spcAft>
                <a:spcPts val="600"/>
              </a:spcAft>
              <a:defRPr lang="it-IT" sz="1400">
                <a:solidFill>
                  <a:schemeClr val="bg1"/>
                </a:solidFill>
                <a:latin typeface="+mn-lt"/>
              </a:defRPr>
            </a:lvl3pPr>
            <a:lvl4pPr>
              <a:lnSpc>
                <a:spcPct val="120000"/>
              </a:lnSpc>
              <a:spcBef>
                <a:spcPts val="1000"/>
              </a:spcBef>
              <a:spcAft>
                <a:spcPts val="600"/>
              </a:spcAft>
              <a:defRPr lang="it-IT" sz="1200">
                <a:solidFill>
                  <a:schemeClr val="bg1"/>
                </a:solidFill>
                <a:latin typeface="+mn-lt"/>
              </a:defRPr>
            </a:lvl4pPr>
            <a:lvl5pPr>
              <a:lnSpc>
                <a:spcPct val="120000"/>
              </a:lnSpc>
              <a:spcBef>
                <a:spcPts val="1000"/>
              </a:spcBef>
              <a:spcAft>
                <a:spcPts val="600"/>
              </a:spcAft>
              <a:defRPr lang="it-IT" sz="1200">
                <a:solidFill>
                  <a:schemeClr val="bg1"/>
                </a:solidFill>
                <a:latin typeface="+mn-lt"/>
              </a:defRPr>
            </a:lvl5pPr>
          </a:lstStyle>
          <a:p>
            <a:pPr lvl="0" rtl="0"/>
            <a:r>
              <a:rPr lang="it-IT"/>
              <a:t>Fai clic per aggiungere contenuti</a:t>
            </a:r>
          </a:p>
          <a:p>
            <a:pPr lvl="1" rtl="0"/>
            <a:r>
              <a:rPr lang="it-IT"/>
              <a:t>Secondo livello</a:t>
            </a:r>
          </a:p>
          <a:p>
            <a:pPr lvl="2" rtl="0"/>
            <a:r>
              <a:rPr lang="it-IT"/>
              <a:t>Terzo livello</a:t>
            </a:r>
          </a:p>
          <a:p>
            <a:pPr lvl="3" rtl="0"/>
            <a:r>
              <a:rPr lang="it-IT"/>
              <a:t>Quarto livello</a:t>
            </a:r>
          </a:p>
          <a:p>
            <a:pPr lvl="4" rtl="0"/>
            <a:r>
              <a:rPr lang="it-IT"/>
              <a:t>Quinto livello</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olo e 2 colonne">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Segnaposto contenuto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ttangolo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it-IT"/>
            </a:defPPr>
          </a:lstStyle>
          <a:p>
            <a:pPr algn="ctr" rtl="0"/>
            <a:endParaRPr lang="it-IT" dirty="0"/>
          </a:p>
        </p:txBody>
      </p:sp>
      <p:cxnSp>
        <p:nvCxnSpPr>
          <p:cNvPr id="6" name="Connettore diritto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rtlCol="0" anchor="b">
            <a:noAutofit/>
          </a:bodyPr>
          <a:lstStyle>
            <a:lvl1pPr algn="l">
              <a:defRPr lang="it-IT" sz="3200" cap="all" spc="0" baseline="0">
                <a:solidFill>
                  <a:schemeClr val="accent3">
                    <a:lumMod val="75000"/>
                  </a:schemeClr>
                </a:solidFill>
              </a:defRPr>
            </a:lvl1pPr>
          </a:lstStyle>
          <a:p>
            <a:pPr rtl="0"/>
            <a:r>
              <a:rPr lang="it-IT"/>
              <a:t>Fare clic per inserire il titolo</a:t>
            </a:r>
          </a:p>
        </p:txBody>
      </p:sp>
      <p:sp>
        <p:nvSpPr>
          <p:cNvPr id="13" name="Segnaposto contenuto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rtlCol="0"/>
          <a:lstStyle>
            <a:lvl1pPr marL="285750" indent="-285750">
              <a:lnSpc>
                <a:spcPct val="120000"/>
              </a:lnSpc>
              <a:spcBef>
                <a:spcPts val="1000"/>
              </a:spcBef>
              <a:spcAft>
                <a:spcPts val="600"/>
              </a:spcAft>
              <a:buClr>
                <a:schemeClr val="accent3"/>
              </a:buClr>
              <a:buFont typeface="Arial" panose="020B0604020202020204" pitchFamily="34" charset="0"/>
              <a:buChar char="•"/>
              <a:defRPr lang="it-IT"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lang="it-IT"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lang="it-IT"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lang="it-IT"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lang="it-IT" sz="1200">
                <a:solidFill>
                  <a:schemeClr val="bg1"/>
                </a:solidFill>
                <a:latin typeface="+mn-lt"/>
              </a:defRPr>
            </a:lvl5pPr>
          </a:lstStyle>
          <a:p>
            <a:pPr lvl="0" rtl="0"/>
            <a:r>
              <a:rPr lang="it-IT"/>
              <a:t>Fai clic per aggiungere contenuti</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5" name="Segnaposto piè di pagina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rtlCol="0">
            <a:noAutofit/>
          </a:bodyPr>
          <a:lstStyle>
            <a:lvl1pPr algn="l">
              <a:defRPr lang="it-IT" sz="1200" spc="0">
                <a:solidFill>
                  <a:schemeClr val="bg1"/>
                </a:solidFill>
              </a:defRPr>
            </a:lvl1pPr>
          </a:lstStyle>
          <a:p>
            <a:pPr rtl="0"/>
            <a:r>
              <a:rPr lang="it-IT" dirty="0"/>
              <a:t>Titolo presentazione</a:t>
            </a:r>
          </a:p>
        </p:txBody>
      </p:sp>
      <p:sp>
        <p:nvSpPr>
          <p:cNvPr id="16" name="Segnaposto numero diapositiva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rtlCol="0">
            <a:noAutofit/>
          </a:bodyPr>
          <a:lstStyle>
            <a:lvl1pPr>
              <a:defRPr lang="it-IT" sz="1200">
                <a:solidFill>
                  <a:schemeClr val="bg1"/>
                </a:solidFill>
              </a:defRPr>
            </a:lvl1p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olo e 2 colonne">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uppo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ttangolo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it-IT"/>
              </a:defPPr>
            </a:lstStyle>
            <a:p>
              <a:pPr algn="ctr" rtl="0"/>
              <a:endParaRPr lang="it-IT" dirty="0"/>
            </a:p>
          </p:txBody>
        </p:sp>
        <p:pic>
          <p:nvPicPr>
            <p:cNvPr id="6" name="Immagine 5" descr="Spirale blu e viola&#10;&#10;Descrizione generata automaticamente">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uppo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Elemento grafico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it-IT"/>
                </a:defPPr>
              </a:lstStyle>
              <a:p>
                <a:pPr rtl="0"/>
                <a:endParaRPr lang="it-IT" dirty="0"/>
              </a:p>
            </p:txBody>
          </p:sp>
          <p:sp>
            <p:nvSpPr>
              <p:cNvPr id="12" name="Elemento grafico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sp>
            <p:nvSpPr>
              <p:cNvPr id="13" name="Elemento grafico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grpSp>
        <p:grpSp>
          <p:nvGrpSpPr>
            <p:cNvPr id="8" name="Gruppo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Elemento grafico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it-IT"/>
                </a:defPPr>
              </a:lstStyle>
              <a:p>
                <a:pPr rtl="0"/>
                <a:endParaRPr lang="it-IT" dirty="0"/>
              </a:p>
            </p:txBody>
          </p:sp>
          <p:sp>
            <p:nvSpPr>
              <p:cNvPr id="10" name="Elemento grafico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grpSp>
      </p:grpSp>
      <p:cxnSp>
        <p:nvCxnSpPr>
          <p:cNvPr id="14" name="Connettore diritto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rtlCol="0" anchor="b">
            <a:noAutofit/>
          </a:bodyPr>
          <a:lstStyle>
            <a:lvl1pPr algn="l">
              <a:defRPr lang="it-IT" sz="3200" cap="all" spc="0" baseline="0">
                <a:solidFill>
                  <a:schemeClr val="accent3">
                    <a:lumMod val="75000"/>
                  </a:schemeClr>
                </a:solidFill>
              </a:defRPr>
            </a:lvl1pPr>
          </a:lstStyle>
          <a:p>
            <a:pPr rtl="0"/>
            <a:r>
              <a:rPr lang="it-IT"/>
              <a:t>Fare clic per inserire il titolo</a:t>
            </a:r>
          </a:p>
        </p:txBody>
      </p:sp>
      <p:sp>
        <p:nvSpPr>
          <p:cNvPr id="5" name="Segnaposto contenuto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rtlCol="0"/>
          <a:lstStyle>
            <a:lvl1pPr marL="0" indent="0">
              <a:lnSpc>
                <a:spcPct val="120000"/>
              </a:lnSpc>
              <a:spcBef>
                <a:spcPts val="1000"/>
              </a:spcBef>
              <a:buClr>
                <a:schemeClr val="accent6"/>
              </a:buClr>
              <a:buFont typeface="Arial" panose="020B0604020202020204" pitchFamily="34" charset="0"/>
              <a:buNone/>
              <a:defRPr lang="it-IT"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defRPr>
            </a:lvl4pPr>
          </a:lstStyle>
          <a:p>
            <a:pPr lvl="0" rtl="0"/>
            <a:r>
              <a:rPr lang="it-IT"/>
              <a:t>Fare clic per aggiungere contenuti</a:t>
            </a:r>
          </a:p>
          <a:p>
            <a:pPr lvl="1" rtl="0"/>
            <a:r>
              <a:rPr lang="it-IT"/>
              <a:t>Secondo livello</a:t>
            </a:r>
          </a:p>
          <a:p>
            <a:pPr lvl="2" rtl="0"/>
            <a:r>
              <a:rPr lang="it-IT"/>
              <a:t>Terzo livello</a:t>
            </a:r>
          </a:p>
          <a:p>
            <a:pPr lvl="3" rtl="0"/>
            <a:r>
              <a:rPr lang="it-IT"/>
              <a:t>Quarto livello</a:t>
            </a:r>
          </a:p>
        </p:txBody>
      </p:sp>
      <p:sp>
        <p:nvSpPr>
          <p:cNvPr id="21" name="Segnaposto contenuto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rtlCol="0"/>
          <a:lstStyle>
            <a:lvl1pPr marL="0" indent="0">
              <a:lnSpc>
                <a:spcPct val="120000"/>
              </a:lnSpc>
              <a:spcBef>
                <a:spcPts val="1000"/>
              </a:spcBef>
              <a:buClr>
                <a:schemeClr val="accent6"/>
              </a:buClr>
              <a:buFont typeface="Arial" panose="020B0604020202020204" pitchFamily="34" charset="0"/>
              <a:buNone/>
              <a:defRPr lang="it-IT"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defRPr>
            </a:lvl4pPr>
          </a:lstStyle>
          <a:p>
            <a:pPr lvl="0" rtl="0"/>
            <a:r>
              <a:rPr lang="it-IT"/>
              <a:t>Fare clic per aggiungere contenuti</a:t>
            </a:r>
          </a:p>
          <a:p>
            <a:pPr lvl="1" rtl="0"/>
            <a:r>
              <a:rPr lang="it-IT"/>
              <a:t>Secondo livello</a:t>
            </a:r>
          </a:p>
          <a:p>
            <a:pPr lvl="2" rtl="0"/>
            <a:r>
              <a:rPr lang="it-IT"/>
              <a:t>Terzo livello</a:t>
            </a:r>
          </a:p>
          <a:p>
            <a:pPr lvl="3" rtl="0"/>
            <a:r>
              <a:rPr lang="it-IT"/>
              <a:t>Quarto livello</a:t>
            </a:r>
          </a:p>
        </p:txBody>
      </p:sp>
      <p:sp>
        <p:nvSpPr>
          <p:cNvPr id="15" name="Segnaposto piè di pagina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rtlCol="0">
            <a:noAutofit/>
          </a:bodyPr>
          <a:lstStyle>
            <a:lvl1pPr algn="l">
              <a:defRPr lang="it-IT" sz="1200" spc="0">
                <a:solidFill>
                  <a:schemeClr val="bg1"/>
                </a:solidFill>
              </a:defRPr>
            </a:lvl1pPr>
          </a:lstStyle>
          <a:p>
            <a:pPr rtl="0"/>
            <a:r>
              <a:rPr lang="it-IT" dirty="0"/>
              <a:t>Titolo presentazione</a:t>
            </a:r>
          </a:p>
        </p:txBody>
      </p:sp>
      <p:sp>
        <p:nvSpPr>
          <p:cNvPr id="16" name="Segnaposto numero diapositiva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rtlCol="0">
            <a:noAutofit/>
          </a:bodyPr>
          <a:lstStyle>
            <a:lvl1pPr>
              <a:defRPr lang="it-IT" sz="1200">
                <a:solidFill>
                  <a:schemeClr val="bg1"/>
                </a:solidFill>
              </a:defRPr>
            </a:lvl1p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olo e 2 colonne">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it-IT"/>
            </a:defPPr>
          </a:lstStyle>
          <a:p>
            <a:pPr algn="ctr" rtl="0"/>
            <a:endParaRPr lang="it-IT" dirty="0"/>
          </a:p>
        </p:txBody>
      </p:sp>
      <p:cxnSp>
        <p:nvCxnSpPr>
          <p:cNvPr id="4" name="Connettore diritto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uppo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Elemento grafico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defPPr>
                <a:defRPr lang="it-IT"/>
              </a:defPPr>
            </a:lstStyle>
            <a:p>
              <a:pPr rtl="0"/>
              <a:endParaRPr lang="it-IT" dirty="0"/>
            </a:p>
          </p:txBody>
        </p:sp>
        <p:sp>
          <p:nvSpPr>
            <p:cNvPr id="11" name="Elemento grafico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sp>
          <p:nvSpPr>
            <p:cNvPr id="12" name="Elemento grafico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defPPr>
                <a:defRPr lang="it-IT"/>
              </a:defPPr>
            </a:lstStyle>
            <a:p>
              <a:pPr rtl="0"/>
              <a:endParaRPr lang="it-IT" dirty="0"/>
            </a:p>
          </p:txBody>
        </p:sp>
      </p:grpSp>
      <p:sp>
        <p:nvSpPr>
          <p:cNvPr id="2" name="Titolo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rtlCol="0" anchor="b">
            <a:noAutofit/>
          </a:bodyPr>
          <a:lstStyle>
            <a:lvl1pPr algn="l">
              <a:defRPr lang="it-IT" sz="3200" cap="all" spc="0" baseline="0">
                <a:solidFill>
                  <a:schemeClr val="accent3">
                    <a:lumMod val="75000"/>
                  </a:schemeClr>
                </a:solidFill>
              </a:defRPr>
            </a:lvl1pPr>
          </a:lstStyle>
          <a:p>
            <a:pPr rtl="0"/>
            <a:r>
              <a:rPr lang="it-IT"/>
              <a:t>Fare clic per inserire il titolo</a:t>
            </a:r>
          </a:p>
        </p:txBody>
      </p:sp>
      <p:sp>
        <p:nvSpPr>
          <p:cNvPr id="5" name="Segnaposto contenuto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rtlCol="0"/>
          <a:lstStyle>
            <a:lvl1pPr marL="342900" indent="-342900">
              <a:lnSpc>
                <a:spcPct val="120000"/>
              </a:lnSpc>
              <a:spcBef>
                <a:spcPts val="1000"/>
              </a:spcBef>
              <a:buClr>
                <a:schemeClr val="accent3">
                  <a:lumMod val="75000"/>
                </a:schemeClr>
              </a:buClr>
              <a:buFont typeface="+mj-lt"/>
              <a:buAutoNum type="arabicPeriod"/>
              <a:defRPr lang="it-IT"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lang="it-IT"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lang="it-IT"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lang="it-IT" sz="1800" spc="0">
                <a:solidFill>
                  <a:schemeClr val="bg1"/>
                </a:solidFill>
                <a:latin typeface="+mn-lt"/>
              </a:defRPr>
            </a:lvl4pPr>
          </a:lstStyle>
          <a:p>
            <a:pPr lvl="0" rtl="0"/>
            <a:r>
              <a:rPr lang="it-IT"/>
              <a:t>Fare clic per aggiungere contenuti</a:t>
            </a:r>
          </a:p>
          <a:p>
            <a:pPr lvl="1" rtl="0"/>
            <a:r>
              <a:rPr lang="it-IT"/>
              <a:t>Secondo livello</a:t>
            </a:r>
          </a:p>
          <a:p>
            <a:pPr lvl="2" rtl="0"/>
            <a:r>
              <a:rPr lang="it-IT"/>
              <a:t>Terzo livello</a:t>
            </a:r>
          </a:p>
          <a:p>
            <a:pPr lvl="3" rtl="0"/>
            <a:r>
              <a:rPr lang="it-IT"/>
              <a:t>Quarto livello</a:t>
            </a:r>
          </a:p>
        </p:txBody>
      </p:sp>
      <p:sp>
        <p:nvSpPr>
          <p:cNvPr id="19" name="Segnaposto contenuto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rtlCol="0"/>
          <a:lstStyle>
            <a:lvl1pPr marL="0" indent="0">
              <a:lnSpc>
                <a:spcPct val="120000"/>
              </a:lnSpc>
              <a:spcBef>
                <a:spcPts val="1000"/>
              </a:spcBef>
              <a:buClr>
                <a:schemeClr val="accent6"/>
              </a:buClr>
              <a:buFont typeface="Arial" panose="020B0604020202020204" pitchFamily="34" charset="0"/>
              <a:buNone/>
              <a:defRPr lang="it-IT"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lang="it-IT" sz="1800" spc="0">
                <a:solidFill>
                  <a:schemeClr val="bg1"/>
                </a:solidFill>
                <a:latin typeface="+mn-lt"/>
              </a:defRPr>
            </a:lvl4pPr>
          </a:lstStyle>
          <a:p>
            <a:pPr lvl="0" rtl="0"/>
            <a:r>
              <a:rPr lang="it-IT"/>
              <a:t>Fare clic per aggiungere contenuti</a:t>
            </a:r>
          </a:p>
          <a:p>
            <a:pPr lvl="1" rtl="0"/>
            <a:r>
              <a:rPr lang="it-IT"/>
              <a:t>Secondo livello</a:t>
            </a:r>
          </a:p>
          <a:p>
            <a:pPr lvl="2" rtl="0"/>
            <a:r>
              <a:rPr lang="it-IT"/>
              <a:t>Terzo livello</a:t>
            </a:r>
          </a:p>
          <a:p>
            <a:pPr lvl="3" rtl="0"/>
            <a:r>
              <a:rPr lang="it-IT"/>
              <a:t>Quarto livello</a:t>
            </a:r>
          </a:p>
        </p:txBody>
      </p:sp>
      <p:sp>
        <p:nvSpPr>
          <p:cNvPr id="15" name="Segnaposto piè di pagina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rtlCol="0">
            <a:noAutofit/>
          </a:bodyPr>
          <a:lstStyle>
            <a:lvl1pPr algn="l">
              <a:defRPr lang="it-IT" sz="1200" spc="0">
                <a:solidFill>
                  <a:schemeClr val="bg1"/>
                </a:solidFill>
              </a:defRPr>
            </a:lvl1pPr>
          </a:lstStyle>
          <a:p>
            <a:pPr rtl="0"/>
            <a:r>
              <a:rPr lang="it-IT" dirty="0"/>
              <a:t>Titolo presentazione</a:t>
            </a:r>
          </a:p>
        </p:txBody>
      </p:sp>
      <p:sp>
        <p:nvSpPr>
          <p:cNvPr id="16" name="Segnaposto numero diapositiva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rtlCol="0">
            <a:noAutofit/>
          </a:bodyPr>
          <a:lstStyle>
            <a:lvl1pPr>
              <a:defRPr lang="it-IT" sz="1200">
                <a:solidFill>
                  <a:schemeClr val="bg1"/>
                </a:solidFill>
              </a:defRPr>
            </a:lvl1pPr>
          </a:lstStyle>
          <a:p>
            <a:pPr rtl="0"/>
            <a:fld id="{FE024F78-56A6-7740-B68D-8D4D026EDF3F}" type="slidenum">
              <a:rPr lang="it-IT" smtClean="0"/>
              <a:pPr/>
              <a:t>‹N›</a:t>
            </a:fld>
            <a:endParaRPr lang="it-IT"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olo e 2 colonne">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it-IT"/>
            </a:defPPr>
          </a:lstStyle>
          <a:p>
            <a:pPr marL="0" marR="0" lvl="0" indent="0" algn="ctr" defTabSz="914400" rtl="0" eaLnBrk="1" fontAlgn="auto" latinLnBrk="0" hangingPunct="1">
              <a:lnSpc>
                <a:spcPct val="100000"/>
              </a:lnSpc>
              <a:spcBef>
                <a:spcPts val="0"/>
              </a:spcBef>
              <a:spcAft>
                <a:spcPts val="0"/>
              </a:spcAft>
              <a:buClrTx/>
              <a:buSzTx/>
              <a:buFontTx/>
              <a:buNone/>
              <a:tabLst/>
              <a:defRPr lang="it-IT"/>
            </a:pPr>
            <a:endParaRPr kumimoji="0" lang="it-IT"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olo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rtlCol="0" anchor="b">
            <a:noAutofit/>
          </a:bodyPr>
          <a:lstStyle>
            <a:lvl1pPr algn="l">
              <a:defRPr lang="it-IT" sz="3200" cap="all" spc="0" baseline="0">
                <a:solidFill>
                  <a:schemeClr val="accent3">
                    <a:lumMod val="75000"/>
                  </a:schemeClr>
                </a:solidFill>
              </a:defRPr>
            </a:lvl1pPr>
          </a:lstStyle>
          <a:p>
            <a:pPr rtl="0"/>
            <a:r>
              <a:rPr lang="it-IT"/>
              <a:t>Fare clic per inserire il titolo</a:t>
            </a:r>
          </a:p>
        </p:txBody>
      </p:sp>
      <p:sp>
        <p:nvSpPr>
          <p:cNvPr id="10" name="Segnaposto immagine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rtlCol="0"/>
          <a:lstStyle>
            <a:lvl1pPr algn="ctr">
              <a:defRPr lang="it-IT" sz="2000"/>
            </a:lvl1pPr>
          </a:lstStyle>
          <a:p>
            <a:pPr rtl="0"/>
            <a:r>
              <a:rPr lang="it-IT"/>
              <a:t>Fare clic sull'icona per inserire un'immagine</a:t>
            </a:r>
          </a:p>
        </p:txBody>
      </p:sp>
      <p:sp>
        <p:nvSpPr>
          <p:cNvPr id="19" name="Segnaposto contenuto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rtlCol="0"/>
          <a:lstStyle>
            <a:lvl1pPr marL="0" indent="0">
              <a:lnSpc>
                <a:spcPct val="120000"/>
              </a:lnSpc>
              <a:spcBef>
                <a:spcPts val="1000"/>
              </a:spcBef>
              <a:spcAft>
                <a:spcPts val="600"/>
              </a:spcAft>
              <a:buClr>
                <a:schemeClr val="accent6"/>
              </a:buClr>
              <a:buFont typeface="Arial" panose="020B0604020202020204" pitchFamily="34" charset="0"/>
              <a:buNone/>
              <a:defRPr lang="it-IT"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lang="it-IT" sz="1800" spc="0"/>
            </a:lvl2pPr>
            <a:lvl3pPr marL="861822" indent="-285750">
              <a:lnSpc>
                <a:spcPct val="120000"/>
              </a:lnSpc>
              <a:spcBef>
                <a:spcPts val="1000"/>
              </a:spcBef>
              <a:spcAft>
                <a:spcPts val="600"/>
              </a:spcAft>
              <a:buClr>
                <a:schemeClr val="accent3"/>
              </a:buClr>
              <a:buFont typeface="Arial" panose="020B0604020202020204" pitchFamily="34" charset="0"/>
              <a:buChar char="•"/>
              <a:defRPr lang="it-IT"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lang="it-IT" sz="1800" spc="0"/>
            </a:lvl4pPr>
          </a:lstStyle>
          <a:p>
            <a:pPr lvl="0" rtl="0"/>
            <a:r>
              <a:rPr lang="it-IT"/>
              <a:t>Fare clic per aggiungere contenuti</a:t>
            </a:r>
          </a:p>
          <a:p>
            <a:pPr lvl="1" rtl="0"/>
            <a:r>
              <a:rPr lang="it-IT"/>
              <a:t>Secondo livello</a:t>
            </a:r>
          </a:p>
          <a:p>
            <a:pPr lvl="2" rtl="0"/>
            <a:r>
              <a:rPr lang="it-IT"/>
              <a:t>Terzo livello</a:t>
            </a:r>
          </a:p>
          <a:p>
            <a:pPr lvl="3" rtl="0"/>
            <a:r>
              <a:rPr lang="it-IT"/>
              <a:t>Quarto livello</a:t>
            </a:r>
          </a:p>
        </p:txBody>
      </p:sp>
      <p:sp>
        <p:nvSpPr>
          <p:cNvPr id="16" name="Segnaposto numero diapositiva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rtlCol="0">
            <a:noAutofit/>
          </a:bodyPr>
          <a:lstStyle>
            <a:lvl1pPr>
              <a:defRPr lang="it-IT" sz="1200">
                <a:solidFill>
                  <a:schemeClr val="bg1"/>
                </a:solidFill>
              </a:defRPr>
            </a:lvl1pPr>
          </a:lstStyle>
          <a:p>
            <a:pPr rtl="0"/>
            <a:fld id="{FE024F78-56A6-7740-B68D-8D4D026EDF3F}" type="slidenum">
              <a:rPr lang="it-IT" smtClean="0"/>
              <a:pPr/>
              <a:t>‹N›</a:t>
            </a:fld>
            <a:endParaRPr lang="it-IT" dirty="0"/>
          </a:p>
        </p:txBody>
      </p:sp>
      <p:cxnSp>
        <p:nvCxnSpPr>
          <p:cNvPr id="4" name="Connettore diritto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endParaRPr lang="it-IT"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r>
              <a:rPr lang="it-IT"/>
              <a:t>Titolo presentazione</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FE024F78-56A6-7740-B68D-8D4D026EDF3F}" type="slidenum">
              <a:rPr lang="it-IT" smtClean="0"/>
              <a:pPr/>
              <a:t>‹N›</a:t>
            </a:fld>
            <a:endParaRPr lang="it-IT"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60095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3" r:id="rId12"/>
    <p:sldLayoutId id="2147483679" r:id="rId13"/>
    <p:sldLayoutId id="2147483669" r:id="rId14"/>
    <p:sldLayoutId id="2147483674" r:id="rId15"/>
    <p:sldLayoutId id="2147483675" r:id="rId16"/>
    <p:sldLayoutId id="2147483676" r:id="rId17"/>
    <p:sldLayoutId id="2147483670" r:id="rId18"/>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1.wdp"/><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11.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11.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1.wdp"/><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7.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43.png"/><Relationship Id="rId3" Type="http://schemas.openxmlformats.org/officeDocument/2006/relationships/image" Target="../media/image12.png"/><Relationship Id="rId7" Type="http://schemas.openxmlformats.org/officeDocument/2006/relationships/diagramLayout" Target="../diagrams/layout1.xml"/><Relationship Id="rId12"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Data" Target="../diagrams/data1.xml"/><Relationship Id="rId11" Type="http://schemas.openxmlformats.org/officeDocument/2006/relationships/image" Target="../media/image41.png"/><Relationship Id="rId5" Type="http://schemas.openxmlformats.org/officeDocument/2006/relationships/image" Target="../media/image7.png"/><Relationship Id="rId10" Type="http://schemas.microsoft.com/office/2007/relationships/diagramDrawing" Target="../diagrams/drawing1.xml"/><Relationship Id="rId4" Type="http://schemas.openxmlformats.org/officeDocument/2006/relationships/image" Target="../media/image34.png"/><Relationship Id="rId9" Type="http://schemas.openxmlformats.org/officeDocument/2006/relationships/diagramColors" Target="../diagrams/colors1.xml"/><Relationship Id="rId14" Type="http://schemas.openxmlformats.org/officeDocument/2006/relationships/image" Target="../media/image44.png"/></Relationships>
</file>

<file path=ppt/slides/_rels/slide21.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11.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61.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png"/><Relationship Id="rId7" Type="http://schemas.openxmlformats.org/officeDocument/2006/relationships/image" Target="../media/image79.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3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E0B15A-0071-3B4B-337F-6D2CF0013B6C}"/>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46A50322-AC02-5F98-3885-7CACDD3564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FBEF5A62-41A1-3CB8-20CB-27E7B66F8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7506F17B-34EF-AAAB-8CC6-4DD7DE57BD2E}"/>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SLOWLORIS</a:t>
            </a:r>
          </a:p>
        </p:txBody>
      </p:sp>
      <p:cxnSp>
        <p:nvCxnSpPr>
          <p:cNvPr id="32" name="Straight Connector 25">
            <a:extLst>
              <a:ext uri="{FF2B5EF4-FFF2-40B4-BE49-F238E27FC236}">
                <a16:creationId xmlns:a16="http://schemas.microsoft.com/office/drawing/2014/main" id="{91DC2EB1-7259-5775-9471-E6B0CF3FD0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1897722B-3713-1625-6FEC-B405A7ABCB2A}"/>
              </a:ext>
            </a:extLst>
          </p:cNvPr>
          <p:cNvSpPr txBox="1"/>
          <p:nvPr/>
        </p:nvSpPr>
        <p:spPr>
          <a:xfrm>
            <a:off x="1024129" y="2286000"/>
            <a:ext cx="4389120" cy="3931920"/>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DIANA DANIELE</a:t>
            </a:r>
          </a:p>
          <a:p>
            <a:pPr marL="342900" indent="-342900" defTabSz="914400">
              <a:lnSpc>
                <a:spcPct val="90000"/>
              </a:lnSpc>
              <a:spcAft>
                <a:spcPts val="600"/>
              </a:spcAft>
              <a:buClr>
                <a:schemeClr val="accent1"/>
              </a:buClr>
              <a:buFont typeface="Arial" panose="020B0604020202020204" pitchFamily="34" charset="0"/>
              <a:buChar char="•"/>
            </a:pPr>
            <a:r>
              <a:rPr lang="it-IT" dirty="0"/>
              <a:t>A13002354</a:t>
            </a:r>
          </a:p>
        </p:txBody>
      </p:sp>
      <p:pic>
        <p:nvPicPr>
          <p:cNvPr id="2" name="Immagine 1" descr="Immagine che contiene testo, Carattere, Elementi grafici, schermata&#10;&#10;Descrizione generata automaticamente">
            <a:extLst>
              <a:ext uri="{FF2B5EF4-FFF2-40B4-BE49-F238E27FC236}">
                <a16:creationId xmlns:a16="http://schemas.microsoft.com/office/drawing/2014/main" id="{9DA75707-DB41-03B6-6EE3-79B9C084C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6116" y="2751206"/>
            <a:ext cx="4175762" cy="1358680"/>
          </a:xfrm>
          <a:prstGeom prst="rect">
            <a:avLst/>
          </a:prstGeom>
        </p:spPr>
      </p:pic>
    </p:spTree>
    <p:extLst>
      <p:ext uri="{BB962C8B-B14F-4D97-AF65-F5344CB8AC3E}">
        <p14:creationId xmlns:p14="http://schemas.microsoft.com/office/powerpoint/2010/main" val="2246934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A4766E-4526-4F20-4324-1E7C533DCDC6}"/>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CAFDC935-4A13-1472-524C-9F306705C2EE}"/>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a:solidFill>
                  <a:schemeClr val="tx1">
                    <a:lumMod val="95000"/>
                    <a:lumOff val="5000"/>
                  </a:schemeClr>
                </a:solidFill>
                <a:effectLst>
                  <a:outerShdw blurRad="38100" dist="38100" dir="2700000" algn="tl">
                    <a:srgbClr val="000000">
                      <a:alpha val="43137"/>
                    </a:srgbClr>
                  </a:outerShdw>
                </a:effectLst>
                <a:latin typeface="+mj-lt"/>
                <a:ea typeface="+mj-ea"/>
                <a:cs typeface="+mj-cs"/>
              </a:rPr>
              <a:t>01 - STUDIO</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312A2E45-3B9D-869F-9AC2-1989D6A9CA3A}"/>
              </a:ext>
            </a:extLst>
          </p:cNvPr>
          <p:cNvSpPr txBox="1"/>
          <p:nvPr/>
        </p:nvSpPr>
        <p:spPr>
          <a:xfrm>
            <a:off x="1024129" y="2286000"/>
            <a:ext cx="4389120" cy="3931920"/>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en-US" dirty="0" err="1"/>
              <a:t>L’attacco</a:t>
            </a:r>
            <a:r>
              <a:rPr lang="en-US" dirty="0"/>
              <a:t> </a:t>
            </a:r>
            <a:r>
              <a:rPr lang="en-US" dirty="0" err="1"/>
              <a:t>SlowLoris</a:t>
            </a:r>
            <a:r>
              <a:rPr lang="en-US" dirty="0"/>
              <a:t> fa </a:t>
            </a:r>
            <a:r>
              <a:rPr lang="en-US" dirty="0" err="1"/>
              <a:t>parte</a:t>
            </a:r>
            <a:r>
              <a:rPr lang="en-US" dirty="0"/>
              <a:t> della </a:t>
            </a:r>
            <a:r>
              <a:rPr lang="en-US" dirty="0" err="1"/>
              <a:t>famiglia</a:t>
            </a:r>
            <a:r>
              <a:rPr lang="en-US" dirty="0"/>
              <a:t> di </a:t>
            </a:r>
            <a:r>
              <a:rPr lang="en-US" dirty="0" err="1"/>
              <a:t>attacchi</a:t>
            </a:r>
            <a:r>
              <a:rPr lang="en-US" dirty="0"/>
              <a:t> DoS </a:t>
            </a:r>
            <a:br>
              <a:rPr lang="en-US" dirty="0"/>
            </a:br>
            <a:r>
              <a:rPr lang="en-US" dirty="0"/>
              <a:t>Low &amp; Slow in </a:t>
            </a:r>
            <a:r>
              <a:rPr lang="en-US" dirty="0" err="1"/>
              <a:t>quanto</a:t>
            </a:r>
            <a:r>
              <a:rPr lang="en-US" dirty="0"/>
              <a:t> </a:t>
            </a:r>
            <a:r>
              <a:rPr lang="en-US" dirty="0" err="1"/>
              <a:t>mira</a:t>
            </a:r>
            <a:r>
              <a:rPr lang="en-US" dirty="0"/>
              <a:t> a </a:t>
            </a:r>
            <a:r>
              <a:rPr lang="en-US" dirty="0" err="1"/>
              <a:t>rendere</a:t>
            </a:r>
            <a:r>
              <a:rPr lang="en-US" dirty="0"/>
              <a:t> </a:t>
            </a:r>
            <a:r>
              <a:rPr lang="en-US" dirty="0" err="1"/>
              <a:t>inutilizzabile</a:t>
            </a:r>
            <a:r>
              <a:rPr lang="en-US" dirty="0"/>
              <a:t> un server</a:t>
            </a:r>
            <a:br>
              <a:rPr lang="en-US" dirty="0"/>
            </a:br>
            <a:r>
              <a:rPr lang="en-US" dirty="0"/>
              <a:t>web ma senza </a:t>
            </a:r>
            <a:r>
              <a:rPr lang="en-US" dirty="0" err="1"/>
              <a:t>saturare</a:t>
            </a:r>
            <a:r>
              <a:rPr lang="en-US" dirty="0"/>
              <a:t> la rete o </a:t>
            </a:r>
            <a:r>
              <a:rPr lang="en-US" dirty="0" err="1"/>
              <a:t>richiedere</a:t>
            </a:r>
            <a:r>
              <a:rPr lang="en-US" dirty="0"/>
              <a:t> </a:t>
            </a:r>
            <a:r>
              <a:rPr lang="en-US" dirty="0" err="1"/>
              <a:t>una</a:t>
            </a:r>
            <a:r>
              <a:rPr lang="en-US" dirty="0"/>
              <a:t> grande </a:t>
            </a:r>
            <a:r>
              <a:rPr lang="en-US" dirty="0" err="1"/>
              <a:t>quantità</a:t>
            </a:r>
            <a:r>
              <a:rPr lang="en-US" dirty="0"/>
              <a:t> di </a:t>
            </a:r>
            <a:r>
              <a:rPr lang="en-US" dirty="0" err="1"/>
              <a:t>risorse</a:t>
            </a:r>
            <a:r>
              <a:rPr lang="en-US" dirty="0"/>
              <a:t> della </a:t>
            </a:r>
            <a:r>
              <a:rPr lang="en-US" dirty="0" err="1"/>
              <a:t>macchina</a:t>
            </a:r>
            <a:r>
              <a:rPr lang="en-US" dirty="0"/>
              <a:t> </a:t>
            </a:r>
            <a:r>
              <a:rPr lang="en-US" dirty="0" err="1"/>
              <a:t>utilizzata</a:t>
            </a:r>
            <a:r>
              <a:rPr lang="en-US" dirty="0"/>
              <a:t> per </a:t>
            </a:r>
            <a:r>
              <a:rPr lang="en-US" dirty="0" err="1"/>
              <a:t>inoltrare</a:t>
            </a:r>
            <a:r>
              <a:rPr lang="en-US" dirty="0"/>
              <a:t> </a:t>
            </a:r>
            <a:r>
              <a:rPr lang="en-US" dirty="0" err="1"/>
              <a:t>l’attacco</a:t>
            </a:r>
            <a:r>
              <a:rPr lang="en-US" dirty="0"/>
              <a:t>.</a:t>
            </a:r>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r>
              <a:rPr lang="en-US" dirty="0" err="1"/>
              <a:t>L’obiettivo</a:t>
            </a:r>
            <a:r>
              <a:rPr lang="en-US" dirty="0"/>
              <a:t> è </a:t>
            </a:r>
            <a:r>
              <a:rPr lang="en-US" dirty="0" err="1"/>
              <a:t>sovraccaricare</a:t>
            </a:r>
            <a:r>
              <a:rPr lang="en-US" dirty="0"/>
              <a:t> il </a:t>
            </a:r>
            <a:r>
              <a:rPr lang="en-US" dirty="0" err="1"/>
              <a:t>limite</a:t>
            </a:r>
            <a:r>
              <a:rPr lang="en-US" dirty="0"/>
              <a:t> </a:t>
            </a:r>
            <a:r>
              <a:rPr lang="en-US" dirty="0" err="1"/>
              <a:t>massimo</a:t>
            </a:r>
            <a:r>
              <a:rPr lang="en-US" dirty="0"/>
              <a:t> di </a:t>
            </a:r>
            <a:r>
              <a:rPr lang="en-US" dirty="0" err="1"/>
              <a:t>connessioni</a:t>
            </a:r>
            <a:r>
              <a:rPr lang="en-US" dirty="0"/>
              <a:t> </a:t>
            </a:r>
            <a:r>
              <a:rPr lang="en-US" dirty="0" err="1"/>
              <a:t>simultanee</a:t>
            </a:r>
            <a:r>
              <a:rPr lang="en-US" dirty="0"/>
              <a:t> </a:t>
            </a:r>
            <a:r>
              <a:rPr lang="en-US" dirty="0" err="1"/>
              <a:t>gestibili</a:t>
            </a:r>
            <a:r>
              <a:rPr lang="en-US" dirty="0"/>
              <a:t> dal server </a:t>
            </a:r>
            <a:r>
              <a:rPr lang="en-US" dirty="0" err="1"/>
              <a:t>causando</a:t>
            </a:r>
            <a:r>
              <a:rPr lang="en-US" dirty="0"/>
              <a:t> un </a:t>
            </a:r>
            <a:r>
              <a:rPr lang="en-US" dirty="0" err="1"/>
              <a:t>blocco</a:t>
            </a:r>
            <a:r>
              <a:rPr lang="en-US" dirty="0"/>
              <a:t>, o </a:t>
            </a:r>
            <a:r>
              <a:rPr lang="en-US" dirty="0" err="1"/>
              <a:t>una</a:t>
            </a:r>
            <a:r>
              <a:rPr lang="en-US" dirty="0"/>
              <a:t> </a:t>
            </a:r>
            <a:r>
              <a:rPr lang="en-US" dirty="0" err="1"/>
              <a:t>risposta</a:t>
            </a:r>
            <a:r>
              <a:rPr lang="en-US" dirty="0"/>
              <a:t> molto lenta, per </a:t>
            </a:r>
            <a:r>
              <a:rPr lang="en-US" dirty="0" err="1"/>
              <a:t>i</a:t>
            </a:r>
            <a:r>
              <a:rPr lang="en-US" dirty="0"/>
              <a:t> client </a:t>
            </a:r>
            <a:r>
              <a:rPr lang="en-US" dirty="0" err="1"/>
              <a:t>legittimi</a:t>
            </a:r>
            <a:r>
              <a:rPr lang="en-US" dirty="0"/>
              <a:t>. </a:t>
            </a:r>
          </a:p>
        </p:txBody>
      </p:sp>
      <p:grpSp>
        <p:nvGrpSpPr>
          <p:cNvPr id="2" name="Gruppo 1">
            <a:extLst>
              <a:ext uri="{FF2B5EF4-FFF2-40B4-BE49-F238E27FC236}">
                <a16:creationId xmlns:a16="http://schemas.microsoft.com/office/drawing/2014/main" id="{5EDF9D81-AAB8-DA7D-B123-84D0234CAA67}"/>
              </a:ext>
            </a:extLst>
          </p:cNvPr>
          <p:cNvGrpSpPr/>
          <p:nvPr/>
        </p:nvGrpSpPr>
        <p:grpSpPr>
          <a:xfrm>
            <a:off x="7056116" y="3059102"/>
            <a:ext cx="4175759" cy="742888"/>
            <a:chOff x="279703" y="2784384"/>
            <a:chExt cx="6490770" cy="1294423"/>
          </a:xfrm>
        </p:grpSpPr>
        <p:pic>
          <p:nvPicPr>
            <p:cNvPr id="13" name="Immagine 12" descr="Immagine che contiene nero, oscurità&#10;&#10;Descrizione generata automaticamente">
              <a:extLst>
                <a:ext uri="{FF2B5EF4-FFF2-40B4-BE49-F238E27FC236}">
                  <a16:creationId xmlns:a16="http://schemas.microsoft.com/office/drawing/2014/main" id="{B57F1260-E2C9-5617-D7A3-0FD3B2ED3B9E}"/>
                </a:ext>
              </a:extLst>
            </p:cNvPr>
            <p:cNvPicPr>
              <a:picLocks noChangeAspect="1"/>
            </p:cNvPicPr>
            <p:nvPr/>
          </p:nvPicPr>
          <p:blipFill>
            <a:blip r:embed="rId2">
              <a:alphaModFix/>
              <a:duotone>
                <a:schemeClr val="bg2">
                  <a:shade val="45000"/>
                  <a:satMod val="135000"/>
                </a:schemeClr>
                <a:prstClr val="white"/>
              </a:duotone>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tretch>
              <a:fillRect/>
            </a:stretch>
          </p:blipFill>
          <p:spPr>
            <a:xfrm>
              <a:off x="279703" y="3012885"/>
              <a:ext cx="940496" cy="940496"/>
            </a:xfrm>
            <a:prstGeom prst="rect">
              <a:avLst/>
            </a:prstGeom>
            <a:noFill/>
            <a:ln>
              <a:noFill/>
            </a:ln>
          </p:spPr>
        </p:pic>
        <p:pic>
          <p:nvPicPr>
            <p:cNvPr id="15" name="Immagine 14" descr="Immagine che contiene nero, oscurità&#10;&#10;Descrizione generata automaticamente">
              <a:extLst>
                <a:ext uri="{FF2B5EF4-FFF2-40B4-BE49-F238E27FC236}">
                  <a16:creationId xmlns:a16="http://schemas.microsoft.com/office/drawing/2014/main" id="{695DA45C-B864-C801-B2CC-CA7BFA7B60B0}"/>
                </a:ext>
              </a:extLst>
            </p:cNvPr>
            <p:cNvPicPr>
              <a:picLocks noChangeAspect="1"/>
            </p:cNvPicPr>
            <p:nvPr/>
          </p:nvPicPr>
          <p:blipFill>
            <a:blip r:embed="rId4">
              <a:duotone>
                <a:schemeClr val="bg2">
                  <a:shade val="45000"/>
                  <a:satMod val="135000"/>
                </a:schemeClr>
                <a:prstClr val="white"/>
              </a:duotone>
            </a:blip>
            <a:stretch>
              <a:fillRect/>
            </a:stretch>
          </p:blipFill>
          <p:spPr>
            <a:xfrm>
              <a:off x="1074062" y="3140441"/>
              <a:ext cx="938366" cy="938366"/>
            </a:xfrm>
            <a:prstGeom prst="rect">
              <a:avLst/>
            </a:prstGeom>
          </p:spPr>
        </p:pic>
        <p:pic>
          <p:nvPicPr>
            <p:cNvPr id="16" name="Immagine 15" descr="Immagine che contiene nero, oscurità&#10;&#10;Descrizione generata automaticamente">
              <a:extLst>
                <a:ext uri="{FF2B5EF4-FFF2-40B4-BE49-F238E27FC236}">
                  <a16:creationId xmlns:a16="http://schemas.microsoft.com/office/drawing/2014/main" id="{8202C940-324A-F576-267E-86512EE2F433}"/>
                </a:ext>
              </a:extLst>
            </p:cNvPr>
            <p:cNvPicPr>
              <a:picLocks noChangeAspect="1"/>
            </p:cNvPicPr>
            <p:nvPr/>
          </p:nvPicPr>
          <p:blipFill>
            <a:blip r:embed="rId5">
              <a:duotone>
                <a:schemeClr val="bg2">
                  <a:shade val="45000"/>
                  <a:satMod val="135000"/>
                </a:schemeClr>
                <a:prstClr val="white"/>
              </a:duotone>
            </a:blip>
            <a:stretch>
              <a:fillRect/>
            </a:stretch>
          </p:blipFill>
          <p:spPr>
            <a:xfrm flipH="1">
              <a:off x="1959735" y="3076767"/>
              <a:ext cx="940496" cy="940496"/>
            </a:xfrm>
            <a:prstGeom prst="rect">
              <a:avLst/>
            </a:prstGeom>
          </p:spPr>
        </p:pic>
        <p:pic>
          <p:nvPicPr>
            <p:cNvPr id="17" name="Immagine 16" descr="Immagine che contiene nero, oscurità&#10;&#10;Descrizione generata automaticamente">
              <a:extLst>
                <a:ext uri="{FF2B5EF4-FFF2-40B4-BE49-F238E27FC236}">
                  <a16:creationId xmlns:a16="http://schemas.microsoft.com/office/drawing/2014/main" id="{8917495B-0094-7C3D-A5D2-34328622D75E}"/>
                </a:ext>
              </a:extLst>
            </p:cNvPr>
            <p:cNvPicPr>
              <a:picLocks noChangeAspect="1"/>
            </p:cNvPicPr>
            <p:nvPr/>
          </p:nvPicPr>
          <p:blipFill>
            <a:blip r:embed="rId4">
              <a:duotone>
                <a:schemeClr val="bg2">
                  <a:shade val="45000"/>
                  <a:satMod val="135000"/>
                </a:schemeClr>
                <a:prstClr val="white"/>
              </a:duotone>
            </a:blip>
            <a:stretch>
              <a:fillRect/>
            </a:stretch>
          </p:blipFill>
          <p:spPr>
            <a:xfrm>
              <a:off x="2847538" y="3140441"/>
              <a:ext cx="938366" cy="938366"/>
            </a:xfrm>
            <a:prstGeom prst="rect">
              <a:avLst/>
            </a:prstGeom>
          </p:spPr>
        </p:pic>
        <p:pic>
          <p:nvPicPr>
            <p:cNvPr id="18" name="Immagine 17" descr="Immagine che contiene nero, oscurità&#10;&#10;Descrizione generata automaticamente">
              <a:extLst>
                <a:ext uri="{FF2B5EF4-FFF2-40B4-BE49-F238E27FC236}">
                  <a16:creationId xmlns:a16="http://schemas.microsoft.com/office/drawing/2014/main" id="{8D976C0D-EE58-68B8-2D54-74FB094DE319}"/>
                </a:ext>
              </a:extLst>
            </p:cNvPr>
            <p:cNvPicPr>
              <a:picLocks noChangeAspect="1"/>
            </p:cNvPicPr>
            <p:nvPr/>
          </p:nvPicPr>
          <p:blipFill>
            <a:blip r:embed="rId6">
              <a:duotone>
                <a:schemeClr val="bg2">
                  <a:shade val="45000"/>
                  <a:satMod val="135000"/>
                </a:schemeClr>
                <a:prstClr val="white"/>
              </a:duotone>
            </a:blip>
            <a:stretch>
              <a:fillRect/>
            </a:stretch>
          </p:blipFill>
          <p:spPr>
            <a:xfrm>
              <a:off x="3735340" y="3015016"/>
              <a:ext cx="938365" cy="938365"/>
            </a:xfrm>
            <a:prstGeom prst="rect">
              <a:avLst/>
            </a:prstGeom>
          </p:spPr>
        </p:pic>
        <p:pic>
          <p:nvPicPr>
            <p:cNvPr id="19" name="Immagine 18" descr="Immagine che contiene nero, oscurità&#10;&#10;Descrizione generata automaticamente">
              <a:extLst>
                <a:ext uri="{FF2B5EF4-FFF2-40B4-BE49-F238E27FC236}">
                  <a16:creationId xmlns:a16="http://schemas.microsoft.com/office/drawing/2014/main" id="{EE65F7B5-1FC7-7E53-04F2-3729C9C8E082}"/>
                </a:ext>
              </a:extLst>
            </p:cNvPr>
            <p:cNvPicPr>
              <a:picLocks noChangeAspect="1"/>
            </p:cNvPicPr>
            <p:nvPr/>
          </p:nvPicPr>
          <p:blipFill>
            <a:blip r:embed="rId4">
              <a:duotone>
                <a:schemeClr val="bg2">
                  <a:shade val="45000"/>
                  <a:satMod val="135000"/>
                </a:schemeClr>
                <a:prstClr val="white"/>
              </a:duotone>
            </a:blip>
            <a:stretch>
              <a:fillRect/>
            </a:stretch>
          </p:blipFill>
          <p:spPr>
            <a:xfrm>
              <a:off x="4675837" y="3140441"/>
              <a:ext cx="938366" cy="938366"/>
            </a:xfrm>
            <a:prstGeom prst="rect">
              <a:avLst/>
            </a:prstGeom>
          </p:spPr>
        </p:pic>
        <p:pic>
          <p:nvPicPr>
            <p:cNvPr id="20" name="Immagine 19" descr="Immagine che contiene nero, oscurità&#10;&#10;Descrizione generata automaticamente">
              <a:extLst>
                <a:ext uri="{FF2B5EF4-FFF2-40B4-BE49-F238E27FC236}">
                  <a16:creationId xmlns:a16="http://schemas.microsoft.com/office/drawing/2014/main" id="{9CDD2881-3A95-970D-CD8A-0E1DE3A50F69}"/>
                </a:ext>
              </a:extLst>
            </p:cNvPr>
            <p:cNvPicPr>
              <a:picLocks noChangeAspect="1"/>
            </p:cNvPicPr>
            <p:nvPr/>
          </p:nvPicPr>
          <p:blipFill>
            <a:blip r:embed="rId7">
              <a:duotone>
                <a:schemeClr val="bg2">
                  <a:shade val="45000"/>
                  <a:satMod val="135000"/>
                </a:schemeClr>
                <a:prstClr val="white"/>
              </a:duotone>
            </a:blip>
            <a:stretch>
              <a:fillRect/>
            </a:stretch>
          </p:blipFill>
          <p:spPr>
            <a:xfrm>
              <a:off x="5614203" y="3191899"/>
              <a:ext cx="657035" cy="657035"/>
            </a:xfrm>
            <a:prstGeom prst="rect">
              <a:avLst/>
            </a:prstGeom>
          </p:spPr>
        </p:pic>
        <p:pic>
          <p:nvPicPr>
            <p:cNvPr id="21" name="Immagine 20" descr="Immagine che contiene cerchio, schermata, Elementi grafici, design&#10;&#10;Descrizione generata automaticamente">
              <a:extLst>
                <a:ext uri="{FF2B5EF4-FFF2-40B4-BE49-F238E27FC236}">
                  <a16:creationId xmlns:a16="http://schemas.microsoft.com/office/drawing/2014/main" id="{A4CC9BFA-9E89-3512-3175-D6CDA5EBC307}"/>
                </a:ext>
              </a:extLst>
            </p:cNvPr>
            <p:cNvPicPr>
              <a:picLocks noChangeAspect="1"/>
            </p:cNvPicPr>
            <p:nvPr/>
          </p:nvPicPr>
          <p:blipFill>
            <a:blip r:embed="rId8">
              <a:duotone>
                <a:schemeClr val="bg2">
                  <a:shade val="45000"/>
                  <a:satMod val="135000"/>
                </a:schemeClr>
                <a:prstClr val="white"/>
              </a:duotone>
            </a:blip>
            <a:stretch>
              <a:fillRect/>
            </a:stretch>
          </p:blipFill>
          <p:spPr>
            <a:xfrm>
              <a:off x="6080049" y="2784384"/>
              <a:ext cx="690424" cy="690424"/>
            </a:xfrm>
            <a:prstGeom prst="rect">
              <a:avLst/>
            </a:prstGeom>
          </p:spPr>
        </p:pic>
      </p:grpSp>
    </p:spTree>
    <p:extLst>
      <p:ext uri="{BB962C8B-B14F-4D97-AF65-F5344CB8AC3E}">
        <p14:creationId xmlns:p14="http://schemas.microsoft.com/office/powerpoint/2010/main" val="2074170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3B6A66-566D-771E-021C-179ED2262EB1}"/>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66C070C5-4A18-0CA6-0F7A-0BAEAC4C6B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42BB93C2-0804-2996-2205-9AE7BFE0C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FA2E3AE7-A8EC-0770-7EC3-BB30B26F082B}"/>
              </a:ext>
            </a:extLst>
          </p:cNvPr>
          <p:cNvSpPr txBox="1"/>
          <p:nvPr/>
        </p:nvSpPr>
        <p:spPr>
          <a:xfrm>
            <a:off x="1024128" y="459317"/>
            <a:ext cx="4767072"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rPr>
              <a:t>SCENARIO TIPICO</a:t>
            </a:r>
          </a:p>
        </p:txBody>
      </p:sp>
      <p:cxnSp>
        <p:nvCxnSpPr>
          <p:cNvPr id="32" name="Straight Connector 25">
            <a:extLst>
              <a:ext uri="{FF2B5EF4-FFF2-40B4-BE49-F238E27FC236}">
                <a16:creationId xmlns:a16="http://schemas.microsoft.com/office/drawing/2014/main" id="{70DBE6ED-2DBF-1AF1-1EDC-7B2FB47325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978C915D-C98B-A904-5B1C-8A397ECCA45D}"/>
              </a:ext>
            </a:extLst>
          </p:cNvPr>
          <p:cNvSpPr txBox="1"/>
          <p:nvPr/>
        </p:nvSpPr>
        <p:spPr>
          <a:xfrm>
            <a:off x="1024129" y="2286000"/>
            <a:ext cx="4389120" cy="1588293"/>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en-US" dirty="0"/>
              <a:t>1. </a:t>
            </a:r>
            <a:r>
              <a:rPr lang="en-US" dirty="0" err="1"/>
              <a:t>Connessione</a:t>
            </a:r>
            <a:r>
              <a:rPr lang="en-US" dirty="0"/>
              <a:t> Attacker – Server</a:t>
            </a:r>
            <a:br>
              <a:rPr lang="en-US" dirty="0"/>
            </a:br>
            <a:br>
              <a:rPr lang="en-US" dirty="0"/>
            </a:br>
            <a:r>
              <a:rPr lang="it-IT" dirty="0"/>
              <a:t>L’</a:t>
            </a:r>
            <a:r>
              <a:rPr lang="it-IT" dirty="0" err="1"/>
              <a:t>attacker</a:t>
            </a:r>
            <a:r>
              <a:rPr lang="it-IT" dirty="0"/>
              <a:t> e il server stabiliscono una connessione attraverso uno scambio di messaggi TCP (</a:t>
            </a:r>
            <a:r>
              <a:rPr lang="it-IT" dirty="0" err="1"/>
              <a:t>Handshake</a:t>
            </a:r>
            <a:r>
              <a:rPr lang="it-IT" dirty="0"/>
              <a:t> TCP).</a:t>
            </a:r>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p:txBody>
      </p:sp>
      <p:pic>
        <p:nvPicPr>
          <p:cNvPr id="13" name="Immagine 12" descr="Immagine che contiene nero, oscurità&#10;&#10;Descrizione generata automaticamente">
            <a:extLst>
              <a:ext uri="{FF2B5EF4-FFF2-40B4-BE49-F238E27FC236}">
                <a16:creationId xmlns:a16="http://schemas.microsoft.com/office/drawing/2014/main" id="{863ED790-CEBC-52DB-EEF9-56093A4F3235}"/>
              </a:ext>
            </a:extLst>
          </p:cNvPr>
          <p:cNvPicPr>
            <a:picLocks noChangeAspect="1"/>
          </p:cNvPicPr>
          <p:nvPr/>
        </p:nvPicPr>
        <p:blipFill>
          <a:blip r:embed="rId2">
            <a:biLevel thresh="75000"/>
          </a:blip>
          <a:stretch>
            <a:fillRect/>
          </a:stretch>
        </p:blipFill>
        <p:spPr>
          <a:xfrm>
            <a:off x="2566073" y="4212061"/>
            <a:ext cx="938366" cy="938366"/>
          </a:xfrm>
          <a:prstGeom prst="rect">
            <a:avLst/>
          </a:prstGeom>
        </p:spPr>
      </p:pic>
      <p:pic>
        <p:nvPicPr>
          <p:cNvPr id="15" name="Immagine 14" descr="Immagine che contiene nero, oscurità&#10;&#10;Descrizione generata automaticamente">
            <a:extLst>
              <a:ext uri="{FF2B5EF4-FFF2-40B4-BE49-F238E27FC236}">
                <a16:creationId xmlns:a16="http://schemas.microsoft.com/office/drawing/2014/main" id="{7D6DEF16-160E-D9C7-D34D-0E252CF6CBF8}"/>
              </a:ext>
            </a:extLst>
          </p:cNvPr>
          <p:cNvPicPr>
            <a:picLocks noChangeAspect="1"/>
          </p:cNvPicPr>
          <p:nvPr/>
        </p:nvPicPr>
        <p:blipFill>
          <a:blip r:embed="rId3">
            <a:alphaModFix/>
            <a:biLevel thresh="75000"/>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p:blipFill>
        <p:spPr>
          <a:xfrm>
            <a:off x="1809087" y="4379881"/>
            <a:ext cx="940496" cy="940496"/>
          </a:xfrm>
          <a:prstGeom prst="rect">
            <a:avLst/>
          </a:prstGeom>
          <a:noFill/>
          <a:ln>
            <a:noFill/>
          </a:ln>
        </p:spPr>
      </p:pic>
      <p:pic>
        <p:nvPicPr>
          <p:cNvPr id="16" name="Immagine 15" descr="Immagine che contiene nero, oscurità&#10;&#10;Descrizione generata automaticamente">
            <a:extLst>
              <a:ext uri="{FF2B5EF4-FFF2-40B4-BE49-F238E27FC236}">
                <a16:creationId xmlns:a16="http://schemas.microsoft.com/office/drawing/2014/main" id="{ABE3682D-71AB-186B-743A-25416ED755CE}"/>
              </a:ext>
            </a:extLst>
          </p:cNvPr>
          <p:cNvPicPr>
            <a:picLocks noChangeAspect="1"/>
          </p:cNvPicPr>
          <p:nvPr/>
        </p:nvPicPr>
        <p:blipFill>
          <a:blip r:embed="rId2">
            <a:biLevel thresh="75000"/>
          </a:blip>
          <a:stretch>
            <a:fillRect/>
          </a:stretch>
        </p:blipFill>
        <p:spPr>
          <a:xfrm rot="10800000">
            <a:off x="2527842" y="4549829"/>
            <a:ext cx="938366" cy="938366"/>
          </a:xfrm>
          <a:prstGeom prst="rect">
            <a:avLst/>
          </a:prstGeom>
        </p:spPr>
      </p:pic>
      <p:pic>
        <p:nvPicPr>
          <p:cNvPr id="17" name="Immagine 16" descr="Immagine che contiene nero, oscurità&#10;&#10;Descrizione generata automaticamente">
            <a:extLst>
              <a:ext uri="{FF2B5EF4-FFF2-40B4-BE49-F238E27FC236}">
                <a16:creationId xmlns:a16="http://schemas.microsoft.com/office/drawing/2014/main" id="{0CCEA0A1-9F46-78F9-34DE-BB894FD6A4A7}"/>
              </a:ext>
            </a:extLst>
          </p:cNvPr>
          <p:cNvPicPr>
            <a:picLocks noChangeAspect="1"/>
          </p:cNvPicPr>
          <p:nvPr/>
        </p:nvPicPr>
        <p:blipFill>
          <a:blip r:embed="rId5">
            <a:biLevel thresh="75000"/>
          </a:blip>
          <a:stretch>
            <a:fillRect/>
          </a:stretch>
        </p:blipFill>
        <p:spPr>
          <a:xfrm>
            <a:off x="3379245" y="4433170"/>
            <a:ext cx="833918" cy="833918"/>
          </a:xfrm>
          <a:prstGeom prst="rect">
            <a:avLst/>
          </a:prstGeom>
        </p:spPr>
      </p:pic>
      <p:sp>
        <p:nvSpPr>
          <p:cNvPr id="18" name="CasellaDiTesto 17">
            <a:extLst>
              <a:ext uri="{FF2B5EF4-FFF2-40B4-BE49-F238E27FC236}">
                <a16:creationId xmlns:a16="http://schemas.microsoft.com/office/drawing/2014/main" id="{4F40FBF9-2C88-C951-7E0C-B8DB04B62648}"/>
              </a:ext>
            </a:extLst>
          </p:cNvPr>
          <p:cNvSpPr txBox="1"/>
          <p:nvPr/>
        </p:nvSpPr>
        <p:spPr>
          <a:xfrm>
            <a:off x="2619356" y="5178371"/>
            <a:ext cx="755335" cy="246221"/>
          </a:xfrm>
          <a:prstGeom prst="rect">
            <a:avLst/>
          </a:prstGeom>
          <a:noFill/>
        </p:spPr>
        <p:txBody>
          <a:bodyPr wrap="square" rtlCol="0">
            <a:spAutoFit/>
          </a:bodyPr>
          <a:lstStyle/>
          <a:p>
            <a:pPr algn="ctr"/>
            <a:r>
              <a:rPr lang="it-IT" sz="1000" dirty="0">
                <a:latin typeface="+mj-lt"/>
              </a:rPr>
              <a:t>TCP</a:t>
            </a:r>
            <a:r>
              <a:rPr lang="it-IT" sz="1000" dirty="0">
                <a:solidFill>
                  <a:schemeClr val="accent3"/>
                </a:solidFill>
                <a:latin typeface="+mj-lt"/>
              </a:rPr>
              <a:t> </a:t>
            </a:r>
            <a:r>
              <a:rPr lang="it-IT" sz="1000" dirty="0">
                <a:latin typeface="+mj-lt"/>
              </a:rPr>
              <a:t>handshake</a:t>
            </a:r>
          </a:p>
        </p:txBody>
      </p:sp>
      <p:grpSp>
        <p:nvGrpSpPr>
          <p:cNvPr id="2" name="Gruppo 1">
            <a:extLst>
              <a:ext uri="{FF2B5EF4-FFF2-40B4-BE49-F238E27FC236}">
                <a16:creationId xmlns:a16="http://schemas.microsoft.com/office/drawing/2014/main" id="{E98DDB13-20A7-A22C-0845-715EE1E57350}"/>
              </a:ext>
            </a:extLst>
          </p:cNvPr>
          <p:cNvGrpSpPr/>
          <p:nvPr/>
        </p:nvGrpSpPr>
        <p:grpSpPr>
          <a:xfrm>
            <a:off x="7056116" y="3059102"/>
            <a:ext cx="4175759" cy="742888"/>
            <a:chOff x="279703" y="2784384"/>
            <a:chExt cx="6490770" cy="1294423"/>
          </a:xfrm>
        </p:grpSpPr>
        <p:pic>
          <p:nvPicPr>
            <p:cNvPr id="19" name="Immagine 18" descr="Immagine che contiene nero, oscurità&#10;&#10;Descrizione generata automaticamente">
              <a:extLst>
                <a:ext uri="{FF2B5EF4-FFF2-40B4-BE49-F238E27FC236}">
                  <a16:creationId xmlns:a16="http://schemas.microsoft.com/office/drawing/2014/main" id="{FD177301-91A1-7D9E-8A37-71DA95A7D49D}"/>
                </a:ext>
              </a:extLst>
            </p:cNvPr>
            <p:cNvPicPr>
              <a:picLocks noChangeAspect="1"/>
            </p:cNvPicPr>
            <p:nvPr/>
          </p:nvPicPr>
          <p:blipFill>
            <a:blip r:embed="rId3">
              <a:alphaModFix/>
              <a:duotone>
                <a:schemeClr val="bg2">
                  <a:shade val="45000"/>
                  <a:satMod val="135000"/>
                </a:schemeClr>
                <a:prstClr val="white"/>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p:blipFill>
          <p:spPr>
            <a:xfrm>
              <a:off x="279703" y="3012885"/>
              <a:ext cx="940496" cy="940496"/>
            </a:xfrm>
            <a:prstGeom prst="rect">
              <a:avLst/>
            </a:prstGeom>
            <a:noFill/>
            <a:ln>
              <a:noFill/>
            </a:ln>
          </p:spPr>
        </p:pic>
        <p:pic>
          <p:nvPicPr>
            <p:cNvPr id="20" name="Immagine 19" descr="Immagine che contiene nero, oscurità&#10;&#10;Descrizione generata automaticamente">
              <a:extLst>
                <a:ext uri="{FF2B5EF4-FFF2-40B4-BE49-F238E27FC236}">
                  <a16:creationId xmlns:a16="http://schemas.microsoft.com/office/drawing/2014/main" id="{61A62233-DBC7-3E98-89ED-E69AF480D449}"/>
                </a:ext>
              </a:extLst>
            </p:cNvPr>
            <p:cNvPicPr>
              <a:picLocks noChangeAspect="1"/>
            </p:cNvPicPr>
            <p:nvPr/>
          </p:nvPicPr>
          <p:blipFill>
            <a:blip r:embed="rId2">
              <a:duotone>
                <a:schemeClr val="bg2">
                  <a:shade val="45000"/>
                  <a:satMod val="135000"/>
                </a:schemeClr>
                <a:prstClr val="white"/>
              </a:duotone>
            </a:blip>
            <a:stretch>
              <a:fillRect/>
            </a:stretch>
          </p:blipFill>
          <p:spPr>
            <a:xfrm>
              <a:off x="1074062" y="3140441"/>
              <a:ext cx="938366" cy="938366"/>
            </a:xfrm>
            <a:prstGeom prst="rect">
              <a:avLst/>
            </a:prstGeom>
          </p:spPr>
        </p:pic>
        <p:pic>
          <p:nvPicPr>
            <p:cNvPr id="21" name="Immagine 20" descr="Immagine che contiene nero, oscurità&#10;&#10;Descrizione generata automaticamente">
              <a:extLst>
                <a:ext uri="{FF2B5EF4-FFF2-40B4-BE49-F238E27FC236}">
                  <a16:creationId xmlns:a16="http://schemas.microsoft.com/office/drawing/2014/main" id="{81C24580-AD57-091B-2F7D-053FD16F2993}"/>
                </a:ext>
              </a:extLst>
            </p:cNvPr>
            <p:cNvPicPr>
              <a:picLocks noChangeAspect="1"/>
            </p:cNvPicPr>
            <p:nvPr/>
          </p:nvPicPr>
          <p:blipFill>
            <a:blip r:embed="rId6">
              <a:duotone>
                <a:schemeClr val="bg2">
                  <a:shade val="45000"/>
                  <a:satMod val="135000"/>
                </a:schemeClr>
                <a:prstClr val="white"/>
              </a:duotone>
            </a:blip>
            <a:stretch>
              <a:fillRect/>
            </a:stretch>
          </p:blipFill>
          <p:spPr>
            <a:xfrm flipH="1">
              <a:off x="1959735" y="3076767"/>
              <a:ext cx="940496" cy="940496"/>
            </a:xfrm>
            <a:prstGeom prst="rect">
              <a:avLst/>
            </a:prstGeom>
          </p:spPr>
        </p:pic>
        <p:pic>
          <p:nvPicPr>
            <p:cNvPr id="22" name="Immagine 21" descr="Immagine che contiene nero, oscurità&#10;&#10;Descrizione generata automaticamente">
              <a:extLst>
                <a:ext uri="{FF2B5EF4-FFF2-40B4-BE49-F238E27FC236}">
                  <a16:creationId xmlns:a16="http://schemas.microsoft.com/office/drawing/2014/main" id="{F282BC88-E2BF-ED82-F24C-7B3D23243156}"/>
                </a:ext>
              </a:extLst>
            </p:cNvPr>
            <p:cNvPicPr>
              <a:picLocks noChangeAspect="1"/>
            </p:cNvPicPr>
            <p:nvPr/>
          </p:nvPicPr>
          <p:blipFill>
            <a:blip r:embed="rId2">
              <a:duotone>
                <a:schemeClr val="bg2">
                  <a:shade val="45000"/>
                  <a:satMod val="135000"/>
                </a:schemeClr>
                <a:prstClr val="white"/>
              </a:duotone>
            </a:blip>
            <a:stretch>
              <a:fillRect/>
            </a:stretch>
          </p:blipFill>
          <p:spPr>
            <a:xfrm>
              <a:off x="2847538" y="3140441"/>
              <a:ext cx="938366" cy="938366"/>
            </a:xfrm>
            <a:prstGeom prst="rect">
              <a:avLst/>
            </a:prstGeom>
          </p:spPr>
        </p:pic>
        <p:pic>
          <p:nvPicPr>
            <p:cNvPr id="23" name="Immagine 22" descr="Immagine che contiene nero, oscurità&#10;&#10;Descrizione generata automaticamente">
              <a:extLst>
                <a:ext uri="{FF2B5EF4-FFF2-40B4-BE49-F238E27FC236}">
                  <a16:creationId xmlns:a16="http://schemas.microsoft.com/office/drawing/2014/main" id="{3E694D2C-91B5-5933-0317-E31075987F3F}"/>
                </a:ext>
              </a:extLst>
            </p:cNvPr>
            <p:cNvPicPr>
              <a:picLocks noChangeAspect="1"/>
            </p:cNvPicPr>
            <p:nvPr/>
          </p:nvPicPr>
          <p:blipFill>
            <a:blip r:embed="rId5">
              <a:duotone>
                <a:schemeClr val="bg2">
                  <a:shade val="45000"/>
                  <a:satMod val="135000"/>
                </a:schemeClr>
                <a:prstClr val="white"/>
              </a:duotone>
            </a:blip>
            <a:stretch>
              <a:fillRect/>
            </a:stretch>
          </p:blipFill>
          <p:spPr>
            <a:xfrm>
              <a:off x="3735340" y="3015016"/>
              <a:ext cx="938365" cy="938365"/>
            </a:xfrm>
            <a:prstGeom prst="rect">
              <a:avLst/>
            </a:prstGeom>
          </p:spPr>
        </p:pic>
        <p:pic>
          <p:nvPicPr>
            <p:cNvPr id="24" name="Immagine 23" descr="Immagine che contiene nero, oscurità&#10;&#10;Descrizione generata automaticamente">
              <a:extLst>
                <a:ext uri="{FF2B5EF4-FFF2-40B4-BE49-F238E27FC236}">
                  <a16:creationId xmlns:a16="http://schemas.microsoft.com/office/drawing/2014/main" id="{DB363CFC-80D7-28DD-66DA-7BD47D03B38F}"/>
                </a:ext>
              </a:extLst>
            </p:cNvPr>
            <p:cNvPicPr>
              <a:picLocks noChangeAspect="1"/>
            </p:cNvPicPr>
            <p:nvPr/>
          </p:nvPicPr>
          <p:blipFill>
            <a:blip r:embed="rId2">
              <a:duotone>
                <a:schemeClr val="bg2">
                  <a:shade val="45000"/>
                  <a:satMod val="135000"/>
                </a:schemeClr>
                <a:prstClr val="white"/>
              </a:duotone>
            </a:blip>
            <a:stretch>
              <a:fillRect/>
            </a:stretch>
          </p:blipFill>
          <p:spPr>
            <a:xfrm>
              <a:off x="4675837" y="3140441"/>
              <a:ext cx="938366" cy="938366"/>
            </a:xfrm>
            <a:prstGeom prst="rect">
              <a:avLst/>
            </a:prstGeom>
          </p:spPr>
        </p:pic>
        <p:pic>
          <p:nvPicPr>
            <p:cNvPr id="25" name="Immagine 24" descr="Immagine che contiene nero, oscurità&#10;&#10;Descrizione generata automaticamente">
              <a:extLst>
                <a:ext uri="{FF2B5EF4-FFF2-40B4-BE49-F238E27FC236}">
                  <a16:creationId xmlns:a16="http://schemas.microsoft.com/office/drawing/2014/main" id="{7CB64015-F6B9-D9AE-E2B3-4D7493A0A3ED}"/>
                </a:ext>
              </a:extLst>
            </p:cNvPr>
            <p:cNvPicPr>
              <a:picLocks noChangeAspect="1"/>
            </p:cNvPicPr>
            <p:nvPr/>
          </p:nvPicPr>
          <p:blipFill>
            <a:blip r:embed="rId7">
              <a:duotone>
                <a:schemeClr val="bg2">
                  <a:shade val="45000"/>
                  <a:satMod val="135000"/>
                </a:schemeClr>
                <a:prstClr val="white"/>
              </a:duotone>
            </a:blip>
            <a:stretch>
              <a:fillRect/>
            </a:stretch>
          </p:blipFill>
          <p:spPr>
            <a:xfrm>
              <a:off x="5614203" y="3191899"/>
              <a:ext cx="657035" cy="657035"/>
            </a:xfrm>
            <a:prstGeom prst="rect">
              <a:avLst/>
            </a:prstGeom>
          </p:spPr>
        </p:pic>
        <p:pic>
          <p:nvPicPr>
            <p:cNvPr id="26" name="Immagine 25" descr="Immagine che contiene cerchio, schermata, Elementi grafici, design&#10;&#10;Descrizione generata automaticamente">
              <a:extLst>
                <a:ext uri="{FF2B5EF4-FFF2-40B4-BE49-F238E27FC236}">
                  <a16:creationId xmlns:a16="http://schemas.microsoft.com/office/drawing/2014/main" id="{76F3D725-DB91-5D7C-D6C2-B570EBFDE40D}"/>
                </a:ext>
              </a:extLst>
            </p:cNvPr>
            <p:cNvPicPr>
              <a:picLocks noChangeAspect="1"/>
            </p:cNvPicPr>
            <p:nvPr/>
          </p:nvPicPr>
          <p:blipFill>
            <a:blip r:embed="rId8">
              <a:duotone>
                <a:schemeClr val="bg2">
                  <a:shade val="45000"/>
                  <a:satMod val="135000"/>
                </a:schemeClr>
                <a:prstClr val="white"/>
              </a:duotone>
            </a:blip>
            <a:stretch>
              <a:fillRect/>
            </a:stretch>
          </p:blipFill>
          <p:spPr>
            <a:xfrm>
              <a:off x="6080049" y="2784384"/>
              <a:ext cx="690424" cy="690424"/>
            </a:xfrm>
            <a:prstGeom prst="rect">
              <a:avLst/>
            </a:prstGeom>
          </p:spPr>
        </p:pic>
      </p:grpSp>
    </p:spTree>
    <p:extLst>
      <p:ext uri="{BB962C8B-B14F-4D97-AF65-F5344CB8AC3E}">
        <p14:creationId xmlns:p14="http://schemas.microsoft.com/office/powerpoint/2010/main" val="3702742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B17476-7A4D-2929-B833-0DA313418E7B}"/>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011098FB-7CA8-4CA1-68F3-5A6743532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7670964D-48C0-2944-3A71-25E7E88CF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8CA39B04-AFF3-9857-E1E9-DC33DCECB41A}"/>
              </a:ext>
            </a:extLst>
          </p:cNvPr>
          <p:cNvSpPr txBox="1"/>
          <p:nvPr/>
        </p:nvSpPr>
        <p:spPr>
          <a:xfrm>
            <a:off x="1024128" y="459317"/>
            <a:ext cx="4767072"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rPr>
              <a:t>SCENARIO TIPICO</a:t>
            </a:r>
          </a:p>
        </p:txBody>
      </p:sp>
      <p:cxnSp>
        <p:nvCxnSpPr>
          <p:cNvPr id="32" name="Straight Connector 25">
            <a:extLst>
              <a:ext uri="{FF2B5EF4-FFF2-40B4-BE49-F238E27FC236}">
                <a16:creationId xmlns:a16="http://schemas.microsoft.com/office/drawing/2014/main" id="{6F6BD9C5-9537-A0EC-AE9F-6D414925BC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EB5308F5-F0F7-DD08-E6C7-47FC8F769D7F}"/>
              </a:ext>
            </a:extLst>
          </p:cNvPr>
          <p:cNvSpPr txBox="1"/>
          <p:nvPr/>
        </p:nvSpPr>
        <p:spPr>
          <a:xfrm>
            <a:off x="1024129" y="2286000"/>
            <a:ext cx="4389120" cy="1850571"/>
          </a:xfrm>
          <a:prstGeom prst="rect">
            <a:avLst/>
          </a:prstGeom>
        </p:spPr>
        <p:txBody>
          <a:bodyPr vert="horz" lIns="45720" tIns="45720" rIns="45720" bIns="45720" rtlCol="0">
            <a:normAutofit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en-US" dirty="0"/>
              <a:t>2. </a:t>
            </a:r>
            <a:r>
              <a:rPr lang="en-US" dirty="0" err="1"/>
              <a:t>Inizio</a:t>
            </a:r>
            <a:r>
              <a:rPr lang="en-US" dirty="0"/>
              <a:t> </a:t>
            </a:r>
            <a:r>
              <a:rPr lang="en-US" dirty="0" err="1"/>
              <a:t>dell’attacco</a:t>
            </a:r>
            <a:br>
              <a:rPr lang="en-US" dirty="0"/>
            </a:br>
            <a:br>
              <a:rPr lang="en-US" dirty="0"/>
            </a:br>
            <a:r>
              <a:rPr lang="it-IT" dirty="0"/>
              <a:t>Tramite un tool apposito l’attaccante inoltra un numero elevato di richieste fittizie al server senza mai completarle costringendo il server a mantenere connessioni attive e restare in attesa.</a:t>
            </a:r>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p:txBody>
      </p:sp>
      <p:pic>
        <p:nvPicPr>
          <p:cNvPr id="20" name="Immagine 19" descr="Immagine che contiene nero, oscurità&#10;&#10;Descrizione generata automaticamente">
            <a:extLst>
              <a:ext uri="{FF2B5EF4-FFF2-40B4-BE49-F238E27FC236}">
                <a16:creationId xmlns:a16="http://schemas.microsoft.com/office/drawing/2014/main" id="{B98E21B6-F738-A655-04D5-8C429F098EE1}"/>
              </a:ext>
            </a:extLst>
          </p:cNvPr>
          <p:cNvPicPr>
            <a:picLocks noChangeAspect="1"/>
          </p:cNvPicPr>
          <p:nvPr/>
        </p:nvPicPr>
        <p:blipFill>
          <a:blip r:embed="rId2">
            <a:biLevel thresh="75000"/>
          </a:blip>
          <a:stretch>
            <a:fillRect/>
          </a:stretch>
        </p:blipFill>
        <p:spPr>
          <a:xfrm>
            <a:off x="2583453" y="5288749"/>
            <a:ext cx="1109934" cy="1109934"/>
          </a:xfrm>
          <a:prstGeom prst="rect">
            <a:avLst/>
          </a:prstGeom>
        </p:spPr>
      </p:pic>
      <p:pic>
        <p:nvPicPr>
          <p:cNvPr id="21" name="Immagine 20" descr="Immagine che contiene nero, oscurità&#10;&#10;Descrizione generata automaticamente">
            <a:extLst>
              <a:ext uri="{FF2B5EF4-FFF2-40B4-BE49-F238E27FC236}">
                <a16:creationId xmlns:a16="http://schemas.microsoft.com/office/drawing/2014/main" id="{2CA11054-8BEC-42EA-1B51-7A8D7F67F3B9}"/>
              </a:ext>
            </a:extLst>
          </p:cNvPr>
          <p:cNvPicPr>
            <a:picLocks noChangeAspect="1"/>
          </p:cNvPicPr>
          <p:nvPr/>
        </p:nvPicPr>
        <p:blipFill>
          <a:blip r:embed="rId3">
            <a:alphaModFix/>
            <a:biLevel thresh="75000"/>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p:blipFill>
        <p:spPr>
          <a:xfrm>
            <a:off x="1925003" y="5123810"/>
            <a:ext cx="940496" cy="940496"/>
          </a:xfrm>
          <a:prstGeom prst="rect">
            <a:avLst/>
          </a:prstGeom>
          <a:noFill/>
          <a:ln>
            <a:noFill/>
          </a:ln>
        </p:spPr>
      </p:pic>
      <p:pic>
        <p:nvPicPr>
          <p:cNvPr id="23" name="Immagine 22" descr="Immagine che contiene nero, oscurità&#10;&#10;Descrizione generata automaticamente">
            <a:extLst>
              <a:ext uri="{FF2B5EF4-FFF2-40B4-BE49-F238E27FC236}">
                <a16:creationId xmlns:a16="http://schemas.microsoft.com/office/drawing/2014/main" id="{DB98F253-31DA-0DC7-8AEA-78A7E102E329}"/>
              </a:ext>
            </a:extLst>
          </p:cNvPr>
          <p:cNvPicPr>
            <a:picLocks noChangeAspect="1"/>
          </p:cNvPicPr>
          <p:nvPr/>
        </p:nvPicPr>
        <p:blipFill>
          <a:blip r:embed="rId5">
            <a:biLevel thresh="75000"/>
          </a:blip>
          <a:stretch>
            <a:fillRect/>
          </a:stretch>
        </p:blipFill>
        <p:spPr>
          <a:xfrm>
            <a:off x="3495161" y="5177099"/>
            <a:ext cx="833918" cy="833918"/>
          </a:xfrm>
          <a:prstGeom prst="rect">
            <a:avLst/>
          </a:prstGeom>
        </p:spPr>
      </p:pic>
      <p:pic>
        <p:nvPicPr>
          <p:cNvPr id="29" name="Immagine 28" descr="Immagine che contiene nero, oscurità&#10;&#10;Descrizione generata automaticamente">
            <a:extLst>
              <a:ext uri="{FF2B5EF4-FFF2-40B4-BE49-F238E27FC236}">
                <a16:creationId xmlns:a16="http://schemas.microsoft.com/office/drawing/2014/main" id="{A1152DE9-D96B-0B8E-0E6F-D1BA2737D8F4}"/>
              </a:ext>
            </a:extLst>
          </p:cNvPr>
          <p:cNvPicPr>
            <a:picLocks noChangeAspect="1"/>
          </p:cNvPicPr>
          <p:nvPr/>
        </p:nvPicPr>
        <p:blipFill>
          <a:blip r:embed="rId6">
            <a:biLevel thresh="75000"/>
          </a:blip>
          <a:stretch>
            <a:fillRect/>
          </a:stretch>
        </p:blipFill>
        <p:spPr>
          <a:xfrm flipH="1">
            <a:off x="2936147" y="5189543"/>
            <a:ext cx="459579" cy="459579"/>
          </a:xfrm>
          <a:prstGeom prst="rect">
            <a:avLst/>
          </a:prstGeom>
        </p:spPr>
      </p:pic>
      <p:grpSp>
        <p:nvGrpSpPr>
          <p:cNvPr id="2" name="Gruppo 1">
            <a:extLst>
              <a:ext uri="{FF2B5EF4-FFF2-40B4-BE49-F238E27FC236}">
                <a16:creationId xmlns:a16="http://schemas.microsoft.com/office/drawing/2014/main" id="{EFC0B4CC-E003-710C-8DA6-6BF71F17DDF1}"/>
              </a:ext>
            </a:extLst>
          </p:cNvPr>
          <p:cNvGrpSpPr/>
          <p:nvPr/>
        </p:nvGrpSpPr>
        <p:grpSpPr>
          <a:xfrm>
            <a:off x="7056116" y="3059102"/>
            <a:ext cx="4175759" cy="742888"/>
            <a:chOff x="279703" y="2784384"/>
            <a:chExt cx="6490770" cy="1294423"/>
          </a:xfrm>
        </p:grpSpPr>
        <p:pic>
          <p:nvPicPr>
            <p:cNvPr id="13" name="Immagine 12" descr="Immagine che contiene nero, oscurità&#10;&#10;Descrizione generata automaticamente">
              <a:extLst>
                <a:ext uri="{FF2B5EF4-FFF2-40B4-BE49-F238E27FC236}">
                  <a16:creationId xmlns:a16="http://schemas.microsoft.com/office/drawing/2014/main" id="{B4C7F57B-1040-C79A-3543-16C51551997C}"/>
                </a:ext>
              </a:extLst>
            </p:cNvPr>
            <p:cNvPicPr>
              <a:picLocks noChangeAspect="1"/>
            </p:cNvPicPr>
            <p:nvPr/>
          </p:nvPicPr>
          <p:blipFill>
            <a:blip r:embed="rId3">
              <a:alphaModFix/>
              <a:duotone>
                <a:schemeClr val="bg2">
                  <a:shade val="45000"/>
                  <a:satMod val="135000"/>
                </a:schemeClr>
                <a:prstClr val="white"/>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p:blipFill>
          <p:spPr>
            <a:xfrm>
              <a:off x="279703" y="3012885"/>
              <a:ext cx="940496" cy="940496"/>
            </a:xfrm>
            <a:prstGeom prst="rect">
              <a:avLst/>
            </a:prstGeom>
            <a:noFill/>
            <a:ln>
              <a:noFill/>
            </a:ln>
          </p:spPr>
        </p:pic>
        <p:pic>
          <p:nvPicPr>
            <p:cNvPr id="15" name="Immagine 14" descr="Immagine che contiene nero, oscurità&#10;&#10;Descrizione generata automaticamente">
              <a:extLst>
                <a:ext uri="{FF2B5EF4-FFF2-40B4-BE49-F238E27FC236}">
                  <a16:creationId xmlns:a16="http://schemas.microsoft.com/office/drawing/2014/main" id="{8C08E16E-C83D-41A5-5B79-134699369811}"/>
                </a:ext>
              </a:extLst>
            </p:cNvPr>
            <p:cNvPicPr>
              <a:picLocks noChangeAspect="1"/>
            </p:cNvPicPr>
            <p:nvPr/>
          </p:nvPicPr>
          <p:blipFill>
            <a:blip r:embed="rId2">
              <a:duotone>
                <a:schemeClr val="bg2">
                  <a:shade val="45000"/>
                  <a:satMod val="135000"/>
                </a:schemeClr>
                <a:prstClr val="white"/>
              </a:duotone>
            </a:blip>
            <a:stretch>
              <a:fillRect/>
            </a:stretch>
          </p:blipFill>
          <p:spPr>
            <a:xfrm>
              <a:off x="1074062" y="3140441"/>
              <a:ext cx="938366" cy="938366"/>
            </a:xfrm>
            <a:prstGeom prst="rect">
              <a:avLst/>
            </a:prstGeom>
          </p:spPr>
        </p:pic>
        <p:pic>
          <p:nvPicPr>
            <p:cNvPr id="16" name="Immagine 15" descr="Immagine che contiene nero, oscurità&#10;&#10;Descrizione generata automaticamente">
              <a:extLst>
                <a:ext uri="{FF2B5EF4-FFF2-40B4-BE49-F238E27FC236}">
                  <a16:creationId xmlns:a16="http://schemas.microsoft.com/office/drawing/2014/main" id="{AC48CA50-9646-DEDD-6911-A26B5264F1A8}"/>
                </a:ext>
              </a:extLst>
            </p:cNvPr>
            <p:cNvPicPr>
              <a:picLocks noChangeAspect="1"/>
            </p:cNvPicPr>
            <p:nvPr/>
          </p:nvPicPr>
          <p:blipFill>
            <a:blip r:embed="rId6">
              <a:duotone>
                <a:schemeClr val="bg2">
                  <a:shade val="45000"/>
                  <a:satMod val="135000"/>
                </a:schemeClr>
                <a:prstClr val="white"/>
              </a:duotone>
            </a:blip>
            <a:stretch>
              <a:fillRect/>
            </a:stretch>
          </p:blipFill>
          <p:spPr>
            <a:xfrm flipH="1">
              <a:off x="1959735" y="3076767"/>
              <a:ext cx="940496" cy="940496"/>
            </a:xfrm>
            <a:prstGeom prst="rect">
              <a:avLst/>
            </a:prstGeom>
          </p:spPr>
        </p:pic>
        <p:pic>
          <p:nvPicPr>
            <p:cNvPr id="17" name="Immagine 16" descr="Immagine che contiene nero, oscurità&#10;&#10;Descrizione generata automaticamente">
              <a:extLst>
                <a:ext uri="{FF2B5EF4-FFF2-40B4-BE49-F238E27FC236}">
                  <a16:creationId xmlns:a16="http://schemas.microsoft.com/office/drawing/2014/main" id="{FA0611BC-51ED-573F-0572-496AB3BCC261}"/>
                </a:ext>
              </a:extLst>
            </p:cNvPr>
            <p:cNvPicPr>
              <a:picLocks noChangeAspect="1"/>
            </p:cNvPicPr>
            <p:nvPr/>
          </p:nvPicPr>
          <p:blipFill>
            <a:blip r:embed="rId2">
              <a:duotone>
                <a:schemeClr val="bg2">
                  <a:shade val="45000"/>
                  <a:satMod val="135000"/>
                </a:schemeClr>
                <a:prstClr val="white"/>
              </a:duotone>
            </a:blip>
            <a:stretch>
              <a:fillRect/>
            </a:stretch>
          </p:blipFill>
          <p:spPr>
            <a:xfrm>
              <a:off x="2847538" y="3140441"/>
              <a:ext cx="938366" cy="938366"/>
            </a:xfrm>
            <a:prstGeom prst="rect">
              <a:avLst/>
            </a:prstGeom>
          </p:spPr>
        </p:pic>
        <p:pic>
          <p:nvPicPr>
            <p:cNvPr id="18" name="Immagine 17" descr="Immagine che contiene nero, oscurità&#10;&#10;Descrizione generata automaticamente">
              <a:extLst>
                <a:ext uri="{FF2B5EF4-FFF2-40B4-BE49-F238E27FC236}">
                  <a16:creationId xmlns:a16="http://schemas.microsoft.com/office/drawing/2014/main" id="{E927576A-9A40-F8F7-F5E8-9366E6807F08}"/>
                </a:ext>
              </a:extLst>
            </p:cNvPr>
            <p:cNvPicPr>
              <a:picLocks noChangeAspect="1"/>
            </p:cNvPicPr>
            <p:nvPr/>
          </p:nvPicPr>
          <p:blipFill>
            <a:blip r:embed="rId5">
              <a:duotone>
                <a:schemeClr val="bg2">
                  <a:shade val="45000"/>
                  <a:satMod val="135000"/>
                </a:schemeClr>
                <a:prstClr val="white"/>
              </a:duotone>
            </a:blip>
            <a:stretch>
              <a:fillRect/>
            </a:stretch>
          </p:blipFill>
          <p:spPr>
            <a:xfrm>
              <a:off x="3735340" y="3015016"/>
              <a:ext cx="938365" cy="938365"/>
            </a:xfrm>
            <a:prstGeom prst="rect">
              <a:avLst/>
            </a:prstGeom>
          </p:spPr>
        </p:pic>
        <p:pic>
          <p:nvPicPr>
            <p:cNvPr id="19" name="Immagine 18" descr="Immagine che contiene nero, oscurità&#10;&#10;Descrizione generata automaticamente">
              <a:extLst>
                <a:ext uri="{FF2B5EF4-FFF2-40B4-BE49-F238E27FC236}">
                  <a16:creationId xmlns:a16="http://schemas.microsoft.com/office/drawing/2014/main" id="{5DCE4EEC-E525-60CB-5474-F22F30605AFA}"/>
                </a:ext>
              </a:extLst>
            </p:cNvPr>
            <p:cNvPicPr>
              <a:picLocks noChangeAspect="1"/>
            </p:cNvPicPr>
            <p:nvPr/>
          </p:nvPicPr>
          <p:blipFill>
            <a:blip r:embed="rId2">
              <a:duotone>
                <a:schemeClr val="bg2">
                  <a:shade val="45000"/>
                  <a:satMod val="135000"/>
                </a:schemeClr>
                <a:prstClr val="white"/>
              </a:duotone>
            </a:blip>
            <a:stretch>
              <a:fillRect/>
            </a:stretch>
          </p:blipFill>
          <p:spPr>
            <a:xfrm>
              <a:off x="4675837" y="3140441"/>
              <a:ext cx="938366" cy="938366"/>
            </a:xfrm>
            <a:prstGeom prst="rect">
              <a:avLst/>
            </a:prstGeom>
          </p:spPr>
        </p:pic>
        <p:pic>
          <p:nvPicPr>
            <p:cNvPr id="22" name="Immagine 21" descr="Immagine che contiene nero, oscurità&#10;&#10;Descrizione generata automaticamente">
              <a:extLst>
                <a:ext uri="{FF2B5EF4-FFF2-40B4-BE49-F238E27FC236}">
                  <a16:creationId xmlns:a16="http://schemas.microsoft.com/office/drawing/2014/main" id="{D9FDC8D1-683F-DBDF-849D-4DCC212C092F}"/>
                </a:ext>
              </a:extLst>
            </p:cNvPr>
            <p:cNvPicPr>
              <a:picLocks noChangeAspect="1"/>
            </p:cNvPicPr>
            <p:nvPr/>
          </p:nvPicPr>
          <p:blipFill>
            <a:blip r:embed="rId7">
              <a:duotone>
                <a:schemeClr val="bg2">
                  <a:shade val="45000"/>
                  <a:satMod val="135000"/>
                </a:schemeClr>
                <a:prstClr val="white"/>
              </a:duotone>
            </a:blip>
            <a:stretch>
              <a:fillRect/>
            </a:stretch>
          </p:blipFill>
          <p:spPr>
            <a:xfrm>
              <a:off x="5614203" y="3191899"/>
              <a:ext cx="657035" cy="657035"/>
            </a:xfrm>
            <a:prstGeom prst="rect">
              <a:avLst/>
            </a:prstGeom>
          </p:spPr>
        </p:pic>
        <p:pic>
          <p:nvPicPr>
            <p:cNvPr id="24" name="Immagine 23" descr="Immagine che contiene cerchio, schermata, Elementi grafici, design&#10;&#10;Descrizione generata automaticamente">
              <a:extLst>
                <a:ext uri="{FF2B5EF4-FFF2-40B4-BE49-F238E27FC236}">
                  <a16:creationId xmlns:a16="http://schemas.microsoft.com/office/drawing/2014/main" id="{D4D1DD97-BC95-2AFD-41B9-436933B421AA}"/>
                </a:ext>
              </a:extLst>
            </p:cNvPr>
            <p:cNvPicPr>
              <a:picLocks noChangeAspect="1"/>
            </p:cNvPicPr>
            <p:nvPr/>
          </p:nvPicPr>
          <p:blipFill>
            <a:blip r:embed="rId8">
              <a:duotone>
                <a:schemeClr val="bg2">
                  <a:shade val="45000"/>
                  <a:satMod val="135000"/>
                </a:schemeClr>
                <a:prstClr val="white"/>
              </a:duotone>
            </a:blip>
            <a:stretch>
              <a:fillRect/>
            </a:stretch>
          </p:blipFill>
          <p:spPr>
            <a:xfrm>
              <a:off x="6080049" y="2784384"/>
              <a:ext cx="690424" cy="690424"/>
            </a:xfrm>
            <a:prstGeom prst="rect">
              <a:avLst/>
            </a:prstGeom>
          </p:spPr>
        </p:pic>
      </p:grpSp>
    </p:spTree>
    <p:extLst>
      <p:ext uri="{BB962C8B-B14F-4D97-AF65-F5344CB8AC3E}">
        <p14:creationId xmlns:p14="http://schemas.microsoft.com/office/powerpoint/2010/main" val="4016625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A289C0-85C6-95CC-6AEE-AF8C232D1E58}"/>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0E765FBA-0B60-85BF-F376-1ECD3C9D7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5400F6B2-09A0-77D3-148E-BC77FD877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AF9E4E93-BA27-79E5-E784-12698630C295}"/>
              </a:ext>
            </a:extLst>
          </p:cNvPr>
          <p:cNvSpPr txBox="1"/>
          <p:nvPr/>
        </p:nvSpPr>
        <p:spPr>
          <a:xfrm>
            <a:off x="1024128" y="459317"/>
            <a:ext cx="4767072"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rPr>
              <a:t>SCENARIO TIPICO</a:t>
            </a:r>
          </a:p>
        </p:txBody>
      </p:sp>
      <p:cxnSp>
        <p:nvCxnSpPr>
          <p:cNvPr id="32" name="Straight Connector 25">
            <a:extLst>
              <a:ext uri="{FF2B5EF4-FFF2-40B4-BE49-F238E27FC236}">
                <a16:creationId xmlns:a16="http://schemas.microsoft.com/office/drawing/2014/main" id="{53DA3EC2-1B49-1DAF-CE82-9952191EA5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317A3D20-3B70-B029-102D-C2C393C60A72}"/>
              </a:ext>
            </a:extLst>
          </p:cNvPr>
          <p:cNvSpPr txBox="1"/>
          <p:nvPr/>
        </p:nvSpPr>
        <p:spPr>
          <a:xfrm>
            <a:off x="1024129" y="2286000"/>
            <a:ext cx="4389120" cy="1850571"/>
          </a:xfrm>
          <a:prstGeom prst="rect">
            <a:avLst/>
          </a:prstGeom>
        </p:spPr>
        <p:txBody>
          <a:bodyPr vert="horz" lIns="45720" tIns="45720" rIns="45720" bIns="45720" rtlCol="0">
            <a:normAutofit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en-US" dirty="0"/>
              <a:t>3. </a:t>
            </a:r>
            <a:r>
              <a:rPr lang="en-US" dirty="0" err="1"/>
              <a:t>Effetto</a:t>
            </a:r>
            <a:r>
              <a:rPr lang="en-US" dirty="0"/>
              <a:t> </a:t>
            </a:r>
            <a:r>
              <a:rPr lang="en-US" dirty="0" err="1"/>
              <a:t>sul</a:t>
            </a:r>
            <a:r>
              <a:rPr lang="en-US" dirty="0"/>
              <a:t> Server</a:t>
            </a:r>
            <a:br>
              <a:rPr lang="en-US" dirty="0"/>
            </a:br>
            <a:br>
              <a:rPr lang="en-US" dirty="0"/>
            </a:br>
            <a:r>
              <a:rPr lang="it-IT" dirty="0"/>
              <a:t>Il server utilizza una quantità limitata di risorse per gestire connessioni simultanee. Con il progressivo aumento delle richieste da parte dell’</a:t>
            </a:r>
            <a:r>
              <a:rPr lang="it-IT" dirty="0" err="1"/>
              <a:t>attacker</a:t>
            </a:r>
            <a:r>
              <a:rPr lang="it-IT" dirty="0"/>
              <a:t>, tutte le connessioni disponibili vengono occupate.</a:t>
            </a: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p:txBody>
      </p:sp>
      <p:pic>
        <p:nvPicPr>
          <p:cNvPr id="39" name="Immagine 38" descr="Immagine che contiene nero, oscurità&#10;&#10;Descrizione generata automaticamente">
            <a:extLst>
              <a:ext uri="{FF2B5EF4-FFF2-40B4-BE49-F238E27FC236}">
                <a16:creationId xmlns:a16="http://schemas.microsoft.com/office/drawing/2014/main" id="{9BBFAAD3-91D8-D8CD-D398-9EF49EAD5BE0}"/>
              </a:ext>
            </a:extLst>
          </p:cNvPr>
          <p:cNvPicPr>
            <a:picLocks noChangeAspect="1"/>
          </p:cNvPicPr>
          <p:nvPr/>
        </p:nvPicPr>
        <p:blipFill>
          <a:blip r:embed="rId2">
            <a:biLevel thresh="75000"/>
          </a:blip>
          <a:stretch>
            <a:fillRect/>
          </a:stretch>
        </p:blipFill>
        <p:spPr>
          <a:xfrm>
            <a:off x="2631040" y="4546023"/>
            <a:ext cx="833918" cy="833918"/>
          </a:xfrm>
          <a:prstGeom prst="rect">
            <a:avLst/>
          </a:prstGeom>
        </p:spPr>
      </p:pic>
      <p:grpSp>
        <p:nvGrpSpPr>
          <p:cNvPr id="2" name="Gruppo 1">
            <a:extLst>
              <a:ext uri="{FF2B5EF4-FFF2-40B4-BE49-F238E27FC236}">
                <a16:creationId xmlns:a16="http://schemas.microsoft.com/office/drawing/2014/main" id="{872AA773-558D-E0D0-CA26-AF0C7B88C21F}"/>
              </a:ext>
            </a:extLst>
          </p:cNvPr>
          <p:cNvGrpSpPr/>
          <p:nvPr/>
        </p:nvGrpSpPr>
        <p:grpSpPr>
          <a:xfrm>
            <a:off x="7056116" y="3059102"/>
            <a:ext cx="4175759" cy="742888"/>
            <a:chOff x="279703" y="2784384"/>
            <a:chExt cx="6490770" cy="1294423"/>
          </a:xfrm>
        </p:grpSpPr>
        <p:pic>
          <p:nvPicPr>
            <p:cNvPr id="13" name="Immagine 12" descr="Immagine che contiene nero, oscurità&#10;&#10;Descrizione generata automaticamente">
              <a:extLst>
                <a:ext uri="{FF2B5EF4-FFF2-40B4-BE49-F238E27FC236}">
                  <a16:creationId xmlns:a16="http://schemas.microsoft.com/office/drawing/2014/main" id="{E7DFAF21-6131-6279-47FF-634156DFACCC}"/>
                </a:ext>
              </a:extLst>
            </p:cNvPr>
            <p:cNvPicPr>
              <a:picLocks noChangeAspect="1"/>
            </p:cNvPicPr>
            <p:nvPr/>
          </p:nvPicPr>
          <p:blipFill>
            <a:blip r:embed="rId3">
              <a:alphaModFix/>
              <a:duotone>
                <a:schemeClr val="bg2">
                  <a:shade val="45000"/>
                  <a:satMod val="135000"/>
                </a:schemeClr>
                <a:prstClr val="white"/>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p:blipFill>
          <p:spPr>
            <a:xfrm>
              <a:off x="279703" y="3012885"/>
              <a:ext cx="940496" cy="940496"/>
            </a:xfrm>
            <a:prstGeom prst="rect">
              <a:avLst/>
            </a:prstGeom>
            <a:noFill/>
            <a:ln>
              <a:noFill/>
            </a:ln>
          </p:spPr>
        </p:pic>
        <p:pic>
          <p:nvPicPr>
            <p:cNvPr id="15" name="Immagine 14" descr="Immagine che contiene nero, oscurità&#10;&#10;Descrizione generata automaticamente">
              <a:extLst>
                <a:ext uri="{FF2B5EF4-FFF2-40B4-BE49-F238E27FC236}">
                  <a16:creationId xmlns:a16="http://schemas.microsoft.com/office/drawing/2014/main" id="{A106712C-AAD4-CEAA-A034-5E4522E1F0E4}"/>
                </a:ext>
              </a:extLst>
            </p:cNvPr>
            <p:cNvPicPr>
              <a:picLocks noChangeAspect="1"/>
            </p:cNvPicPr>
            <p:nvPr/>
          </p:nvPicPr>
          <p:blipFill>
            <a:blip r:embed="rId5">
              <a:duotone>
                <a:schemeClr val="bg2">
                  <a:shade val="45000"/>
                  <a:satMod val="135000"/>
                </a:schemeClr>
                <a:prstClr val="white"/>
              </a:duotone>
            </a:blip>
            <a:stretch>
              <a:fillRect/>
            </a:stretch>
          </p:blipFill>
          <p:spPr>
            <a:xfrm>
              <a:off x="1074062" y="3140441"/>
              <a:ext cx="938366" cy="938366"/>
            </a:xfrm>
            <a:prstGeom prst="rect">
              <a:avLst/>
            </a:prstGeom>
          </p:spPr>
        </p:pic>
        <p:pic>
          <p:nvPicPr>
            <p:cNvPr id="16" name="Immagine 15" descr="Immagine che contiene nero, oscurità&#10;&#10;Descrizione generata automaticamente">
              <a:extLst>
                <a:ext uri="{FF2B5EF4-FFF2-40B4-BE49-F238E27FC236}">
                  <a16:creationId xmlns:a16="http://schemas.microsoft.com/office/drawing/2014/main" id="{F3C9F9EE-AE52-25B0-A003-52B98B931B27}"/>
                </a:ext>
              </a:extLst>
            </p:cNvPr>
            <p:cNvPicPr>
              <a:picLocks noChangeAspect="1"/>
            </p:cNvPicPr>
            <p:nvPr/>
          </p:nvPicPr>
          <p:blipFill>
            <a:blip r:embed="rId6">
              <a:duotone>
                <a:schemeClr val="bg2">
                  <a:shade val="45000"/>
                  <a:satMod val="135000"/>
                </a:schemeClr>
                <a:prstClr val="white"/>
              </a:duotone>
            </a:blip>
            <a:stretch>
              <a:fillRect/>
            </a:stretch>
          </p:blipFill>
          <p:spPr>
            <a:xfrm flipH="1">
              <a:off x="1959735" y="3076767"/>
              <a:ext cx="940496" cy="940496"/>
            </a:xfrm>
            <a:prstGeom prst="rect">
              <a:avLst/>
            </a:prstGeom>
          </p:spPr>
        </p:pic>
        <p:pic>
          <p:nvPicPr>
            <p:cNvPr id="17" name="Immagine 16" descr="Immagine che contiene nero, oscurità&#10;&#10;Descrizione generata automaticamente">
              <a:extLst>
                <a:ext uri="{FF2B5EF4-FFF2-40B4-BE49-F238E27FC236}">
                  <a16:creationId xmlns:a16="http://schemas.microsoft.com/office/drawing/2014/main" id="{2047A872-0C24-B4A3-6E14-CEA500B8FB24}"/>
                </a:ext>
              </a:extLst>
            </p:cNvPr>
            <p:cNvPicPr>
              <a:picLocks noChangeAspect="1"/>
            </p:cNvPicPr>
            <p:nvPr/>
          </p:nvPicPr>
          <p:blipFill>
            <a:blip r:embed="rId5">
              <a:duotone>
                <a:schemeClr val="bg2">
                  <a:shade val="45000"/>
                  <a:satMod val="135000"/>
                </a:schemeClr>
                <a:prstClr val="white"/>
              </a:duotone>
            </a:blip>
            <a:stretch>
              <a:fillRect/>
            </a:stretch>
          </p:blipFill>
          <p:spPr>
            <a:xfrm>
              <a:off x="2847538" y="3140441"/>
              <a:ext cx="938366" cy="938366"/>
            </a:xfrm>
            <a:prstGeom prst="rect">
              <a:avLst/>
            </a:prstGeom>
          </p:spPr>
        </p:pic>
        <p:pic>
          <p:nvPicPr>
            <p:cNvPr id="18" name="Immagine 17" descr="Immagine che contiene nero, oscurità&#10;&#10;Descrizione generata automaticamente">
              <a:extLst>
                <a:ext uri="{FF2B5EF4-FFF2-40B4-BE49-F238E27FC236}">
                  <a16:creationId xmlns:a16="http://schemas.microsoft.com/office/drawing/2014/main" id="{9D095A3D-2378-32C1-E37B-8E01315A2C16}"/>
                </a:ext>
              </a:extLst>
            </p:cNvPr>
            <p:cNvPicPr>
              <a:picLocks noChangeAspect="1"/>
            </p:cNvPicPr>
            <p:nvPr/>
          </p:nvPicPr>
          <p:blipFill>
            <a:blip r:embed="rId2">
              <a:duotone>
                <a:schemeClr val="bg2">
                  <a:shade val="45000"/>
                  <a:satMod val="135000"/>
                </a:schemeClr>
                <a:prstClr val="white"/>
              </a:duotone>
            </a:blip>
            <a:stretch>
              <a:fillRect/>
            </a:stretch>
          </p:blipFill>
          <p:spPr>
            <a:xfrm>
              <a:off x="3735340" y="3015016"/>
              <a:ext cx="938365" cy="938365"/>
            </a:xfrm>
            <a:prstGeom prst="rect">
              <a:avLst/>
            </a:prstGeom>
          </p:spPr>
        </p:pic>
        <p:pic>
          <p:nvPicPr>
            <p:cNvPr id="19" name="Immagine 18" descr="Immagine che contiene nero, oscurità&#10;&#10;Descrizione generata automaticamente">
              <a:extLst>
                <a:ext uri="{FF2B5EF4-FFF2-40B4-BE49-F238E27FC236}">
                  <a16:creationId xmlns:a16="http://schemas.microsoft.com/office/drawing/2014/main" id="{92FAA563-D14E-7093-8947-946C344619B9}"/>
                </a:ext>
              </a:extLst>
            </p:cNvPr>
            <p:cNvPicPr>
              <a:picLocks noChangeAspect="1"/>
            </p:cNvPicPr>
            <p:nvPr/>
          </p:nvPicPr>
          <p:blipFill>
            <a:blip r:embed="rId5">
              <a:duotone>
                <a:schemeClr val="bg2">
                  <a:shade val="45000"/>
                  <a:satMod val="135000"/>
                </a:schemeClr>
                <a:prstClr val="white"/>
              </a:duotone>
            </a:blip>
            <a:stretch>
              <a:fillRect/>
            </a:stretch>
          </p:blipFill>
          <p:spPr>
            <a:xfrm>
              <a:off x="4675837" y="3140441"/>
              <a:ext cx="938366" cy="938366"/>
            </a:xfrm>
            <a:prstGeom prst="rect">
              <a:avLst/>
            </a:prstGeom>
          </p:spPr>
        </p:pic>
        <p:pic>
          <p:nvPicPr>
            <p:cNvPr id="20" name="Immagine 19" descr="Immagine che contiene nero, oscurità&#10;&#10;Descrizione generata automaticamente">
              <a:extLst>
                <a:ext uri="{FF2B5EF4-FFF2-40B4-BE49-F238E27FC236}">
                  <a16:creationId xmlns:a16="http://schemas.microsoft.com/office/drawing/2014/main" id="{A46F43EF-023B-4835-40F6-B00DED75599D}"/>
                </a:ext>
              </a:extLst>
            </p:cNvPr>
            <p:cNvPicPr>
              <a:picLocks noChangeAspect="1"/>
            </p:cNvPicPr>
            <p:nvPr/>
          </p:nvPicPr>
          <p:blipFill>
            <a:blip r:embed="rId7">
              <a:duotone>
                <a:schemeClr val="bg2">
                  <a:shade val="45000"/>
                  <a:satMod val="135000"/>
                </a:schemeClr>
                <a:prstClr val="white"/>
              </a:duotone>
            </a:blip>
            <a:stretch>
              <a:fillRect/>
            </a:stretch>
          </p:blipFill>
          <p:spPr>
            <a:xfrm>
              <a:off x="5614203" y="3191899"/>
              <a:ext cx="657035" cy="657035"/>
            </a:xfrm>
            <a:prstGeom prst="rect">
              <a:avLst/>
            </a:prstGeom>
          </p:spPr>
        </p:pic>
        <p:pic>
          <p:nvPicPr>
            <p:cNvPr id="21" name="Immagine 20" descr="Immagine che contiene cerchio, schermata, Elementi grafici, design&#10;&#10;Descrizione generata automaticamente">
              <a:extLst>
                <a:ext uri="{FF2B5EF4-FFF2-40B4-BE49-F238E27FC236}">
                  <a16:creationId xmlns:a16="http://schemas.microsoft.com/office/drawing/2014/main" id="{4B12D7FD-63D8-3228-B851-3AA9542E980A}"/>
                </a:ext>
              </a:extLst>
            </p:cNvPr>
            <p:cNvPicPr>
              <a:picLocks noChangeAspect="1"/>
            </p:cNvPicPr>
            <p:nvPr/>
          </p:nvPicPr>
          <p:blipFill>
            <a:blip r:embed="rId8">
              <a:duotone>
                <a:schemeClr val="bg2">
                  <a:shade val="45000"/>
                  <a:satMod val="135000"/>
                </a:schemeClr>
                <a:prstClr val="white"/>
              </a:duotone>
            </a:blip>
            <a:stretch>
              <a:fillRect/>
            </a:stretch>
          </p:blipFill>
          <p:spPr>
            <a:xfrm>
              <a:off x="6080049" y="2784384"/>
              <a:ext cx="690424" cy="690424"/>
            </a:xfrm>
            <a:prstGeom prst="rect">
              <a:avLst/>
            </a:prstGeom>
          </p:spPr>
        </p:pic>
      </p:grpSp>
    </p:spTree>
    <p:extLst>
      <p:ext uri="{BB962C8B-B14F-4D97-AF65-F5344CB8AC3E}">
        <p14:creationId xmlns:p14="http://schemas.microsoft.com/office/powerpoint/2010/main" val="3932988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37C1FE-0B83-0617-1925-E2702D981DEC}"/>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E935102E-8615-77C8-66A3-F77167CC32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830D5393-3BBF-C2F4-F3CB-8CB3FC15D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89B60E1D-0B06-40BE-DDCC-C1AE7D7128DB}"/>
              </a:ext>
            </a:extLst>
          </p:cNvPr>
          <p:cNvSpPr txBox="1"/>
          <p:nvPr/>
        </p:nvSpPr>
        <p:spPr>
          <a:xfrm>
            <a:off x="1024128" y="459317"/>
            <a:ext cx="4767072"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rPr>
              <a:t>SCENARIO TIPICO</a:t>
            </a:r>
          </a:p>
        </p:txBody>
      </p:sp>
      <p:cxnSp>
        <p:nvCxnSpPr>
          <p:cNvPr id="32" name="Straight Connector 25">
            <a:extLst>
              <a:ext uri="{FF2B5EF4-FFF2-40B4-BE49-F238E27FC236}">
                <a16:creationId xmlns:a16="http://schemas.microsoft.com/office/drawing/2014/main" id="{06CF5B55-F118-5B35-5C47-4FBBAE4C8A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4C5B902F-C852-44F7-678F-9DB70DA797EB}"/>
              </a:ext>
            </a:extLst>
          </p:cNvPr>
          <p:cNvSpPr txBox="1"/>
          <p:nvPr/>
        </p:nvSpPr>
        <p:spPr>
          <a:xfrm>
            <a:off x="1024129" y="2286000"/>
            <a:ext cx="4389120" cy="1850571"/>
          </a:xfrm>
          <a:prstGeom prst="rect">
            <a:avLst/>
          </a:prstGeom>
        </p:spPr>
        <p:txBody>
          <a:bodyPr vert="horz" lIns="45720" tIns="45720" rIns="45720" bIns="45720" rtlCol="0">
            <a:normAutofit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en-US" dirty="0"/>
              <a:t>4. </a:t>
            </a:r>
            <a:r>
              <a:rPr lang="en-US" dirty="0" err="1"/>
              <a:t>Impatto</a:t>
            </a:r>
            <a:r>
              <a:rPr lang="en-US" dirty="0"/>
              <a:t> </a:t>
            </a:r>
            <a:r>
              <a:rPr lang="en-US" dirty="0" err="1"/>
              <a:t>sul</a:t>
            </a:r>
            <a:r>
              <a:rPr lang="en-US" dirty="0"/>
              <a:t> Client </a:t>
            </a:r>
            <a:r>
              <a:rPr lang="en-US" dirty="0" err="1"/>
              <a:t>legittimo</a:t>
            </a:r>
            <a:br>
              <a:rPr lang="en-US" dirty="0"/>
            </a:br>
            <a:br>
              <a:rPr lang="en-US" dirty="0"/>
            </a:br>
            <a:r>
              <a:rPr lang="it-IT" dirty="0"/>
              <a:t>Nel momento in cui un client legittimo tenda di accede al servizio offerto. Il server non è in grado di rispondere. L’utente percepisce il servizio come lento o completamente offline.</a:t>
            </a:r>
          </a:p>
          <a:p>
            <a:pPr marL="342900" indent="-342900" defTabSz="914400">
              <a:lnSpc>
                <a:spcPct val="90000"/>
              </a:lnSpc>
              <a:spcAft>
                <a:spcPts val="600"/>
              </a:spcAft>
              <a:buClr>
                <a:schemeClr val="accent1"/>
              </a:buClr>
              <a:buFont typeface="Arial" panose="020B0604020202020204" pitchFamily="34" charset="0"/>
              <a:buChar char="•"/>
            </a:pPr>
            <a:endParaRPr lang="en-US" dirty="0"/>
          </a:p>
          <a:p>
            <a:pPr marL="342900" indent="-342900" defTabSz="914400">
              <a:lnSpc>
                <a:spcPct val="90000"/>
              </a:lnSpc>
              <a:spcAft>
                <a:spcPts val="600"/>
              </a:spcAft>
              <a:buClr>
                <a:schemeClr val="accent1"/>
              </a:buClr>
              <a:buFont typeface="Arial" panose="020B0604020202020204" pitchFamily="34" charset="0"/>
              <a:buChar char="•"/>
            </a:pPr>
            <a:endParaRPr lang="en-US" dirty="0"/>
          </a:p>
        </p:txBody>
      </p:sp>
      <p:grpSp>
        <p:nvGrpSpPr>
          <p:cNvPr id="4" name="Gruppo 3">
            <a:extLst>
              <a:ext uri="{FF2B5EF4-FFF2-40B4-BE49-F238E27FC236}">
                <a16:creationId xmlns:a16="http://schemas.microsoft.com/office/drawing/2014/main" id="{647981A9-4CB2-CDD2-2090-E5C1E8E5458A}"/>
              </a:ext>
            </a:extLst>
          </p:cNvPr>
          <p:cNvGrpSpPr/>
          <p:nvPr/>
        </p:nvGrpSpPr>
        <p:grpSpPr>
          <a:xfrm>
            <a:off x="7056116" y="3059102"/>
            <a:ext cx="4175759" cy="742888"/>
            <a:chOff x="279703" y="2784384"/>
            <a:chExt cx="6490770" cy="1294423"/>
          </a:xfrm>
        </p:grpSpPr>
        <p:pic>
          <p:nvPicPr>
            <p:cNvPr id="5" name="Immagine 4" descr="Immagine che contiene nero, oscurità&#10;&#10;Descrizione generata automaticamente">
              <a:extLst>
                <a:ext uri="{FF2B5EF4-FFF2-40B4-BE49-F238E27FC236}">
                  <a16:creationId xmlns:a16="http://schemas.microsoft.com/office/drawing/2014/main" id="{484DB2F7-F0AB-2E3C-20B4-712968CC3264}"/>
                </a:ext>
              </a:extLst>
            </p:cNvPr>
            <p:cNvPicPr>
              <a:picLocks noChangeAspect="1"/>
            </p:cNvPicPr>
            <p:nvPr/>
          </p:nvPicPr>
          <p:blipFill>
            <a:blip r:embed="rId2">
              <a:alphaModFix/>
              <a:duotone>
                <a:schemeClr val="bg2">
                  <a:shade val="45000"/>
                  <a:satMod val="135000"/>
                </a:schemeClr>
                <a:prstClr val="white"/>
              </a:duotone>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tretch>
              <a:fillRect/>
            </a:stretch>
          </p:blipFill>
          <p:spPr>
            <a:xfrm>
              <a:off x="279703" y="3012885"/>
              <a:ext cx="940496" cy="940496"/>
            </a:xfrm>
            <a:prstGeom prst="rect">
              <a:avLst/>
            </a:prstGeom>
            <a:noFill/>
            <a:ln>
              <a:noFill/>
            </a:ln>
          </p:spPr>
        </p:pic>
        <p:pic>
          <p:nvPicPr>
            <p:cNvPr id="6" name="Immagine 5" descr="Immagine che contiene nero, oscurità&#10;&#10;Descrizione generata automaticamente">
              <a:extLst>
                <a:ext uri="{FF2B5EF4-FFF2-40B4-BE49-F238E27FC236}">
                  <a16:creationId xmlns:a16="http://schemas.microsoft.com/office/drawing/2014/main" id="{E3AEF804-F675-C995-4BB5-5B27F3C4ED53}"/>
                </a:ext>
              </a:extLst>
            </p:cNvPr>
            <p:cNvPicPr>
              <a:picLocks noChangeAspect="1"/>
            </p:cNvPicPr>
            <p:nvPr/>
          </p:nvPicPr>
          <p:blipFill>
            <a:blip r:embed="rId4">
              <a:duotone>
                <a:schemeClr val="bg2">
                  <a:shade val="45000"/>
                  <a:satMod val="135000"/>
                </a:schemeClr>
                <a:prstClr val="white"/>
              </a:duotone>
            </a:blip>
            <a:stretch>
              <a:fillRect/>
            </a:stretch>
          </p:blipFill>
          <p:spPr>
            <a:xfrm>
              <a:off x="1074062" y="3140441"/>
              <a:ext cx="938366" cy="938366"/>
            </a:xfrm>
            <a:prstGeom prst="rect">
              <a:avLst/>
            </a:prstGeom>
          </p:spPr>
        </p:pic>
        <p:pic>
          <p:nvPicPr>
            <p:cNvPr id="7" name="Immagine 6" descr="Immagine che contiene nero, oscurità&#10;&#10;Descrizione generata automaticamente">
              <a:extLst>
                <a:ext uri="{FF2B5EF4-FFF2-40B4-BE49-F238E27FC236}">
                  <a16:creationId xmlns:a16="http://schemas.microsoft.com/office/drawing/2014/main" id="{371AFABF-A465-4498-9CCD-180C1FC7923A}"/>
                </a:ext>
              </a:extLst>
            </p:cNvPr>
            <p:cNvPicPr>
              <a:picLocks noChangeAspect="1"/>
            </p:cNvPicPr>
            <p:nvPr/>
          </p:nvPicPr>
          <p:blipFill>
            <a:blip r:embed="rId5">
              <a:duotone>
                <a:schemeClr val="bg2">
                  <a:shade val="45000"/>
                  <a:satMod val="135000"/>
                </a:schemeClr>
                <a:prstClr val="white"/>
              </a:duotone>
            </a:blip>
            <a:stretch>
              <a:fillRect/>
            </a:stretch>
          </p:blipFill>
          <p:spPr>
            <a:xfrm flipH="1">
              <a:off x="1959735" y="3076767"/>
              <a:ext cx="940496" cy="940496"/>
            </a:xfrm>
            <a:prstGeom prst="rect">
              <a:avLst/>
            </a:prstGeom>
          </p:spPr>
        </p:pic>
        <p:pic>
          <p:nvPicPr>
            <p:cNvPr id="9" name="Immagine 8" descr="Immagine che contiene nero, oscurità&#10;&#10;Descrizione generata automaticamente">
              <a:extLst>
                <a:ext uri="{FF2B5EF4-FFF2-40B4-BE49-F238E27FC236}">
                  <a16:creationId xmlns:a16="http://schemas.microsoft.com/office/drawing/2014/main" id="{C85BB454-BF54-79EC-4122-35BAF8B4D95C}"/>
                </a:ext>
              </a:extLst>
            </p:cNvPr>
            <p:cNvPicPr>
              <a:picLocks noChangeAspect="1"/>
            </p:cNvPicPr>
            <p:nvPr/>
          </p:nvPicPr>
          <p:blipFill>
            <a:blip r:embed="rId4">
              <a:duotone>
                <a:schemeClr val="bg2">
                  <a:shade val="45000"/>
                  <a:satMod val="135000"/>
                </a:schemeClr>
                <a:prstClr val="white"/>
              </a:duotone>
            </a:blip>
            <a:stretch>
              <a:fillRect/>
            </a:stretch>
          </p:blipFill>
          <p:spPr>
            <a:xfrm>
              <a:off x="2847538" y="3140441"/>
              <a:ext cx="938366" cy="938366"/>
            </a:xfrm>
            <a:prstGeom prst="rect">
              <a:avLst/>
            </a:prstGeom>
          </p:spPr>
        </p:pic>
        <p:pic>
          <p:nvPicPr>
            <p:cNvPr id="10" name="Immagine 9" descr="Immagine che contiene nero, oscurità&#10;&#10;Descrizione generata automaticamente">
              <a:extLst>
                <a:ext uri="{FF2B5EF4-FFF2-40B4-BE49-F238E27FC236}">
                  <a16:creationId xmlns:a16="http://schemas.microsoft.com/office/drawing/2014/main" id="{CA39B0CB-4171-801B-CB8F-BFD6545E1C31}"/>
                </a:ext>
              </a:extLst>
            </p:cNvPr>
            <p:cNvPicPr>
              <a:picLocks noChangeAspect="1"/>
            </p:cNvPicPr>
            <p:nvPr/>
          </p:nvPicPr>
          <p:blipFill>
            <a:blip r:embed="rId6">
              <a:duotone>
                <a:schemeClr val="bg2">
                  <a:shade val="45000"/>
                  <a:satMod val="135000"/>
                </a:schemeClr>
                <a:prstClr val="white"/>
              </a:duotone>
            </a:blip>
            <a:stretch>
              <a:fillRect/>
            </a:stretch>
          </p:blipFill>
          <p:spPr>
            <a:xfrm>
              <a:off x="3735340" y="3015016"/>
              <a:ext cx="938365" cy="938365"/>
            </a:xfrm>
            <a:prstGeom prst="rect">
              <a:avLst/>
            </a:prstGeom>
          </p:spPr>
        </p:pic>
        <p:pic>
          <p:nvPicPr>
            <p:cNvPr id="11" name="Immagine 10" descr="Immagine che contiene nero, oscurità&#10;&#10;Descrizione generata automaticamente">
              <a:extLst>
                <a:ext uri="{FF2B5EF4-FFF2-40B4-BE49-F238E27FC236}">
                  <a16:creationId xmlns:a16="http://schemas.microsoft.com/office/drawing/2014/main" id="{21EB03C1-171C-8491-EBB3-1BDF18C9A4A0}"/>
                </a:ext>
              </a:extLst>
            </p:cNvPr>
            <p:cNvPicPr>
              <a:picLocks noChangeAspect="1"/>
            </p:cNvPicPr>
            <p:nvPr/>
          </p:nvPicPr>
          <p:blipFill>
            <a:blip r:embed="rId4">
              <a:duotone>
                <a:schemeClr val="bg2">
                  <a:shade val="45000"/>
                  <a:satMod val="135000"/>
                </a:schemeClr>
                <a:prstClr val="white"/>
              </a:duotone>
            </a:blip>
            <a:stretch>
              <a:fillRect/>
            </a:stretch>
          </p:blipFill>
          <p:spPr>
            <a:xfrm>
              <a:off x="4675837" y="3140441"/>
              <a:ext cx="938366" cy="938366"/>
            </a:xfrm>
            <a:prstGeom prst="rect">
              <a:avLst/>
            </a:prstGeom>
          </p:spPr>
        </p:pic>
        <p:pic>
          <p:nvPicPr>
            <p:cNvPr id="12" name="Immagine 11" descr="Immagine che contiene nero, oscurità&#10;&#10;Descrizione generata automaticamente">
              <a:extLst>
                <a:ext uri="{FF2B5EF4-FFF2-40B4-BE49-F238E27FC236}">
                  <a16:creationId xmlns:a16="http://schemas.microsoft.com/office/drawing/2014/main" id="{8D5F455B-4C45-ABFA-900B-9CD6731C2CD6}"/>
                </a:ext>
              </a:extLst>
            </p:cNvPr>
            <p:cNvPicPr>
              <a:picLocks noChangeAspect="1"/>
            </p:cNvPicPr>
            <p:nvPr/>
          </p:nvPicPr>
          <p:blipFill>
            <a:blip r:embed="rId7">
              <a:duotone>
                <a:schemeClr val="bg2">
                  <a:shade val="45000"/>
                  <a:satMod val="135000"/>
                </a:schemeClr>
                <a:prstClr val="white"/>
              </a:duotone>
            </a:blip>
            <a:stretch>
              <a:fillRect/>
            </a:stretch>
          </p:blipFill>
          <p:spPr>
            <a:xfrm>
              <a:off x="5614203" y="3191899"/>
              <a:ext cx="657035" cy="657035"/>
            </a:xfrm>
            <a:prstGeom prst="rect">
              <a:avLst/>
            </a:prstGeom>
          </p:spPr>
        </p:pic>
        <p:pic>
          <p:nvPicPr>
            <p:cNvPr id="14" name="Immagine 13" descr="Immagine che contiene cerchio, schermata, Elementi grafici, design&#10;&#10;Descrizione generata automaticamente">
              <a:extLst>
                <a:ext uri="{FF2B5EF4-FFF2-40B4-BE49-F238E27FC236}">
                  <a16:creationId xmlns:a16="http://schemas.microsoft.com/office/drawing/2014/main" id="{7A103882-F78F-F87A-2AD9-373F15A0E83E}"/>
                </a:ext>
              </a:extLst>
            </p:cNvPr>
            <p:cNvPicPr>
              <a:picLocks noChangeAspect="1"/>
            </p:cNvPicPr>
            <p:nvPr/>
          </p:nvPicPr>
          <p:blipFill>
            <a:blip r:embed="rId8">
              <a:duotone>
                <a:schemeClr val="bg2">
                  <a:shade val="45000"/>
                  <a:satMod val="135000"/>
                </a:schemeClr>
                <a:prstClr val="white"/>
              </a:duotone>
            </a:blip>
            <a:stretch>
              <a:fillRect/>
            </a:stretch>
          </p:blipFill>
          <p:spPr>
            <a:xfrm>
              <a:off x="6080049" y="2784384"/>
              <a:ext cx="690424" cy="690424"/>
            </a:xfrm>
            <a:prstGeom prst="rect">
              <a:avLst/>
            </a:prstGeom>
          </p:spPr>
        </p:pic>
      </p:grpSp>
      <p:grpSp>
        <p:nvGrpSpPr>
          <p:cNvPr id="48" name="Gruppo 47">
            <a:extLst>
              <a:ext uri="{FF2B5EF4-FFF2-40B4-BE49-F238E27FC236}">
                <a16:creationId xmlns:a16="http://schemas.microsoft.com/office/drawing/2014/main" id="{0AD1EFF9-57C2-D2E7-D077-ABDAE84094EA}"/>
              </a:ext>
            </a:extLst>
          </p:cNvPr>
          <p:cNvGrpSpPr/>
          <p:nvPr/>
        </p:nvGrpSpPr>
        <p:grpSpPr>
          <a:xfrm>
            <a:off x="2829529" y="4269478"/>
            <a:ext cx="1156270" cy="1064550"/>
            <a:chOff x="5614203" y="2784384"/>
            <a:chExt cx="1156270" cy="1064550"/>
          </a:xfrm>
        </p:grpSpPr>
        <p:pic>
          <p:nvPicPr>
            <p:cNvPr id="55" name="Immagine 54" descr="Immagine che contiene nero, oscurità&#10;&#10;Descrizione generata automaticamente">
              <a:extLst>
                <a:ext uri="{FF2B5EF4-FFF2-40B4-BE49-F238E27FC236}">
                  <a16:creationId xmlns:a16="http://schemas.microsoft.com/office/drawing/2014/main" id="{A798071D-DA5B-AA36-23D3-1EACC4A842C2}"/>
                </a:ext>
              </a:extLst>
            </p:cNvPr>
            <p:cNvPicPr>
              <a:picLocks noChangeAspect="1"/>
            </p:cNvPicPr>
            <p:nvPr/>
          </p:nvPicPr>
          <p:blipFill>
            <a:blip r:embed="rId7">
              <a:biLevel thresh="75000"/>
            </a:blip>
            <a:stretch>
              <a:fillRect/>
            </a:stretch>
          </p:blipFill>
          <p:spPr>
            <a:xfrm>
              <a:off x="5614203" y="3191899"/>
              <a:ext cx="657035" cy="657035"/>
            </a:xfrm>
            <a:prstGeom prst="rect">
              <a:avLst/>
            </a:prstGeom>
          </p:spPr>
        </p:pic>
        <p:pic>
          <p:nvPicPr>
            <p:cNvPr id="56" name="Immagine 55" descr="Immagine che contiene cerchio, schermata, Elementi grafici, design&#10;&#10;Descrizione generata automaticamente">
              <a:extLst>
                <a:ext uri="{FF2B5EF4-FFF2-40B4-BE49-F238E27FC236}">
                  <a16:creationId xmlns:a16="http://schemas.microsoft.com/office/drawing/2014/main" id="{FF02C2E2-877D-9927-B4C5-8587BD81D569}"/>
                </a:ext>
              </a:extLst>
            </p:cNvPr>
            <p:cNvPicPr>
              <a:picLocks noChangeAspect="1"/>
            </p:cNvPicPr>
            <p:nvPr/>
          </p:nvPicPr>
          <p:blipFill>
            <a:blip r:embed="rId8">
              <a:biLevel thresh="75000"/>
            </a:blip>
            <a:stretch>
              <a:fillRect/>
            </a:stretch>
          </p:blipFill>
          <p:spPr>
            <a:xfrm>
              <a:off x="6080049" y="2784384"/>
              <a:ext cx="690424" cy="690424"/>
            </a:xfrm>
            <a:prstGeom prst="rect">
              <a:avLst/>
            </a:prstGeom>
          </p:spPr>
        </p:pic>
      </p:grpSp>
    </p:spTree>
    <p:extLst>
      <p:ext uri="{BB962C8B-B14F-4D97-AF65-F5344CB8AC3E}">
        <p14:creationId xmlns:p14="http://schemas.microsoft.com/office/powerpoint/2010/main" val="670402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0203F0-76F2-F09C-211B-748D18257DB1}"/>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90BC96F2-C06A-26B6-9802-C5C6F9F82A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63649D73-0F8C-7305-E0CB-82EE6CF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C7248837-3188-D529-4AE7-D29602453874}"/>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algn="ct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VULNERABILITà</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SFRUTTATA</a:t>
            </a:r>
          </a:p>
        </p:txBody>
      </p:sp>
      <p:cxnSp>
        <p:nvCxnSpPr>
          <p:cNvPr id="32" name="Straight Connector 25">
            <a:extLst>
              <a:ext uri="{FF2B5EF4-FFF2-40B4-BE49-F238E27FC236}">
                <a16:creationId xmlns:a16="http://schemas.microsoft.com/office/drawing/2014/main" id="{E006F5B8-F610-E1D0-3D39-C755048A6A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FFC422E0-CA80-3E36-E233-B50BF710E635}"/>
              </a:ext>
            </a:extLst>
          </p:cNvPr>
          <p:cNvSpPr txBox="1"/>
          <p:nvPr/>
        </p:nvSpPr>
        <p:spPr>
          <a:xfrm>
            <a:off x="1024129" y="2286000"/>
            <a:ext cx="4389120" cy="3931920"/>
          </a:xfrm>
          <a:prstGeom prst="rect">
            <a:avLst/>
          </a:prstGeom>
        </p:spPr>
        <p:txBody>
          <a:bodyPr vert="horz" lIns="45720" tIns="45720" rIns="45720" bIns="45720" rtlCol="0">
            <a:normAutofit fontScale="92500"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L’attacco </a:t>
            </a:r>
            <a:r>
              <a:rPr lang="it-IT" dirty="0" err="1"/>
              <a:t>SlowLoris</a:t>
            </a:r>
            <a:r>
              <a:rPr lang="it-IT" dirty="0"/>
              <a:t> sfrutta delle caratteristiche di un protocollo al livello applicazione dello </a:t>
            </a:r>
            <a:r>
              <a:rPr lang="it-IT" dirty="0" err="1"/>
              <a:t>stack</a:t>
            </a:r>
            <a:r>
              <a:rPr lang="it-IT" dirty="0"/>
              <a:t> TCP/IP: il protocollo HTTP. </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Le connessioni HTTP sono </a:t>
            </a:r>
            <a:r>
              <a:rPr lang="it-IT" dirty="0" err="1"/>
              <a:t>stateless</a:t>
            </a:r>
            <a:r>
              <a:rPr lang="it-IT" dirty="0"/>
              <a:t>: Ogni richiesta viene trattata in maniera indipendente dalle altre.</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Nessun controllo sul contenuto del pacchetto: HTTP supporta messaggi frammentati. </a:t>
            </a:r>
            <a:r>
              <a:rPr lang="it-IT" dirty="0" err="1"/>
              <a:t>SlowLoris</a:t>
            </a:r>
            <a:r>
              <a:rPr lang="it-IT" dirty="0"/>
              <a:t> invia proprio questi pacchetti aprendo connessioni senza chiuderle mai.</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HTTP non riconosce che questi pacchetti sono malevoli. </a:t>
            </a:r>
          </a:p>
        </p:txBody>
      </p:sp>
      <p:pic>
        <p:nvPicPr>
          <p:cNvPr id="2" name="Immagine 1" descr="Immagine che contiene testo, Carattere, Elementi grafici, schermata&#10;&#10;Descrizione generata automaticamente">
            <a:extLst>
              <a:ext uri="{FF2B5EF4-FFF2-40B4-BE49-F238E27FC236}">
                <a16:creationId xmlns:a16="http://schemas.microsoft.com/office/drawing/2014/main" id="{945C46B9-3713-D117-A9B4-F7EAB8265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6116" y="2751206"/>
            <a:ext cx="4175762" cy="1358680"/>
          </a:xfrm>
          <a:prstGeom prst="rect">
            <a:avLst/>
          </a:prstGeom>
        </p:spPr>
      </p:pic>
    </p:spTree>
    <p:extLst>
      <p:ext uri="{BB962C8B-B14F-4D97-AF65-F5344CB8AC3E}">
        <p14:creationId xmlns:p14="http://schemas.microsoft.com/office/powerpoint/2010/main" val="138515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6F5EBC-6626-4EE3-7424-30D4AB99238A}"/>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F1950CF8-078A-19DA-152C-129C4BB3D4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3C0F0AD8-AF3D-6964-5134-F91685F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25">
            <a:extLst>
              <a:ext uri="{FF2B5EF4-FFF2-40B4-BE49-F238E27FC236}">
                <a16:creationId xmlns:a16="http://schemas.microsoft.com/office/drawing/2014/main" id="{2A05CC33-DC86-077A-3650-7632EB5D1A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asellaDiTesto 6">
            <a:extLst>
              <a:ext uri="{FF2B5EF4-FFF2-40B4-BE49-F238E27FC236}">
                <a16:creationId xmlns:a16="http://schemas.microsoft.com/office/drawing/2014/main" id="{9D3D76E9-FE55-2D5A-E26B-08176A3EB8FB}"/>
              </a:ext>
            </a:extLst>
          </p:cNvPr>
          <p:cNvSpPr txBox="1"/>
          <p:nvPr/>
        </p:nvSpPr>
        <p:spPr>
          <a:xfrm>
            <a:off x="128712" y="1371289"/>
            <a:ext cx="5382723" cy="4409027"/>
          </a:xfrm>
          <a:prstGeom prst="rect">
            <a:avLst/>
          </a:prstGeom>
          <a:noFill/>
        </p:spPr>
        <p:txBody>
          <a:bodyPr wrap="square">
            <a:spAutoFit/>
          </a:bodyPr>
          <a:lstStyle/>
          <a:p>
            <a:pPr>
              <a:lnSpc>
                <a:spcPct val="106000"/>
              </a:lnSpc>
              <a:spcAft>
                <a:spcPts val="800"/>
              </a:spcAft>
            </a:pPr>
            <a:r>
              <a:rPr lang="en-US" sz="1800" dirty="0">
                <a:effectLst/>
                <a:latin typeface="Biome" panose="020B0503030204020804" pitchFamily="34" charset="0"/>
                <a:ea typeface="Calibri" panose="020F0502020204030204" pitchFamily="34" charset="0"/>
                <a:cs typeface="Biome" panose="020B0503030204020804" pitchFamily="34" charset="0"/>
              </a:rPr>
              <a:t>GET / HTTP/1.1\r\n</a:t>
            </a:r>
            <a:br>
              <a:rPr lang="en-US" sz="1800" dirty="0">
                <a:effectLst/>
                <a:latin typeface="Biome" panose="020B0503030204020804" pitchFamily="34" charset="0"/>
                <a:ea typeface="Calibri" panose="020F0502020204030204" pitchFamily="34" charset="0"/>
                <a:cs typeface="Biome" panose="020B0503030204020804" pitchFamily="34" charset="0"/>
              </a:rPr>
            </a:br>
            <a:r>
              <a:rPr lang="en-US" sz="1800" dirty="0">
                <a:effectLst/>
                <a:latin typeface="Biome" panose="020B0503030204020804" pitchFamily="34" charset="0"/>
                <a:ea typeface="Calibri" panose="020F0502020204030204" pitchFamily="34" charset="0"/>
                <a:cs typeface="Biome" panose="020B0503030204020804" pitchFamily="34" charset="0"/>
              </a:rPr>
              <a:t>Host: host\r\n</a:t>
            </a:r>
            <a:br>
              <a:rPr lang="en-US" sz="1800" dirty="0">
                <a:effectLst/>
                <a:latin typeface="Biome" panose="020B0503030204020804" pitchFamily="34" charset="0"/>
                <a:ea typeface="Calibri" panose="020F0502020204030204" pitchFamily="34" charset="0"/>
                <a:cs typeface="Biome" panose="020B0503030204020804" pitchFamily="34" charset="0"/>
              </a:rPr>
            </a:br>
            <a:r>
              <a:rPr lang="en-US" sz="1800" dirty="0">
                <a:effectLst/>
                <a:latin typeface="Biome" panose="020B0503030204020804" pitchFamily="34" charset="0"/>
                <a:ea typeface="Calibri" panose="020F0502020204030204" pitchFamily="34" charset="0"/>
                <a:cs typeface="Biome" panose="020B0503030204020804" pitchFamily="34" charset="0"/>
              </a:rPr>
              <a:t>User-Agent: Mozilla/4.0 (compatible; MSIE 7.0; Windows NT 5.1; Trident/4.0; .NET CLR 1.1.4322; .NET CLR 2.0.503l3; .NET CLR 3.0.4506.2152; .NET CLR 3.5.30729; MSOffice 12)\r\n</a:t>
            </a:r>
            <a:br>
              <a:rPr lang="en-US" sz="1800" dirty="0">
                <a:effectLst/>
                <a:latin typeface="Biome" panose="020B0503030204020804" pitchFamily="34" charset="0"/>
                <a:ea typeface="Calibri" panose="020F0502020204030204" pitchFamily="34" charset="0"/>
                <a:cs typeface="Biome" panose="020B0503030204020804" pitchFamily="34" charset="0"/>
              </a:rPr>
            </a:br>
            <a:r>
              <a:rPr lang="en-US" sz="1800" dirty="0">
                <a:effectLst/>
                <a:latin typeface="Biome" panose="020B0503030204020804" pitchFamily="34" charset="0"/>
                <a:ea typeface="Calibri" panose="020F0502020204030204" pitchFamily="34" charset="0"/>
                <a:cs typeface="Biome" panose="020B0503030204020804" pitchFamily="34" charset="0"/>
              </a:rPr>
              <a:t>Content-Length: 42\r\n</a:t>
            </a:r>
            <a:endParaRPr lang="it-IT" sz="1800" dirty="0">
              <a:effectLst/>
              <a:latin typeface="Biome" panose="020B0503030204020804" pitchFamily="34" charset="0"/>
              <a:ea typeface="Calibri" panose="020F0502020204030204" pitchFamily="34" charset="0"/>
              <a:cs typeface="Biome" panose="020B0503030204020804" pitchFamily="34" charset="0"/>
            </a:endParaRPr>
          </a:p>
          <a:p>
            <a:pPr>
              <a:lnSpc>
                <a:spcPct val="106000"/>
              </a:lnSpc>
              <a:spcAft>
                <a:spcPts val="800"/>
              </a:spcAft>
            </a:pPr>
            <a:r>
              <a:rPr lang="it-IT" sz="1800" dirty="0">
                <a:effectLst/>
                <a:latin typeface="Biome" panose="020B0503030204020804" pitchFamily="34" charset="0"/>
                <a:ea typeface="Calibri" panose="020F0502020204030204" pitchFamily="34" charset="0"/>
                <a:cs typeface="Biome" panose="020B0503030204020804" pitchFamily="34" charset="0"/>
              </a:rPr>
              <a:t>X-a: &lt;stringa casuale&gt;\r\n</a:t>
            </a:r>
          </a:p>
          <a:p>
            <a:pPr>
              <a:lnSpc>
                <a:spcPct val="106000"/>
              </a:lnSpc>
              <a:spcAft>
                <a:spcPts val="800"/>
              </a:spcAft>
            </a:pPr>
            <a:r>
              <a:rPr lang="it-IT" sz="1800" dirty="0">
                <a:effectLst/>
                <a:latin typeface="Biome" panose="020B0503030204020804" pitchFamily="34" charset="0"/>
                <a:ea typeface="Calibri" panose="020F0502020204030204" pitchFamily="34" charset="0"/>
                <a:cs typeface="Biome" panose="020B0503030204020804" pitchFamily="34" charset="0"/>
              </a:rPr>
              <a:t>X-a: &lt;stringa casuale&gt;\r\n</a:t>
            </a:r>
          </a:p>
          <a:p>
            <a:pPr>
              <a:lnSpc>
                <a:spcPct val="106000"/>
              </a:lnSpc>
              <a:spcAft>
                <a:spcPts val="800"/>
              </a:spcAft>
            </a:pPr>
            <a:r>
              <a:rPr lang="it-IT" sz="1800" dirty="0">
                <a:effectLst/>
                <a:latin typeface="Biome" panose="020B0503030204020804" pitchFamily="34" charset="0"/>
                <a:ea typeface="Calibri" panose="020F0502020204030204" pitchFamily="34" charset="0"/>
                <a:cs typeface="Biome" panose="020B0503030204020804" pitchFamily="34" charset="0"/>
              </a:rPr>
              <a:t>X-a: &lt;stringa casuale&gt;\r\n</a:t>
            </a:r>
          </a:p>
          <a:p>
            <a:pPr>
              <a:lnSpc>
                <a:spcPct val="106000"/>
              </a:lnSpc>
              <a:spcAft>
                <a:spcPts val="800"/>
              </a:spcAft>
            </a:pPr>
            <a:r>
              <a:rPr lang="it-IT" sz="1800" dirty="0">
                <a:effectLst/>
                <a:latin typeface="Biome" panose="020B0503030204020804" pitchFamily="34" charset="0"/>
                <a:ea typeface="Calibri" panose="020F0502020204030204" pitchFamily="34" charset="0"/>
                <a:cs typeface="Biome" panose="020B0503030204020804" pitchFamily="34" charset="0"/>
              </a:rPr>
              <a:t>X-a: &lt;stringa casuale&gt;\r\n</a:t>
            </a:r>
          </a:p>
          <a:p>
            <a:pPr>
              <a:lnSpc>
                <a:spcPct val="106000"/>
              </a:lnSpc>
              <a:spcAft>
                <a:spcPts val="800"/>
              </a:spcAft>
            </a:pPr>
            <a:r>
              <a:rPr lang="it-IT" sz="1800" dirty="0">
                <a:effectLst/>
                <a:latin typeface="Biome" panose="020B0503030204020804" pitchFamily="34" charset="0"/>
                <a:ea typeface="Calibri" panose="020F0502020204030204" pitchFamily="34" charset="0"/>
                <a:cs typeface="Biome" panose="020B0503030204020804" pitchFamily="34" charset="0"/>
              </a:rPr>
              <a:t>...</a:t>
            </a:r>
          </a:p>
        </p:txBody>
      </p:sp>
      <p:sp>
        <p:nvSpPr>
          <p:cNvPr id="12" name="CasellaDiTesto 11">
            <a:extLst>
              <a:ext uri="{FF2B5EF4-FFF2-40B4-BE49-F238E27FC236}">
                <a16:creationId xmlns:a16="http://schemas.microsoft.com/office/drawing/2014/main" id="{706834FB-016A-2573-8F23-E1D51822EE7F}"/>
              </a:ext>
            </a:extLst>
          </p:cNvPr>
          <p:cNvSpPr txBox="1"/>
          <p:nvPr/>
        </p:nvSpPr>
        <p:spPr>
          <a:xfrm>
            <a:off x="6487988" y="500654"/>
            <a:ext cx="4114800" cy="923330"/>
          </a:xfrm>
          <a:prstGeom prst="rect">
            <a:avLst/>
          </a:prstGeom>
          <a:noFill/>
        </p:spPr>
        <p:txBody>
          <a:bodyPr wrap="square" rtlCol="0">
            <a:spAutoFit/>
          </a:bodyPr>
          <a:lstStyle/>
          <a:p>
            <a:pPr marL="285750" indent="-285750">
              <a:buFont typeface="Arial" panose="020B0604020202020204" pitchFamily="34" charset="0"/>
              <a:buChar char="•"/>
            </a:pPr>
            <a:r>
              <a:rPr lang="it-IT" b="1" dirty="0">
                <a:solidFill>
                  <a:schemeClr val="bg1"/>
                </a:solidFill>
                <a:latin typeface="+mj-lt"/>
              </a:rPr>
              <a:t>GET: </a:t>
            </a:r>
            <a:r>
              <a:rPr lang="it-IT" dirty="0">
                <a:solidFill>
                  <a:schemeClr val="bg1"/>
                </a:solidFill>
                <a:latin typeface="+mj-lt"/>
              </a:rPr>
              <a:t>metodo request http.</a:t>
            </a:r>
          </a:p>
          <a:p>
            <a:pPr marL="285750" indent="-285750">
              <a:buFont typeface="Arial" panose="020B0604020202020204" pitchFamily="34" charset="0"/>
              <a:buChar char="•"/>
            </a:pPr>
            <a:r>
              <a:rPr lang="it-IT" b="1" dirty="0">
                <a:solidFill>
                  <a:schemeClr val="bg1"/>
                </a:solidFill>
                <a:latin typeface="+mj-lt"/>
              </a:rPr>
              <a:t>/: </a:t>
            </a:r>
            <a:r>
              <a:rPr lang="it-IT" dirty="0">
                <a:solidFill>
                  <a:schemeClr val="bg1"/>
                </a:solidFill>
                <a:latin typeface="+mj-lt"/>
              </a:rPr>
              <a:t>risorsa richiesta (</a:t>
            </a:r>
            <a:r>
              <a:rPr lang="it-IT" dirty="0" err="1">
                <a:solidFill>
                  <a:schemeClr val="bg1"/>
                </a:solidFill>
                <a:latin typeface="+mj-lt"/>
              </a:rPr>
              <a:t>main</a:t>
            </a:r>
            <a:r>
              <a:rPr lang="it-IT" dirty="0">
                <a:solidFill>
                  <a:schemeClr val="bg1"/>
                </a:solidFill>
                <a:latin typeface="+mj-lt"/>
              </a:rPr>
              <a:t> pag).</a:t>
            </a:r>
          </a:p>
          <a:p>
            <a:pPr marL="285750" indent="-285750">
              <a:buFont typeface="Arial" panose="020B0604020202020204" pitchFamily="34" charset="0"/>
              <a:buChar char="•"/>
            </a:pPr>
            <a:r>
              <a:rPr lang="it-IT" b="1" dirty="0">
                <a:solidFill>
                  <a:schemeClr val="bg1"/>
                </a:solidFill>
                <a:latin typeface="+mj-lt"/>
              </a:rPr>
              <a:t>HTTP/1.1: </a:t>
            </a:r>
            <a:r>
              <a:rPr lang="it-IT" dirty="0">
                <a:solidFill>
                  <a:schemeClr val="bg1"/>
                </a:solidFill>
                <a:latin typeface="+mj-lt"/>
              </a:rPr>
              <a:t>versione http.</a:t>
            </a:r>
          </a:p>
        </p:txBody>
      </p:sp>
      <p:sp>
        <p:nvSpPr>
          <p:cNvPr id="15" name="CasellaDiTesto 14">
            <a:extLst>
              <a:ext uri="{FF2B5EF4-FFF2-40B4-BE49-F238E27FC236}">
                <a16:creationId xmlns:a16="http://schemas.microsoft.com/office/drawing/2014/main" id="{076BFCC6-3EE0-1681-8F01-271E677B9A22}"/>
              </a:ext>
            </a:extLst>
          </p:cNvPr>
          <p:cNvSpPr txBox="1"/>
          <p:nvPr/>
        </p:nvSpPr>
        <p:spPr>
          <a:xfrm>
            <a:off x="6487988" y="1491436"/>
            <a:ext cx="5295900" cy="369332"/>
          </a:xfrm>
          <a:prstGeom prst="rect">
            <a:avLst/>
          </a:prstGeom>
          <a:noFill/>
        </p:spPr>
        <p:txBody>
          <a:bodyPr wrap="square" rtlCol="0">
            <a:spAutoFit/>
          </a:bodyPr>
          <a:lstStyle/>
          <a:p>
            <a:pPr marL="285750" indent="-285750">
              <a:buFont typeface="Arial" panose="020B0604020202020204" pitchFamily="34" charset="0"/>
              <a:buChar char="•"/>
            </a:pPr>
            <a:r>
              <a:rPr lang="it-IT" dirty="0">
                <a:solidFill>
                  <a:schemeClr val="bg1"/>
                </a:solidFill>
                <a:latin typeface="+mj-lt"/>
              </a:rPr>
              <a:t>Specifica il dominio o l’indirizzo IP del server target.</a:t>
            </a:r>
          </a:p>
        </p:txBody>
      </p:sp>
      <p:sp>
        <p:nvSpPr>
          <p:cNvPr id="16" name="Parentesi graffa chiusa 15">
            <a:extLst>
              <a:ext uri="{FF2B5EF4-FFF2-40B4-BE49-F238E27FC236}">
                <a16:creationId xmlns:a16="http://schemas.microsoft.com/office/drawing/2014/main" id="{91A4417A-6763-3C91-4692-DB663FCFEF43}"/>
              </a:ext>
            </a:extLst>
          </p:cNvPr>
          <p:cNvSpPr/>
          <p:nvPr/>
        </p:nvSpPr>
        <p:spPr>
          <a:xfrm>
            <a:off x="5384436" y="2002538"/>
            <a:ext cx="382712" cy="1426462"/>
          </a:xfrm>
          <a:prstGeom prst="rightBrace">
            <a:avLst>
              <a:gd name="adj1" fmla="val 44836"/>
              <a:gd name="adj2" fmla="val 50000"/>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it-IT"/>
          </a:p>
        </p:txBody>
      </p:sp>
      <p:sp>
        <p:nvSpPr>
          <p:cNvPr id="17" name="CasellaDiTesto 16">
            <a:extLst>
              <a:ext uri="{FF2B5EF4-FFF2-40B4-BE49-F238E27FC236}">
                <a16:creationId xmlns:a16="http://schemas.microsoft.com/office/drawing/2014/main" id="{92AC5A6B-1293-BEA8-09D5-9780B551FA3C}"/>
              </a:ext>
            </a:extLst>
          </p:cNvPr>
          <p:cNvSpPr txBox="1"/>
          <p:nvPr/>
        </p:nvSpPr>
        <p:spPr>
          <a:xfrm>
            <a:off x="6555277" y="2678534"/>
            <a:ext cx="5448300" cy="369332"/>
          </a:xfrm>
          <a:prstGeom prst="rect">
            <a:avLst/>
          </a:prstGeom>
          <a:noFill/>
        </p:spPr>
        <p:txBody>
          <a:bodyPr wrap="square" rtlCol="0">
            <a:spAutoFit/>
          </a:bodyPr>
          <a:lstStyle/>
          <a:p>
            <a:r>
              <a:rPr lang="it-IT" dirty="0">
                <a:solidFill>
                  <a:schemeClr val="bg1"/>
                </a:solidFill>
                <a:latin typeface="+mj-lt"/>
              </a:rPr>
              <a:t>Informa il server sull’applicazione che sta inoltrando la richiesta.</a:t>
            </a:r>
          </a:p>
        </p:txBody>
      </p:sp>
      <p:pic>
        <p:nvPicPr>
          <p:cNvPr id="25" name="Immagine 24" descr="Immagine che contiene nero, oscurità&#10;&#10;Descrizione generata automaticamente">
            <a:extLst>
              <a:ext uri="{FF2B5EF4-FFF2-40B4-BE49-F238E27FC236}">
                <a16:creationId xmlns:a16="http://schemas.microsoft.com/office/drawing/2014/main" id="{B880E418-51E3-9C35-5A6D-834324267BEB}"/>
              </a:ext>
            </a:extLst>
          </p:cNvPr>
          <p:cNvPicPr>
            <a:picLocks noChangeAspect="1"/>
          </p:cNvPicPr>
          <p:nvPr/>
        </p:nvPicPr>
        <p:blipFill>
          <a:blip r:embed="rId2"/>
          <a:stretch>
            <a:fillRect/>
          </a:stretch>
        </p:blipFill>
        <p:spPr>
          <a:xfrm>
            <a:off x="1287305" y="5663004"/>
            <a:ext cx="1052564" cy="1052564"/>
          </a:xfrm>
          <a:prstGeom prst="rect">
            <a:avLst/>
          </a:prstGeom>
        </p:spPr>
      </p:pic>
      <p:sp>
        <p:nvSpPr>
          <p:cNvPr id="26" name="CasellaDiTesto 25">
            <a:extLst>
              <a:ext uri="{FF2B5EF4-FFF2-40B4-BE49-F238E27FC236}">
                <a16:creationId xmlns:a16="http://schemas.microsoft.com/office/drawing/2014/main" id="{C5FC7F47-2DF6-7460-C8BF-A5C0025D6B59}"/>
              </a:ext>
            </a:extLst>
          </p:cNvPr>
          <p:cNvSpPr txBox="1"/>
          <p:nvPr/>
        </p:nvSpPr>
        <p:spPr>
          <a:xfrm>
            <a:off x="7788168" y="5249872"/>
            <a:ext cx="3020615" cy="769441"/>
          </a:xfrm>
          <a:prstGeom prst="rect">
            <a:avLst/>
          </a:prstGeom>
          <a:noFill/>
        </p:spPr>
        <p:txBody>
          <a:bodyPr wrap="square">
            <a:spAutoFit/>
          </a:bodyPr>
          <a:lstStyle/>
          <a:p>
            <a:r>
              <a:rPr lang="it-IT" sz="4400" dirty="0">
                <a:solidFill>
                  <a:schemeClr val="bg1"/>
                </a:solidFill>
              </a:rPr>
              <a:t>  </a:t>
            </a:r>
            <a:r>
              <a:rPr lang="it-IT" sz="4000" dirty="0">
                <a:solidFill>
                  <a:schemeClr val="bg1"/>
                </a:solidFill>
              </a:rPr>
              <a:t> \r\n\r\n</a:t>
            </a:r>
          </a:p>
        </p:txBody>
      </p:sp>
      <p:cxnSp>
        <p:nvCxnSpPr>
          <p:cNvPr id="28" name="Connettore curvo 27">
            <a:extLst>
              <a:ext uri="{FF2B5EF4-FFF2-40B4-BE49-F238E27FC236}">
                <a16:creationId xmlns:a16="http://schemas.microsoft.com/office/drawing/2014/main" id="{70116982-1C0D-F074-3E7D-54220D5AF107}"/>
              </a:ext>
            </a:extLst>
          </p:cNvPr>
          <p:cNvCxnSpPr>
            <a:cxnSpLocks/>
          </p:cNvCxnSpPr>
          <p:nvPr/>
        </p:nvCxnSpPr>
        <p:spPr>
          <a:xfrm>
            <a:off x="2339869" y="6381840"/>
            <a:ext cx="5043434" cy="12700"/>
          </a:xfrm>
          <a:prstGeom prst="curvedConnector3">
            <a:avLst>
              <a:gd name="adj1" fmla="val 50000"/>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CasellaDiTesto 28">
            <a:extLst>
              <a:ext uri="{FF2B5EF4-FFF2-40B4-BE49-F238E27FC236}">
                <a16:creationId xmlns:a16="http://schemas.microsoft.com/office/drawing/2014/main" id="{82EE6BB2-E5C4-EDF6-42D1-DC8786376388}"/>
              </a:ext>
            </a:extLst>
          </p:cNvPr>
          <p:cNvSpPr txBox="1"/>
          <p:nvPr/>
        </p:nvSpPr>
        <p:spPr>
          <a:xfrm>
            <a:off x="7383302" y="5915316"/>
            <a:ext cx="3425481" cy="646331"/>
          </a:xfrm>
          <a:prstGeom prst="rect">
            <a:avLst/>
          </a:prstGeom>
          <a:noFill/>
        </p:spPr>
        <p:txBody>
          <a:bodyPr wrap="square" rtlCol="0">
            <a:spAutoFit/>
          </a:bodyPr>
          <a:lstStyle/>
          <a:p>
            <a:pPr algn="ctr"/>
            <a:r>
              <a:rPr lang="it-IT" dirty="0">
                <a:solidFill>
                  <a:schemeClr val="bg1"/>
                </a:solidFill>
                <a:latin typeface="+mj-lt"/>
              </a:rPr>
              <a:t>Carattere di terminazione. </a:t>
            </a:r>
            <a:br>
              <a:rPr lang="it-IT" dirty="0">
                <a:solidFill>
                  <a:schemeClr val="bg1"/>
                </a:solidFill>
                <a:latin typeface="+mj-lt"/>
              </a:rPr>
            </a:br>
            <a:r>
              <a:rPr lang="it-IT" dirty="0">
                <a:solidFill>
                  <a:schemeClr val="bg1"/>
                </a:solidFill>
                <a:latin typeface="+mj-lt"/>
              </a:rPr>
              <a:t>Essenziale per completare la richiesta</a:t>
            </a:r>
          </a:p>
        </p:txBody>
      </p:sp>
      <p:sp>
        <p:nvSpPr>
          <p:cNvPr id="36" name="CasellaDiTesto 35">
            <a:extLst>
              <a:ext uri="{FF2B5EF4-FFF2-40B4-BE49-F238E27FC236}">
                <a16:creationId xmlns:a16="http://schemas.microsoft.com/office/drawing/2014/main" id="{3AD9F6A5-F022-913B-9CFC-02635D93DFC5}"/>
              </a:ext>
            </a:extLst>
          </p:cNvPr>
          <p:cNvSpPr txBox="1"/>
          <p:nvPr/>
        </p:nvSpPr>
        <p:spPr>
          <a:xfrm>
            <a:off x="350967" y="-51700"/>
            <a:ext cx="5224825" cy="1749552"/>
          </a:xfrm>
          <a:prstGeom prst="rect">
            <a:avLst/>
          </a:prstGeom>
        </p:spPr>
        <p:txBody>
          <a:bodyPr vert="horz" lIns="91440" tIns="45720" rIns="91440" bIns="45720" rtlCol="0" anchor="ctr">
            <a:normAutofit/>
          </a:bodyPr>
          <a:lstStyle/>
          <a:p>
            <a:pPr algn="ct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Esempio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di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pacchetto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malevolo</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8" name="Connettore 2 7">
            <a:extLst>
              <a:ext uri="{FF2B5EF4-FFF2-40B4-BE49-F238E27FC236}">
                <a16:creationId xmlns:a16="http://schemas.microsoft.com/office/drawing/2014/main" id="{1D9689CC-526E-00B3-AE65-80C183A43C0C}"/>
              </a:ext>
            </a:extLst>
          </p:cNvPr>
          <p:cNvCxnSpPr>
            <a:cxnSpLocks/>
            <a:endCxn id="12" idx="1"/>
          </p:cNvCxnSpPr>
          <p:nvPr/>
        </p:nvCxnSpPr>
        <p:spPr>
          <a:xfrm flipV="1">
            <a:off x="2374900" y="962319"/>
            <a:ext cx="4113088" cy="6124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Connettore 2 10">
            <a:extLst>
              <a:ext uri="{FF2B5EF4-FFF2-40B4-BE49-F238E27FC236}">
                <a16:creationId xmlns:a16="http://schemas.microsoft.com/office/drawing/2014/main" id="{82881E83-E9E9-4FDB-78FA-5EA9EFF13D8B}"/>
              </a:ext>
            </a:extLst>
          </p:cNvPr>
          <p:cNvCxnSpPr>
            <a:cxnSpLocks/>
            <a:endCxn id="15" idx="1"/>
          </p:cNvCxnSpPr>
          <p:nvPr/>
        </p:nvCxnSpPr>
        <p:spPr>
          <a:xfrm flipV="1">
            <a:off x="2045110" y="1676102"/>
            <a:ext cx="4442878" cy="1846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63545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DDF159-637F-915A-763E-A140366F6AC5}"/>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D155704C-315D-C789-9CCA-C75B1D26457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80D72E31-49FB-73CA-0BBB-AB0630CE1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307E4280-B431-313D-A165-61EDF303D0EC}"/>
              </a:ext>
            </a:extLst>
          </p:cNvPr>
          <p:cNvSpPr txBox="1"/>
          <p:nvPr/>
        </p:nvSpPr>
        <p:spPr>
          <a:xfrm>
            <a:off x="1024128" y="459317"/>
            <a:ext cx="4389120" cy="1749552"/>
          </a:xfrm>
          <a:prstGeom prst="rect">
            <a:avLst/>
          </a:prstGeom>
        </p:spPr>
        <p:txBody>
          <a:bodyPr vert="horz" lIns="91440" tIns="45720" rIns="91440" bIns="45720" rtlCol="0" anchor="ctr">
            <a:normAutofit lnSpcReduction="10000"/>
          </a:bodyPr>
          <a:lstStyle/>
          <a:p>
            <a:pPr algn="ct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Punti</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di forza </a:t>
            </a:r>
          </a:p>
          <a:p>
            <a:pPr algn="ct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Vs</a:t>
            </a:r>
          </a:p>
          <a:p>
            <a:pPr algn="ct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debolezze</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34B58567-EAB7-D503-562B-A776326D2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Immagine 4" descr="Immagine che contiene nero, oscurità&#10;&#10;Descrizione generata automaticamente">
            <a:extLst>
              <a:ext uri="{FF2B5EF4-FFF2-40B4-BE49-F238E27FC236}">
                <a16:creationId xmlns:a16="http://schemas.microsoft.com/office/drawing/2014/main" id="{62E1206C-F28D-53F9-EA49-A09B0C3A34A5}"/>
              </a:ext>
            </a:extLst>
          </p:cNvPr>
          <p:cNvPicPr>
            <a:picLocks noChangeAspect="1"/>
          </p:cNvPicPr>
          <p:nvPr/>
        </p:nvPicPr>
        <p:blipFill>
          <a:blip r:embed="rId2"/>
          <a:stretch>
            <a:fillRect/>
          </a:stretch>
        </p:blipFill>
        <p:spPr>
          <a:xfrm>
            <a:off x="762000" y="2395359"/>
            <a:ext cx="411099" cy="411099"/>
          </a:xfrm>
          <a:prstGeom prst="rect">
            <a:avLst/>
          </a:prstGeom>
        </p:spPr>
      </p:pic>
      <p:pic>
        <p:nvPicPr>
          <p:cNvPr id="6" name="Immagine 5" descr="Immagine che contiene nero, oscurità&#10;&#10;Descrizione generata automaticamente">
            <a:extLst>
              <a:ext uri="{FF2B5EF4-FFF2-40B4-BE49-F238E27FC236}">
                <a16:creationId xmlns:a16="http://schemas.microsoft.com/office/drawing/2014/main" id="{BCFD7B24-A088-732C-2717-E5F41189DD04}"/>
              </a:ext>
            </a:extLst>
          </p:cNvPr>
          <p:cNvPicPr>
            <a:picLocks noChangeAspect="1"/>
          </p:cNvPicPr>
          <p:nvPr/>
        </p:nvPicPr>
        <p:blipFill>
          <a:blip r:embed="rId3">
            <a:lum bright="70000" contrast="-70000"/>
          </a:blip>
          <a:stretch>
            <a:fillRect/>
          </a:stretch>
        </p:blipFill>
        <p:spPr>
          <a:xfrm>
            <a:off x="6857998" y="2384141"/>
            <a:ext cx="287908" cy="287908"/>
          </a:xfrm>
          <a:prstGeom prst="rect">
            <a:avLst/>
          </a:prstGeom>
        </p:spPr>
      </p:pic>
      <p:pic>
        <p:nvPicPr>
          <p:cNvPr id="7" name="Immagine 6" descr="Immagine che contiene nero, oscurità&#10;&#10;Descrizione generata automaticamente">
            <a:extLst>
              <a:ext uri="{FF2B5EF4-FFF2-40B4-BE49-F238E27FC236}">
                <a16:creationId xmlns:a16="http://schemas.microsoft.com/office/drawing/2014/main" id="{7703E677-59D7-07A3-CA67-E8A9CDDA8DD3}"/>
              </a:ext>
            </a:extLst>
          </p:cNvPr>
          <p:cNvPicPr>
            <a:picLocks noChangeAspect="1"/>
          </p:cNvPicPr>
          <p:nvPr/>
        </p:nvPicPr>
        <p:blipFill>
          <a:blip r:embed="rId2"/>
          <a:stretch>
            <a:fillRect/>
          </a:stretch>
        </p:blipFill>
        <p:spPr>
          <a:xfrm>
            <a:off x="762000" y="3182454"/>
            <a:ext cx="411099" cy="411099"/>
          </a:xfrm>
          <a:prstGeom prst="rect">
            <a:avLst/>
          </a:prstGeom>
        </p:spPr>
      </p:pic>
      <p:pic>
        <p:nvPicPr>
          <p:cNvPr id="9" name="Immagine 8" descr="Immagine che contiene nero, oscurità&#10;&#10;Descrizione generata automaticamente">
            <a:extLst>
              <a:ext uri="{FF2B5EF4-FFF2-40B4-BE49-F238E27FC236}">
                <a16:creationId xmlns:a16="http://schemas.microsoft.com/office/drawing/2014/main" id="{2C7BB1BD-4DD2-B531-545B-7E5A367CE50F}"/>
              </a:ext>
            </a:extLst>
          </p:cNvPr>
          <p:cNvPicPr>
            <a:picLocks noChangeAspect="1"/>
          </p:cNvPicPr>
          <p:nvPr/>
        </p:nvPicPr>
        <p:blipFill>
          <a:blip r:embed="rId3">
            <a:lum bright="70000" contrast="-70000"/>
          </a:blip>
          <a:stretch>
            <a:fillRect/>
          </a:stretch>
        </p:blipFill>
        <p:spPr>
          <a:xfrm>
            <a:off x="6857998" y="3171236"/>
            <a:ext cx="287908" cy="287908"/>
          </a:xfrm>
          <a:prstGeom prst="rect">
            <a:avLst/>
          </a:prstGeom>
        </p:spPr>
      </p:pic>
      <p:pic>
        <p:nvPicPr>
          <p:cNvPr id="10" name="Immagine 9" descr="Immagine che contiene nero, oscurità&#10;&#10;Descrizione generata automaticamente">
            <a:extLst>
              <a:ext uri="{FF2B5EF4-FFF2-40B4-BE49-F238E27FC236}">
                <a16:creationId xmlns:a16="http://schemas.microsoft.com/office/drawing/2014/main" id="{BF3C7033-763E-9D92-9E70-FF9A90CB79A2}"/>
              </a:ext>
            </a:extLst>
          </p:cNvPr>
          <p:cNvPicPr>
            <a:picLocks noChangeAspect="1"/>
          </p:cNvPicPr>
          <p:nvPr/>
        </p:nvPicPr>
        <p:blipFill>
          <a:blip r:embed="rId2"/>
          <a:stretch>
            <a:fillRect/>
          </a:stretch>
        </p:blipFill>
        <p:spPr>
          <a:xfrm>
            <a:off x="762000" y="3969549"/>
            <a:ext cx="411099" cy="411099"/>
          </a:xfrm>
          <a:prstGeom prst="rect">
            <a:avLst/>
          </a:prstGeom>
        </p:spPr>
      </p:pic>
      <p:pic>
        <p:nvPicPr>
          <p:cNvPr id="11" name="Immagine 10" descr="Immagine che contiene nero, oscurità&#10;&#10;Descrizione generata automaticamente">
            <a:extLst>
              <a:ext uri="{FF2B5EF4-FFF2-40B4-BE49-F238E27FC236}">
                <a16:creationId xmlns:a16="http://schemas.microsoft.com/office/drawing/2014/main" id="{966B5287-360C-EB80-F456-E23B55B3595C}"/>
              </a:ext>
            </a:extLst>
          </p:cNvPr>
          <p:cNvPicPr>
            <a:picLocks noChangeAspect="1"/>
          </p:cNvPicPr>
          <p:nvPr/>
        </p:nvPicPr>
        <p:blipFill>
          <a:blip r:embed="rId3">
            <a:lum bright="70000" contrast="-70000"/>
          </a:blip>
          <a:stretch>
            <a:fillRect/>
          </a:stretch>
        </p:blipFill>
        <p:spPr>
          <a:xfrm>
            <a:off x="6857998" y="3958331"/>
            <a:ext cx="287908" cy="287908"/>
          </a:xfrm>
          <a:prstGeom prst="rect">
            <a:avLst/>
          </a:prstGeom>
        </p:spPr>
      </p:pic>
      <p:pic>
        <p:nvPicPr>
          <p:cNvPr id="12" name="Immagine 11" descr="Immagine che contiene nero, oscurità&#10;&#10;Descrizione generata automaticamente">
            <a:extLst>
              <a:ext uri="{FF2B5EF4-FFF2-40B4-BE49-F238E27FC236}">
                <a16:creationId xmlns:a16="http://schemas.microsoft.com/office/drawing/2014/main" id="{5035E676-72F4-6591-C2D2-D1C83ADEABB4}"/>
              </a:ext>
            </a:extLst>
          </p:cNvPr>
          <p:cNvPicPr>
            <a:picLocks noChangeAspect="1"/>
          </p:cNvPicPr>
          <p:nvPr/>
        </p:nvPicPr>
        <p:blipFill>
          <a:blip r:embed="rId2"/>
          <a:stretch>
            <a:fillRect/>
          </a:stretch>
        </p:blipFill>
        <p:spPr>
          <a:xfrm>
            <a:off x="762000" y="4750753"/>
            <a:ext cx="411099" cy="411099"/>
          </a:xfrm>
          <a:prstGeom prst="rect">
            <a:avLst/>
          </a:prstGeom>
        </p:spPr>
      </p:pic>
      <p:pic>
        <p:nvPicPr>
          <p:cNvPr id="13" name="Immagine 12" descr="Immagine che contiene nero, oscurità&#10;&#10;Descrizione generata automaticamente">
            <a:extLst>
              <a:ext uri="{FF2B5EF4-FFF2-40B4-BE49-F238E27FC236}">
                <a16:creationId xmlns:a16="http://schemas.microsoft.com/office/drawing/2014/main" id="{D101A154-4480-6A38-7DB0-A741AE0FBFBA}"/>
              </a:ext>
            </a:extLst>
          </p:cNvPr>
          <p:cNvPicPr>
            <a:picLocks noChangeAspect="1"/>
          </p:cNvPicPr>
          <p:nvPr/>
        </p:nvPicPr>
        <p:blipFill>
          <a:blip r:embed="rId3">
            <a:lum bright="70000" contrast="-70000"/>
          </a:blip>
          <a:stretch>
            <a:fillRect/>
          </a:stretch>
        </p:blipFill>
        <p:spPr>
          <a:xfrm>
            <a:off x="6857998" y="4739535"/>
            <a:ext cx="287908" cy="287908"/>
          </a:xfrm>
          <a:prstGeom prst="rect">
            <a:avLst/>
          </a:prstGeom>
        </p:spPr>
      </p:pic>
      <p:pic>
        <p:nvPicPr>
          <p:cNvPr id="14" name="Immagine 13" descr="Immagine che contiene nero, oscurità&#10;&#10;Descrizione generata automaticamente">
            <a:extLst>
              <a:ext uri="{FF2B5EF4-FFF2-40B4-BE49-F238E27FC236}">
                <a16:creationId xmlns:a16="http://schemas.microsoft.com/office/drawing/2014/main" id="{97B1CFED-BA5C-8683-DDC5-6FA27BBC2A26}"/>
              </a:ext>
            </a:extLst>
          </p:cNvPr>
          <p:cNvPicPr>
            <a:picLocks noChangeAspect="1"/>
          </p:cNvPicPr>
          <p:nvPr/>
        </p:nvPicPr>
        <p:blipFill>
          <a:blip r:embed="rId2"/>
          <a:stretch>
            <a:fillRect/>
          </a:stretch>
        </p:blipFill>
        <p:spPr>
          <a:xfrm>
            <a:off x="762000" y="5531957"/>
            <a:ext cx="411099" cy="411099"/>
          </a:xfrm>
          <a:prstGeom prst="rect">
            <a:avLst/>
          </a:prstGeom>
        </p:spPr>
      </p:pic>
      <p:pic>
        <p:nvPicPr>
          <p:cNvPr id="15" name="Immagine 14" descr="Immagine che contiene nero, oscurità&#10;&#10;Descrizione generata automaticamente">
            <a:extLst>
              <a:ext uri="{FF2B5EF4-FFF2-40B4-BE49-F238E27FC236}">
                <a16:creationId xmlns:a16="http://schemas.microsoft.com/office/drawing/2014/main" id="{AA70A24D-15E0-CD1D-029F-8152CAB7C455}"/>
              </a:ext>
            </a:extLst>
          </p:cNvPr>
          <p:cNvPicPr>
            <a:picLocks noChangeAspect="1"/>
          </p:cNvPicPr>
          <p:nvPr/>
        </p:nvPicPr>
        <p:blipFill>
          <a:blip r:embed="rId3">
            <a:lum bright="70000" contrast="-70000"/>
          </a:blip>
          <a:stretch>
            <a:fillRect/>
          </a:stretch>
        </p:blipFill>
        <p:spPr>
          <a:xfrm>
            <a:off x="6857998" y="5520739"/>
            <a:ext cx="287908" cy="287908"/>
          </a:xfrm>
          <a:prstGeom prst="rect">
            <a:avLst/>
          </a:prstGeom>
        </p:spPr>
      </p:pic>
      <p:sp>
        <p:nvSpPr>
          <p:cNvPr id="16" name="CasellaDiTesto 15">
            <a:extLst>
              <a:ext uri="{FF2B5EF4-FFF2-40B4-BE49-F238E27FC236}">
                <a16:creationId xmlns:a16="http://schemas.microsoft.com/office/drawing/2014/main" id="{034A28C0-4500-168B-1A76-A00CA0DC86B4}"/>
              </a:ext>
            </a:extLst>
          </p:cNvPr>
          <p:cNvSpPr txBox="1"/>
          <p:nvPr/>
        </p:nvSpPr>
        <p:spPr>
          <a:xfrm>
            <a:off x="1173098" y="2393033"/>
            <a:ext cx="3708779" cy="369332"/>
          </a:xfrm>
          <a:prstGeom prst="rect">
            <a:avLst/>
          </a:prstGeom>
          <a:noFill/>
        </p:spPr>
        <p:txBody>
          <a:bodyPr wrap="square" rtlCol="0">
            <a:spAutoFit/>
          </a:bodyPr>
          <a:lstStyle/>
          <a:p>
            <a:pPr algn="ctr"/>
            <a:r>
              <a:rPr lang="it-IT" dirty="0">
                <a:latin typeface="+mj-lt"/>
              </a:rPr>
              <a:t>Basso consumo di risorse</a:t>
            </a:r>
          </a:p>
        </p:txBody>
      </p:sp>
      <p:sp>
        <p:nvSpPr>
          <p:cNvPr id="17" name="CasellaDiTesto 16">
            <a:extLst>
              <a:ext uri="{FF2B5EF4-FFF2-40B4-BE49-F238E27FC236}">
                <a16:creationId xmlns:a16="http://schemas.microsoft.com/office/drawing/2014/main" id="{C654D7AC-784B-A42D-DC9B-26529C91D029}"/>
              </a:ext>
            </a:extLst>
          </p:cNvPr>
          <p:cNvSpPr txBox="1"/>
          <p:nvPr/>
        </p:nvSpPr>
        <p:spPr>
          <a:xfrm>
            <a:off x="1173099" y="3185816"/>
            <a:ext cx="3708779" cy="369332"/>
          </a:xfrm>
          <a:prstGeom prst="rect">
            <a:avLst/>
          </a:prstGeom>
          <a:noFill/>
        </p:spPr>
        <p:txBody>
          <a:bodyPr wrap="square" rtlCol="0">
            <a:spAutoFit/>
          </a:bodyPr>
          <a:lstStyle/>
          <a:p>
            <a:pPr algn="ctr"/>
            <a:r>
              <a:rPr lang="it-IT" dirty="0">
                <a:latin typeface="+mj-lt"/>
              </a:rPr>
              <a:t>Difficile da Rilevare </a:t>
            </a:r>
          </a:p>
        </p:txBody>
      </p:sp>
      <p:sp>
        <p:nvSpPr>
          <p:cNvPr id="18" name="CasellaDiTesto 17">
            <a:extLst>
              <a:ext uri="{FF2B5EF4-FFF2-40B4-BE49-F238E27FC236}">
                <a16:creationId xmlns:a16="http://schemas.microsoft.com/office/drawing/2014/main" id="{C6647520-BF08-FD1D-F58E-3191CEA5646E}"/>
              </a:ext>
            </a:extLst>
          </p:cNvPr>
          <p:cNvSpPr txBox="1"/>
          <p:nvPr/>
        </p:nvSpPr>
        <p:spPr>
          <a:xfrm>
            <a:off x="1173098" y="3992027"/>
            <a:ext cx="3708779" cy="338554"/>
          </a:xfrm>
          <a:prstGeom prst="rect">
            <a:avLst/>
          </a:prstGeom>
          <a:noFill/>
        </p:spPr>
        <p:txBody>
          <a:bodyPr wrap="square" rtlCol="0">
            <a:spAutoFit/>
          </a:bodyPr>
          <a:lstStyle/>
          <a:p>
            <a:pPr algn="ctr"/>
            <a:r>
              <a:rPr lang="it-IT" sz="1600" dirty="0">
                <a:latin typeface="+mj-lt"/>
              </a:rPr>
              <a:t>Efficace contro server vulnerabili</a:t>
            </a:r>
          </a:p>
        </p:txBody>
      </p:sp>
      <p:sp>
        <p:nvSpPr>
          <p:cNvPr id="19" name="CasellaDiTesto 18">
            <a:extLst>
              <a:ext uri="{FF2B5EF4-FFF2-40B4-BE49-F238E27FC236}">
                <a16:creationId xmlns:a16="http://schemas.microsoft.com/office/drawing/2014/main" id="{19F5452B-14CD-7969-E4C2-EA4913E92FDD}"/>
              </a:ext>
            </a:extLst>
          </p:cNvPr>
          <p:cNvSpPr txBox="1"/>
          <p:nvPr/>
        </p:nvSpPr>
        <p:spPr>
          <a:xfrm>
            <a:off x="1173097" y="4779122"/>
            <a:ext cx="3708779" cy="369332"/>
          </a:xfrm>
          <a:prstGeom prst="rect">
            <a:avLst/>
          </a:prstGeom>
          <a:noFill/>
        </p:spPr>
        <p:txBody>
          <a:bodyPr wrap="square" rtlCol="0">
            <a:spAutoFit/>
          </a:bodyPr>
          <a:lstStyle/>
          <a:p>
            <a:pPr algn="ctr"/>
            <a:r>
              <a:rPr lang="it-IT" dirty="0">
                <a:latin typeface="+mj-lt"/>
              </a:rPr>
              <a:t>Semplice implementazione SW</a:t>
            </a:r>
          </a:p>
        </p:txBody>
      </p:sp>
      <p:sp>
        <p:nvSpPr>
          <p:cNvPr id="20" name="CasellaDiTesto 19">
            <a:extLst>
              <a:ext uri="{FF2B5EF4-FFF2-40B4-BE49-F238E27FC236}">
                <a16:creationId xmlns:a16="http://schemas.microsoft.com/office/drawing/2014/main" id="{FDB2E07A-C292-CB00-114C-20BC6F4F1FC3}"/>
              </a:ext>
            </a:extLst>
          </p:cNvPr>
          <p:cNvSpPr txBox="1"/>
          <p:nvPr/>
        </p:nvSpPr>
        <p:spPr>
          <a:xfrm>
            <a:off x="1173099" y="5529631"/>
            <a:ext cx="3708779" cy="369332"/>
          </a:xfrm>
          <a:prstGeom prst="rect">
            <a:avLst/>
          </a:prstGeom>
          <a:noFill/>
        </p:spPr>
        <p:txBody>
          <a:bodyPr wrap="square" rtlCol="0">
            <a:spAutoFit/>
          </a:bodyPr>
          <a:lstStyle/>
          <a:p>
            <a:pPr algn="ctr"/>
            <a:r>
              <a:rPr lang="it-IT" dirty="0">
                <a:latin typeface="+mj-lt"/>
              </a:rPr>
              <a:t>Mirato e silezioso</a:t>
            </a:r>
          </a:p>
        </p:txBody>
      </p:sp>
      <p:sp>
        <p:nvSpPr>
          <p:cNvPr id="21" name="CasellaDiTesto 20">
            <a:extLst>
              <a:ext uri="{FF2B5EF4-FFF2-40B4-BE49-F238E27FC236}">
                <a16:creationId xmlns:a16="http://schemas.microsoft.com/office/drawing/2014/main" id="{0B518F9C-D05A-9A65-8C7E-7E92C9277705}"/>
              </a:ext>
            </a:extLst>
          </p:cNvPr>
          <p:cNvSpPr txBox="1"/>
          <p:nvPr/>
        </p:nvSpPr>
        <p:spPr>
          <a:xfrm>
            <a:off x="7374125" y="2381815"/>
            <a:ext cx="3899280" cy="338554"/>
          </a:xfrm>
          <a:prstGeom prst="rect">
            <a:avLst/>
          </a:prstGeom>
          <a:noFill/>
        </p:spPr>
        <p:txBody>
          <a:bodyPr wrap="square" rtlCol="0">
            <a:spAutoFit/>
          </a:bodyPr>
          <a:lstStyle/>
          <a:p>
            <a:pPr algn="ctr"/>
            <a:r>
              <a:rPr lang="it-IT" sz="1600" dirty="0">
                <a:solidFill>
                  <a:schemeClr val="bg1"/>
                </a:solidFill>
                <a:latin typeface="+mj-lt"/>
              </a:rPr>
              <a:t>Mitigabile con buone configurazioni</a:t>
            </a:r>
          </a:p>
        </p:txBody>
      </p:sp>
      <p:sp>
        <p:nvSpPr>
          <p:cNvPr id="22" name="CasellaDiTesto 21">
            <a:extLst>
              <a:ext uri="{FF2B5EF4-FFF2-40B4-BE49-F238E27FC236}">
                <a16:creationId xmlns:a16="http://schemas.microsoft.com/office/drawing/2014/main" id="{0F71AFB0-C71B-ECD5-28BE-8C5FA62CAA8B}"/>
              </a:ext>
            </a:extLst>
          </p:cNvPr>
          <p:cNvSpPr txBox="1"/>
          <p:nvPr/>
        </p:nvSpPr>
        <p:spPr>
          <a:xfrm>
            <a:off x="7374125" y="3953076"/>
            <a:ext cx="3708779" cy="338554"/>
          </a:xfrm>
          <a:prstGeom prst="rect">
            <a:avLst/>
          </a:prstGeom>
          <a:noFill/>
        </p:spPr>
        <p:txBody>
          <a:bodyPr wrap="square" rtlCol="0">
            <a:spAutoFit/>
          </a:bodyPr>
          <a:lstStyle/>
          <a:p>
            <a:pPr algn="ctr"/>
            <a:r>
              <a:rPr lang="it-IT" sz="1600" dirty="0">
                <a:solidFill>
                  <a:schemeClr val="bg1"/>
                </a:solidFill>
                <a:latin typeface="+mj-lt"/>
              </a:rPr>
              <a:t>Solo target con risorse limitate</a:t>
            </a:r>
          </a:p>
        </p:txBody>
      </p:sp>
      <p:sp>
        <p:nvSpPr>
          <p:cNvPr id="23" name="CasellaDiTesto 22">
            <a:extLst>
              <a:ext uri="{FF2B5EF4-FFF2-40B4-BE49-F238E27FC236}">
                <a16:creationId xmlns:a16="http://schemas.microsoft.com/office/drawing/2014/main" id="{DBC15484-753B-2B8D-AAC7-A9D04B5E727B}"/>
              </a:ext>
            </a:extLst>
          </p:cNvPr>
          <p:cNvSpPr txBox="1"/>
          <p:nvPr/>
        </p:nvSpPr>
        <p:spPr>
          <a:xfrm>
            <a:off x="7374125" y="3171236"/>
            <a:ext cx="4030853" cy="338554"/>
          </a:xfrm>
          <a:prstGeom prst="rect">
            <a:avLst/>
          </a:prstGeom>
          <a:noFill/>
        </p:spPr>
        <p:txBody>
          <a:bodyPr wrap="square" rtlCol="0">
            <a:spAutoFit/>
          </a:bodyPr>
          <a:lstStyle/>
          <a:p>
            <a:pPr algn="ctr"/>
            <a:r>
              <a:rPr lang="it-IT" sz="1600" dirty="0">
                <a:solidFill>
                  <a:schemeClr val="bg1"/>
                </a:solidFill>
                <a:latin typeface="+mj-lt"/>
              </a:rPr>
              <a:t>Rilevabile con monitoraggio avanzato</a:t>
            </a:r>
          </a:p>
        </p:txBody>
      </p:sp>
      <p:sp>
        <p:nvSpPr>
          <p:cNvPr id="24" name="CasellaDiTesto 23">
            <a:extLst>
              <a:ext uri="{FF2B5EF4-FFF2-40B4-BE49-F238E27FC236}">
                <a16:creationId xmlns:a16="http://schemas.microsoft.com/office/drawing/2014/main" id="{80A98BE2-686B-68DF-FD2C-DBFE99F2274F}"/>
              </a:ext>
            </a:extLst>
          </p:cNvPr>
          <p:cNvSpPr txBox="1"/>
          <p:nvPr/>
        </p:nvSpPr>
        <p:spPr>
          <a:xfrm>
            <a:off x="7374124" y="4734916"/>
            <a:ext cx="3708779" cy="369332"/>
          </a:xfrm>
          <a:prstGeom prst="rect">
            <a:avLst/>
          </a:prstGeom>
          <a:noFill/>
        </p:spPr>
        <p:txBody>
          <a:bodyPr wrap="square" rtlCol="0">
            <a:spAutoFit/>
          </a:bodyPr>
          <a:lstStyle/>
          <a:p>
            <a:pPr algn="ctr"/>
            <a:r>
              <a:rPr lang="it-IT" dirty="0">
                <a:solidFill>
                  <a:schemeClr val="bg1"/>
                </a:solidFill>
                <a:latin typeface="+mj-lt"/>
              </a:rPr>
              <a:t>Singola strategia d’attacco</a:t>
            </a:r>
          </a:p>
        </p:txBody>
      </p:sp>
      <p:sp>
        <p:nvSpPr>
          <p:cNvPr id="25" name="CasellaDiTesto 24">
            <a:extLst>
              <a:ext uri="{FF2B5EF4-FFF2-40B4-BE49-F238E27FC236}">
                <a16:creationId xmlns:a16="http://schemas.microsoft.com/office/drawing/2014/main" id="{17033BB3-BAB6-5980-2E1F-99CC96E7F4E4}"/>
              </a:ext>
            </a:extLst>
          </p:cNvPr>
          <p:cNvSpPr txBox="1"/>
          <p:nvPr/>
        </p:nvSpPr>
        <p:spPr>
          <a:xfrm>
            <a:off x="7374125" y="5498490"/>
            <a:ext cx="3708779" cy="338554"/>
          </a:xfrm>
          <a:prstGeom prst="rect">
            <a:avLst/>
          </a:prstGeom>
          <a:noFill/>
        </p:spPr>
        <p:txBody>
          <a:bodyPr wrap="square" rtlCol="0">
            <a:spAutoFit/>
          </a:bodyPr>
          <a:lstStyle/>
          <a:p>
            <a:pPr algn="ctr"/>
            <a:r>
              <a:rPr lang="it-IT" sz="1600" dirty="0">
                <a:solidFill>
                  <a:schemeClr val="bg1"/>
                </a:solidFill>
                <a:latin typeface="+mj-lt"/>
              </a:rPr>
              <a:t>Inefficace con soluzioni distribuite</a:t>
            </a:r>
          </a:p>
        </p:txBody>
      </p:sp>
      <p:pic>
        <p:nvPicPr>
          <p:cNvPr id="27" name="Immagine 26" descr="Immagine che contiene testo, Carattere, Elementi grafici, schermata&#10;&#10;Descrizione generata automaticamente">
            <a:extLst>
              <a:ext uri="{FF2B5EF4-FFF2-40B4-BE49-F238E27FC236}">
                <a16:creationId xmlns:a16="http://schemas.microsoft.com/office/drawing/2014/main" id="{FD0139FA-E72E-43EF-5928-A5D79472C9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spTree>
    <p:extLst>
      <p:ext uri="{BB962C8B-B14F-4D97-AF65-F5344CB8AC3E}">
        <p14:creationId xmlns:p14="http://schemas.microsoft.com/office/powerpoint/2010/main" val="1235689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2DB170-B55C-A64E-91E6-F2DFC1FFF87B}"/>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9CCC1CFA-5DEF-8F99-5558-A2254F39CE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E7AA7D17-A755-9741-EDC5-18AF01F49B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5980B319-93A0-7994-B73D-7E7AD2E825B2}"/>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 SIMULAZIONE ED ANALISI</a:t>
            </a:r>
          </a:p>
        </p:txBody>
      </p:sp>
      <p:cxnSp>
        <p:nvCxnSpPr>
          <p:cNvPr id="32" name="Straight Connector 25">
            <a:extLst>
              <a:ext uri="{FF2B5EF4-FFF2-40B4-BE49-F238E27FC236}">
                <a16:creationId xmlns:a16="http://schemas.microsoft.com/office/drawing/2014/main" id="{93C20C6C-38C8-DB0E-5B83-312BE3B63E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88452981-DCDF-FAE9-88B1-E7CE30229217}"/>
              </a:ext>
            </a:extLst>
          </p:cNvPr>
          <p:cNvSpPr txBox="1"/>
          <p:nvPr/>
        </p:nvSpPr>
        <p:spPr>
          <a:xfrm>
            <a:off x="1024129" y="2286000"/>
            <a:ext cx="4389120" cy="3931920"/>
          </a:xfrm>
          <a:prstGeom prst="rect">
            <a:avLst/>
          </a:prstGeom>
        </p:spPr>
        <p:txBody>
          <a:bodyPr vert="horz" lIns="45720" tIns="45720" rIns="45720" bIns="45720" rtlCol="0">
            <a:normAutofit fontScale="85000" lnSpcReduction="20000"/>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02.1 – Descrizione del test bed</a:t>
            </a:r>
          </a:p>
          <a:p>
            <a:pPr marL="342900" indent="-342900" defTabSz="914400">
              <a:lnSpc>
                <a:spcPct val="90000"/>
              </a:lnSpc>
              <a:spcAft>
                <a:spcPts val="600"/>
              </a:spcAft>
              <a:buClr>
                <a:schemeClr val="accent1"/>
              </a:buClr>
              <a:buFont typeface="Arial" panose="020B0604020202020204" pitchFamily="34" charset="0"/>
              <a:buChar char="•"/>
            </a:pPr>
            <a:r>
              <a:rPr lang="it-IT" dirty="0"/>
              <a:t>.1 – Sistemi utilizzati</a:t>
            </a:r>
          </a:p>
          <a:p>
            <a:pPr marL="342900" indent="-342900" defTabSz="914400">
              <a:lnSpc>
                <a:spcPct val="90000"/>
              </a:lnSpc>
              <a:spcAft>
                <a:spcPts val="600"/>
              </a:spcAft>
              <a:buClr>
                <a:schemeClr val="accent1"/>
              </a:buClr>
              <a:buFont typeface="Arial" panose="020B0604020202020204" pitchFamily="34" charset="0"/>
              <a:buChar char="•"/>
            </a:pPr>
            <a:r>
              <a:rPr lang="it-IT" dirty="0"/>
              <a:t>.2 – Configurazione della rete</a:t>
            </a:r>
          </a:p>
          <a:p>
            <a:pPr marL="342900" indent="-342900" defTabSz="914400">
              <a:lnSpc>
                <a:spcPct val="90000"/>
              </a:lnSpc>
              <a:spcAft>
                <a:spcPts val="600"/>
              </a:spcAft>
              <a:buClr>
                <a:schemeClr val="accent1"/>
              </a:buClr>
              <a:buFont typeface="Arial" panose="020B0604020202020204" pitchFamily="34" charset="0"/>
              <a:buChar char="•"/>
            </a:pPr>
            <a:r>
              <a:rPr lang="it-IT" dirty="0"/>
              <a:t>.3 – Configurazione delle Macchine Virtuali </a:t>
            </a:r>
          </a:p>
          <a:p>
            <a:pPr marL="342900" indent="-342900" defTabSz="914400">
              <a:lnSpc>
                <a:spcPct val="90000"/>
              </a:lnSpc>
              <a:spcAft>
                <a:spcPts val="600"/>
              </a:spcAft>
              <a:buClr>
                <a:schemeClr val="accent1"/>
              </a:buClr>
              <a:buFont typeface="Arial" panose="020B0604020202020204" pitchFamily="34" charset="0"/>
              <a:buChar char="•"/>
            </a:pPr>
            <a:r>
              <a:rPr lang="it-IT" dirty="0"/>
              <a:t>.4 – Importazione file web </a:t>
            </a:r>
            <a:r>
              <a:rPr lang="it-IT" dirty="0" err="1"/>
              <a:t>application</a:t>
            </a:r>
            <a:r>
              <a:rPr lang="it-IT" dirty="0"/>
              <a:t> e database</a:t>
            </a:r>
          </a:p>
          <a:p>
            <a:pPr marL="342900" indent="-342900" defTabSz="914400">
              <a:lnSpc>
                <a:spcPct val="90000"/>
              </a:lnSpc>
              <a:spcAft>
                <a:spcPts val="600"/>
              </a:spcAft>
              <a:buClr>
                <a:schemeClr val="accent1"/>
              </a:buClr>
              <a:buFont typeface="Arial" panose="020B0604020202020204" pitchFamily="34" charset="0"/>
              <a:buChar char="•"/>
            </a:pPr>
            <a:r>
              <a:rPr lang="it-IT" dirty="0"/>
              <a:t>.5 – Implementazione software dell’attacco</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02.2 – Simulazione dell’attacco</a:t>
            </a:r>
          </a:p>
          <a:p>
            <a:pPr marL="342900" indent="-342900" defTabSz="914400">
              <a:lnSpc>
                <a:spcPct val="90000"/>
              </a:lnSpc>
              <a:spcAft>
                <a:spcPts val="600"/>
              </a:spcAft>
              <a:buClr>
                <a:schemeClr val="accent1"/>
              </a:buClr>
              <a:buFont typeface="Arial" panose="020B0604020202020204" pitchFamily="34" charset="0"/>
              <a:buChar char="•"/>
            </a:pPr>
            <a:r>
              <a:rPr lang="it-IT" dirty="0"/>
              <a:t>.1 – Identificazione del target</a:t>
            </a:r>
          </a:p>
          <a:p>
            <a:pPr marL="342900" indent="-342900" defTabSz="914400">
              <a:lnSpc>
                <a:spcPct val="90000"/>
              </a:lnSpc>
              <a:spcAft>
                <a:spcPts val="600"/>
              </a:spcAft>
              <a:buClr>
                <a:schemeClr val="accent1"/>
              </a:buClr>
              <a:buFont typeface="Arial" panose="020B0604020202020204" pitchFamily="34" charset="0"/>
              <a:buChar char="•"/>
            </a:pPr>
            <a:r>
              <a:rPr lang="it-IT" dirty="0"/>
              <a:t>.2 – Verifica corretto funzionamento del server</a:t>
            </a:r>
          </a:p>
          <a:p>
            <a:pPr marL="342900" indent="-342900" defTabSz="914400">
              <a:lnSpc>
                <a:spcPct val="90000"/>
              </a:lnSpc>
              <a:spcAft>
                <a:spcPts val="600"/>
              </a:spcAft>
              <a:buClr>
                <a:schemeClr val="accent1"/>
              </a:buClr>
              <a:buFont typeface="Arial" panose="020B0604020202020204" pitchFamily="34" charset="0"/>
              <a:buChar char="•"/>
            </a:pPr>
            <a:r>
              <a:rPr lang="it-IT" dirty="0"/>
              <a:t>.3 – Inoltro dell’attacco </a:t>
            </a:r>
          </a:p>
          <a:p>
            <a:pPr marL="342900" indent="-342900" defTabSz="914400">
              <a:lnSpc>
                <a:spcPct val="90000"/>
              </a:lnSpc>
              <a:spcAft>
                <a:spcPts val="600"/>
              </a:spcAft>
              <a:buClr>
                <a:schemeClr val="accent1"/>
              </a:buClr>
              <a:buFont typeface="Arial" panose="020B0604020202020204" pitchFamily="34" charset="0"/>
              <a:buChar char="•"/>
            </a:pPr>
            <a:r>
              <a:rPr lang="it-IT" dirty="0"/>
              <a:t>.4 – Analisi delle richieste inoltrate</a:t>
            </a:r>
          </a:p>
          <a:p>
            <a:pPr marL="342900" indent="-342900" defTabSz="914400">
              <a:lnSpc>
                <a:spcPct val="90000"/>
              </a:lnSpc>
              <a:spcAft>
                <a:spcPts val="600"/>
              </a:spcAft>
              <a:buClr>
                <a:schemeClr val="accent1"/>
              </a:buClr>
              <a:buFont typeface="Arial" panose="020B0604020202020204" pitchFamily="34" charset="0"/>
              <a:buChar char="•"/>
            </a:pPr>
            <a:r>
              <a:rPr lang="it-IT" dirty="0"/>
              <a:t>.5 – Analisi banda di connessione </a:t>
            </a:r>
          </a:p>
          <a:p>
            <a:pPr marL="342900" indent="-342900" defTabSz="914400">
              <a:lnSpc>
                <a:spcPct val="90000"/>
              </a:lnSpc>
              <a:spcAft>
                <a:spcPts val="600"/>
              </a:spcAft>
              <a:buClr>
                <a:schemeClr val="accent1"/>
              </a:buClr>
              <a:buFont typeface="Arial" panose="020B0604020202020204" pitchFamily="34" charset="0"/>
              <a:buChar char="•"/>
            </a:pPr>
            <a:r>
              <a:rPr lang="it-IT" dirty="0"/>
              <a:t>.6 – Verifica del malfunzionamento </a:t>
            </a:r>
          </a:p>
          <a:p>
            <a:pPr marL="342900" indent="-342900" defTabSz="914400">
              <a:lnSpc>
                <a:spcPct val="90000"/>
              </a:lnSpc>
              <a:spcAft>
                <a:spcPts val="600"/>
              </a:spcAft>
              <a:buClr>
                <a:schemeClr val="accent1"/>
              </a:buClr>
              <a:buFont typeface="Arial" panose="020B0604020202020204" pitchFamily="34" charset="0"/>
              <a:buChar char="•"/>
            </a:pPr>
            <a:r>
              <a:rPr lang="it-IT" dirty="0"/>
              <a:t>.7 – Diagramma di Sequenza</a:t>
            </a:r>
          </a:p>
          <a:p>
            <a:pPr marL="342900" indent="-342900" defTabSz="914400">
              <a:lnSpc>
                <a:spcPct val="90000"/>
              </a:lnSpc>
              <a:spcAft>
                <a:spcPts val="600"/>
              </a:spcAft>
              <a:buClr>
                <a:schemeClr val="accent1"/>
              </a:buClr>
              <a:buFont typeface="Arial" panose="020B0604020202020204" pitchFamily="34" charset="0"/>
              <a:buChar char="•"/>
            </a:pPr>
            <a:endParaRPr lang="it-IT" dirty="0"/>
          </a:p>
        </p:txBody>
      </p:sp>
      <p:pic>
        <p:nvPicPr>
          <p:cNvPr id="2" name="Immagine 1" descr="Immagine che contiene testo, Carattere, Elementi grafici, schermata&#10;&#10;Descrizione generata automaticamente">
            <a:extLst>
              <a:ext uri="{FF2B5EF4-FFF2-40B4-BE49-F238E27FC236}">
                <a16:creationId xmlns:a16="http://schemas.microsoft.com/office/drawing/2014/main" id="{30F4D269-F208-D751-215D-57FEDF26AE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6116" y="2751206"/>
            <a:ext cx="4175762" cy="1358680"/>
          </a:xfrm>
          <a:prstGeom prst="rect">
            <a:avLst/>
          </a:prstGeom>
        </p:spPr>
      </p:pic>
    </p:spTree>
    <p:extLst>
      <p:ext uri="{BB962C8B-B14F-4D97-AF65-F5344CB8AC3E}">
        <p14:creationId xmlns:p14="http://schemas.microsoft.com/office/powerpoint/2010/main" val="2231344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91301B-8D1C-CD62-6147-1D612D3C9E18}"/>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3DF5F43F-05BC-B7A0-656D-BCDFAA8A01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6851E4FB-F7E1-D30D-2D1E-D2ED73408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F5AEC45B-C5A4-5C08-1B2B-03B079E2080C}"/>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02.1.1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Sistemi</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utilizzati</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C05DDE54-3310-CA9B-F16F-F826C007B3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950CD453-B748-17FB-8933-19DAAF66027C}"/>
              </a:ext>
            </a:extLst>
          </p:cNvPr>
          <p:cNvSpPr txBox="1"/>
          <p:nvPr/>
        </p:nvSpPr>
        <p:spPr>
          <a:xfrm>
            <a:off x="1024129" y="2286000"/>
            <a:ext cx="4389120" cy="3931920"/>
          </a:xfrm>
          <a:prstGeom prst="rect">
            <a:avLst/>
          </a:prstGeom>
        </p:spPr>
        <p:txBody>
          <a:bodyPr vert="horz" lIns="45720" tIns="45720" rIns="45720" bIns="45720" rtlCol="0">
            <a:normAutofit fontScale="92500"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Per simulare l’attacco si configura un ambiente virtuale controllato. Tale ambiente è stato realizzato tramite: </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 Oracle </a:t>
            </a:r>
            <a:r>
              <a:rPr lang="it-IT" dirty="0" err="1"/>
              <a:t>VirtualBox</a:t>
            </a:r>
            <a:r>
              <a:rPr lang="it-IT" dirty="0"/>
              <a:t> </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Tramite il quale sono state configurate due macchie virtuali: </a:t>
            </a:r>
          </a:p>
          <a:p>
            <a:pPr marL="800100" lvl="1" indent="-342900" defTabSz="914400">
              <a:lnSpc>
                <a:spcPct val="90000"/>
              </a:lnSpc>
              <a:spcAft>
                <a:spcPts val="600"/>
              </a:spcAft>
              <a:buClr>
                <a:schemeClr val="accent1"/>
              </a:buClr>
              <a:buFont typeface="Arial" panose="020B0604020202020204" pitchFamily="34" charset="0"/>
              <a:buChar char="•"/>
            </a:pPr>
            <a:r>
              <a:rPr lang="it-IT" dirty="0"/>
              <a:t>Kali Linux.2025.4.amd64 (Attaccante).</a:t>
            </a:r>
          </a:p>
          <a:p>
            <a:pPr marL="800100" lvl="1" indent="-342900" defTabSz="914400">
              <a:lnSpc>
                <a:spcPct val="90000"/>
              </a:lnSpc>
              <a:spcAft>
                <a:spcPts val="600"/>
              </a:spcAft>
              <a:buClr>
                <a:schemeClr val="accent1"/>
              </a:buClr>
              <a:buFont typeface="Arial" panose="020B0604020202020204" pitchFamily="34" charset="0"/>
              <a:buChar char="•"/>
            </a:pPr>
            <a:r>
              <a:rPr lang="it-IT" dirty="0"/>
              <a:t>Ubuntu LTS (Obiettivo).</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Software installati: </a:t>
            </a:r>
          </a:p>
          <a:p>
            <a:pPr marL="800100" lvl="1" indent="-342900" defTabSz="914400">
              <a:lnSpc>
                <a:spcPct val="90000"/>
              </a:lnSpc>
              <a:spcAft>
                <a:spcPts val="600"/>
              </a:spcAft>
              <a:buClr>
                <a:schemeClr val="accent1"/>
              </a:buClr>
              <a:buFont typeface="Arial" panose="020B0604020202020204" pitchFamily="34" charset="0"/>
              <a:buChar char="•"/>
            </a:pPr>
            <a:r>
              <a:rPr lang="it-IT" dirty="0" err="1"/>
              <a:t>Wireshark</a:t>
            </a:r>
            <a:r>
              <a:rPr lang="it-IT" dirty="0"/>
              <a:t>: strumento utile per lo sniffing e l’analisi dei pacchetti in rete. </a:t>
            </a:r>
          </a:p>
        </p:txBody>
      </p:sp>
      <p:pic>
        <p:nvPicPr>
          <p:cNvPr id="4" name="Immagine 3">
            <a:extLst>
              <a:ext uri="{FF2B5EF4-FFF2-40B4-BE49-F238E27FC236}">
                <a16:creationId xmlns:a16="http://schemas.microsoft.com/office/drawing/2014/main" id="{CCC4E77C-DA05-E0D4-DE11-0D6B2543C8C1}"/>
              </a:ext>
            </a:extLst>
          </p:cNvPr>
          <p:cNvPicPr>
            <a:picLocks noChangeAspect="1"/>
          </p:cNvPicPr>
          <p:nvPr/>
        </p:nvPicPr>
        <p:blipFill>
          <a:blip r:embed="rId3"/>
          <a:srcRect l="414" b="602"/>
          <a:stretch>
            <a:fillRect/>
          </a:stretch>
        </p:blipFill>
        <p:spPr>
          <a:xfrm>
            <a:off x="6459220" y="1847849"/>
            <a:ext cx="5488304" cy="3143251"/>
          </a:xfrm>
          <a:prstGeom prst="rect">
            <a:avLst/>
          </a:prstGeom>
        </p:spPr>
      </p:pic>
      <p:pic>
        <p:nvPicPr>
          <p:cNvPr id="11" name="Immagine 10" descr="Immagine che contiene schizzo, nero, bianco e nero, arte&#10;&#10;Descrizione generata automaticamente">
            <a:extLst>
              <a:ext uri="{FF2B5EF4-FFF2-40B4-BE49-F238E27FC236}">
                <a16:creationId xmlns:a16="http://schemas.microsoft.com/office/drawing/2014/main" id="{869AAD80-2BC7-4AD2-5E27-65733D23B0DD}"/>
              </a:ext>
            </a:extLst>
          </p:cNvPr>
          <p:cNvPicPr>
            <a:picLocks noChangeAspect="1"/>
          </p:cNvPicPr>
          <p:nvPr/>
        </p:nvPicPr>
        <p:blipFill>
          <a:blip r:embed="rId4">
            <a:alphaModFix amt="50000"/>
            <a:duotone>
              <a:schemeClr val="bg2">
                <a:shade val="45000"/>
                <a:satMod val="135000"/>
              </a:schemeClr>
              <a:prstClr val="white"/>
            </a:duotone>
          </a:blip>
          <a:stretch>
            <a:fillRect/>
          </a:stretch>
        </p:blipFill>
        <p:spPr>
          <a:xfrm>
            <a:off x="6258277" y="253525"/>
            <a:ext cx="1575492" cy="1270558"/>
          </a:xfrm>
          <a:prstGeom prst="rect">
            <a:avLst/>
          </a:prstGeom>
        </p:spPr>
      </p:pic>
      <p:pic>
        <p:nvPicPr>
          <p:cNvPr id="13" name="Immagine 12" descr="Immagine che contiene cerchio, Elementi grafici, Policromia, grafica&#10;&#10;Descrizione generata automaticamente">
            <a:extLst>
              <a:ext uri="{FF2B5EF4-FFF2-40B4-BE49-F238E27FC236}">
                <a16:creationId xmlns:a16="http://schemas.microsoft.com/office/drawing/2014/main" id="{B20663B5-3FAA-F25F-0E7D-73528924AEC3}"/>
              </a:ext>
            </a:extLst>
          </p:cNvPr>
          <p:cNvPicPr>
            <a:picLocks noChangeAspect="1"/>
          </p:cNvPicPr>
          <p:nvPr/>
        </p:nvPicPr>
        <p:blipFill>
          <a:blip r:embed="rId5">
            <a:alphaModFix amt="50000"/>
            <a:duotone>
              <a:schemeClr val="bg2">
                <a:shade val="45000"/>
                <a:satMod val="135000"/>
              </a:schemeClr>
              <a:prstClr val="white"/>
            </a:duotone>
          </a:blip>
          <a:stretch>
            <a:fillRect/>
          </a:stretch>
        </p:blipFill>
        <p:spPr>
          <a:xfrm>
            <a:off x="8232909" y="279660"/>
            <a:ext cx="1226491" cy="1218287"/>
          </a:xfrm>
          <a:prstGeom prst="rect">
            <a:avLst/>
          </a:prstGeom>
        </p:spPr>
      </p:pic>
      <p:pic>
        <p:nvPicPr>
          <p:cNvPr id="15" name="Immagine 14" descr="Immagine che contiene nero, oscurità&#10;&#10;Descrizione generata automaticamente">
            <a:extLst>
              <a:ext uri="{FF2B5EF4-FFF2-40B4-BE49-F238E27FC236}">
                <a16:creationId xmlns:a16="http://schemas.microsoft.com/office/drawing/2014/main" id="{A8BC0CC4-1DBA-8624-F4B9-463459AACDA4}"/>
              </a:ext>
            </a:extLst>
          </p:cNvPr>
          <p:cNvPicPr>
            <a:picLocks noChangeAspect="1"/>
          </p:cNvPicPr>
          <p:nvPr/>
        </p:nvPicPr>
        <p:blipFill>
          <a:blip r:embed="rId6">
            <a:alphaModFix amt="50000"/>
            <a:duotone>
              <a:schemeClr val="bg2">
                <a:shade val="45000"/>
                <a:satMod val="135000"/>
              </a:schemeClr>
              <a:prstClr val="white"/>
            </a:duotone>
          </a:blip>
          <a:stretch>
            <a:fillRect/>
          </a:stretch>
        </p:blipFill>
        <p:spPr>
          <a:xfrm>
            <a:off x="6486344" y="4700466"/>
            <a:ext cx="2062797" cy="2062797"/>
          </a:xfrm>
          <a:prstGeom prst="rect">
            <a:avLst/>
          </a:prstGeom>
        </p:spPr>
      </p:pic>
    </p:spTree>
    <p:extLst>
      <p:ext uri="{BB962C8B-B14F-4D97-AF65-F5344CB8AC3E}">
        <p14:creationId xmlns:p14="http://schemas.microsoft.com/office/powerpoint/2010/main" val="498312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734306-0885-2BED-78FC-163A358ADA56}"/>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F4C1FBB7-41D9-8CC0-B17D-D1023EDE23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30643112-BB84-5117-2F9E-CD7C01745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89BFC1BC-E84A-19B2-2919-F019C62BC237}"/>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02.1.2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della rete</a:t>
            </a:r>
          </a:p>
        </p:txBody>
      </p:sp>
      <p:cxnSp>
        <p:nvCxnSpPr>
          <p:cNvPr id="32" name="Straight Connector 25">
            <a:extLst>
              <a:ext uri="{FF2B5EF4-FFF2-40B4-BE49-F238E27FC236}">
                <a16:creationId xmlns:a16="http://schemas.microsoft.com/office/drawing/2014/main" id="{E75D50E2-85F6-7E35-E070-C0742A3C51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F5435647-31C6-3DDC-0DAC-62DB6D1B0183}"/>
              </a:ext>
            </a:extLst>
          </p:cNvPr>
          <p:cNvSpPr txBox="1"/>
          <p:nvPr/>
        </p:nvSpPr>
        <p:spPr>
          <a:xfrm>
            <a:off x="1024129" y="2286000"/>
            <a:ext cx="4389120" cy="3931920"/>
          </a:xfrm>
          <a:prstGeom prst="rect">
            <a:avLst/>
          </a:prstGeom>
        </p:spPr>
        <p:txBody>
          <a:bodyPr vert="horz" lIns="45720" tIns="45720" rIns="45720" bIns="45720" rtlCol="0">
            <a:normAutofit fontScale="92500"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Su entrambe le MV sono state configurate due schede di rete: </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Scheda Connessa a NAT (cavo connesso):</a:t>
            </a:r>
          </a:p>
          <a:p>
            <a:pPr marL="800100" lvl="1" indent="-342900" defTabSz="914400">
              <a:lnSpc>
                <a:spcPct val="90000"/>
              </a:lnSpc>
              <a:spcAft>
                <a:spcPts val="600"/>
              </a:spcAft>
              <a:buClr>
                <a:schemeClr val="accent1"/>
              </a:buClr>
              <a:buFont typeface="Arial" panose="020B0604020202020204" pitchFamily="34" charset="0"/>
              <a:buChar char="•"/>
            </a:pPr>
            <a:r>
              <a:rPr lang="it-IT" dirty="0"/>
              <a:t>Accesso a internet: attraverso la connessione </a:t>
            </a:r>
            <a:r>
              <a:rPr lang="it-IT" dirty="0" err="1"/>
              <a:t>dell’host</a:t>
            </a:r>
            <a:r>
              <a:rPr lang="it-IT" dirty="0"/>
              <a:t>.</a:t>
            </a:r>
          </a:p>
          <a:p>
            <a:pPr marL="800100" lvl="1" indent="-342900" defTabSz="914400">
              <a:lnSpc>
                <a:spcPct val="90000"/>
              </a:lnSpc>
              <a:spcAft>
                <a:spcPts val="600"/>
              </a:spcAft>
              <a:buClr>
                <a:schemeClr val="accent1"/>
              </a:buClr>
              <a:buFont typeface="Arial" panose="020B0604020202020204" pitchFamily="34" charset="0"/>
              <a:buChar char="•"/>
            </a:pPr>
            <a:r>
              <a:rPr lang="it-IT" dirty="0"/>
              <a:t>Facilità di configurazione: installare pacchetti di aggiornamento o servizi.</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Scheda solo </a:t>
            </a:r>
            <a:r>
              <a:rPr lang="it-IT" dirty="0" err="1"/>
              <a:t>host</a:t>
            </a:r>
            <a:r>
              <a:rPr lang="it-IT" dirty="0"/>
              <a:t>: </a:t>
            </a:r>
          </a:p>
          <a:p>
            <a:pPr marL="800100" lvl="1" indent="-342900" defTabSz="914400">
              <a:lnSpc>
                <a:spcPct val="90000"/>
              </a:lnSpc>
              <a:spcAft>
                <a:spcPts val="600"/>
              </a:spcAft>
              <a:buClr>
                <a:schemeClr val="accent1"/>
              </a:buClr>
              <a:buFont typeface="Arial" panose="020B0604020202020204" pitchFamily="34" charset="0"/>
              <a:buChar char="•"/>
            </a:pPr>
            <a:r>
              <a:rPr lang="it-IT" dirty="0"/>
              <a:t>Implementazione rete isola interna</a:t>
            </a:r>
          </a:p>
          <a:p>
            <a:pPr marL="800100" lvl="1" indent="-342900" defTabSz="914400">
              <a:lnSpc>
                <a:spcPct val="90000"/>
              </a:lnSpc>
              <a:spcAft>
                <a:spcPts val="600"/>
              </a:spcAft>
              <a:buClr>
                <a:schemeClr val="accent1"/>
              </a:buClr>
              <a:buFont typeface="Arial" panose="020B0604020202020204" pitchFamily="34" charset="0"/>
              <a:buChar char="•"/>
            </a:pPr>
            <a:r>
              <a:rPr lang="it-IT" dirty="0" err="1"/>
              <a:t>L’host</a:t>
            </a:r>
            <a:r>
              <a:rPr lang="it-IT" dirty="0"/>
              <a:t> e le MV che ci appartengono possono comunicare tra loro</a:t>
            </a:r>
          </a:p>
          <a:p>
            <a:pPr marL="800100" lvl="1" indent="-342900" defTabSz="914400">
              <a:lnSpc>
                <a:spcPct val="90000"/>
              </a:lnSpc>
              <a:spcAft>
                <a:spcPts val="600"/>
              </a:spcAft>
              <a:buClr>
                <a:schemeClr val="accent1"/>
              </a:buClr>
              <a:buFont typeface="Arial" panose="020B0604020202020204" pitchFamily="34" charset="0"/>
              <a:buChar char="•"/>
            </a:pPr>
            <a:r>
              <a:rPr lang="it-IT" dirty="0"/>
              <a:t>Possibilità di modalità promiscua</a:t>
            </a:r>
          </a:p>
          <a:p>
            <a:pPr marL="342900" indent="-342900" defTabSz="914400">
              <a:lnSpc>
                <a:spcPct val="90000"/>
              </a:lnSpc>
              <a:spcAft>
                <a:spcPts val="600"/>
              </a:spcAft>
              <a:buClr>
                <a:schemeClr val="accent1"/>
              </a:buClr>
              <a:buFont typeface="Arial" panose="020B0604020202020204" pitchFamily="34" charset="0"/>
              <a:buChar char="•"/>
            </a:pPr>
            <a:endParaRPr lang="it-IT" dirty="0"/>
          </a:p>
        </p:txBody>
      </p:sp>
      <p:pic>
        <p:nvPicPr>
          <p:cNvPr id="2" name="Immagine 1">
            <a:extLst>
              <a:ext uri="{FF2B5EF4-FFF2-40B4-BE49-F238E27FC236}">
                <a16:creationId xmlns:a16="http://schemas.microsoft.com/office/drawing/2014/main" id="{6968E05E-7BD2-3BA3-4E13-2F2C66BA313F}"/>
              </a:ext>
            </a:extLst>
          </p:cNvPr>
          <p:cNvPicPr>
            <a:picLocks noChangeAspect="1"/>
          </p:cNvPicPr>
          <p:nvPr/>
        </p:nvPicPr>
        <p:blipFill>
          <a:blip r:embed="rId2"/>
          <a:stretch>
            <a:fillRect/>
          </a:stretch>
        </p:blipFill>
        <p:spPr>
          <a:xfrm>
            <a:off x="6787689" y="1044147"/>
            <a:ext cx="4779963" cy="2545754"/>
          </a:xfrm>
          <a:prstGeom prst="rect">
            <a:avLst/>
          </a:prstGeom>
        </p:spPr>
      </p:pic>
      <p:pic>
        <p:nvPicPr>
          <p:cNvPr id="5" name="Immagine 4">
            <a:extLst>
              <a:ext uri="{FF2B5EF4-FFF2-40B4-BE49-F238E27FC236}">
                <a16:creationId xmlns:a16="http://schemas.microsoft.com/office/drawing/2014/main" id="{9DE60A0F-447D-5DA8-40D4-CB89247EB283}"/>
              </a:ext>
            </a:extLst>
          </p:cNvPr>
          <p:cNvPicPr>
            <a:picLocks noChangeAspect="1"/>
          </p:cNvPicPr>
          <p:nvPr/>
        </p:nvPicPr>
        <p:blipFill>
          <a:blip r:embed="rId3"/>
          <a:srcRect b="31479"/>
          <a:stretch/>
        </p:blipFill>
        <p:spPr>
          <a:xfrm>
            <a:off x="6787689" y="3796787"/>
            <a:ext cx="4779963" cy="2211572"/>
          </a:xfrm>
          <a:prstGeom prst="rect">
            <a:avLst/>
          </a:prstGeom>
        </p:spPr>
      </p:pic>
      <p:sp>
        <p:nvSpPr>
          <p:cNvPr id="6" name="Rettangolo 5">
            <a:extLst>
              <a:ext uri="{FF2B5EF4-FFF2-40B4-BE49-F238E27FC236}">
                <a16:creationId xmlns:a16="http://schemas.microsoft.com/office/drawing/2014/main" id="{AA40BF71-0FDC-29F8-65A5-D9D92CE962AE}"/>
              </a:ext>
            </a:extLst>
          </p:cNvPr>
          <p:cNvSpPr/>
          <p:nvPr/>
        </p:nvSpPr>
        <p:spPr>
          <a:xfrm>
            <a:off x="7428271" y="1545514"/>
            <a:ext cx="2095500" cy="292100"/>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585FE82D-58F0-EF23-57F8-50E6F9B157BB}"/>
              </a:ext>
            </a:extLst>
          </p:cNvPr>
          <p:cNvSpPr/>
          <p:nvPr/>
        </p:nvSpPr>
        <p:spPr>
          <a:xfrm>
            <a:off x="7428271" y="4314114"/>
            <a:ext cx="2095500" cy="276140"/>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77989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06B9BA-FBAA-F77B-D659-6CE87364763C}"/>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15C3DD65-60BC-3A80-987C-B3C54A0E3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C96C17E1-2EE5-E42C-2587-88D2AD494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C044B3AA-8D38-7E3F-D42D-42F7FA4B4B06}"/>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02.1.2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della rete</a:t>
            </a:r>
          </a:p>
        </p:txBody>
      </p:sp>
      <p:cxnSp>
        <p:nvCxnSpPr>
          <p:cNvPr id="32" name="Straight Connector 25">
            <a:extLst>
              <a:ext uri="{FF2B5EF4-FFF2-40B4-BE49-F238E27FC236}">
                <a16:creationId xmlns:a16="http://schemas.microsoft.com/office/drawing/2014/main" id="{CDC635B4-403E-0D50-6D19-6A49F7B247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095EC0FD-D276-6C72-642C-E9639813F0CB}"/>
              </a:ext>
            </a:extLst>
          </p:cNvPr>
          <p:cNvSpPr txBox="1"/>
          <p:nvPr/>
        </p:nvSpPr>
        <p:spPr>
          <a:xfrm>
            <a:off x="1024129" y="3212145"/>
            <a:ext cx="4389120" cy="835792"/>
          </a:xfrm>
          <a:prstGeom prst="rect">
            <a:avLst/>
          </a:prstGeom>
        </p:spPr>
        <p:txBody>
          <a:bodyPr vert="horz" lIns="45720" tIns="45720" rIns="45720" bIns="45720" rtlCol="0">
            <a:normAutofit lnSpcReduction="10000"/>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Su Linux sono stati settati manualmente i server DNS, per utilizzare quelli di </a:t>
            </a:r>
            <a:r>
              <a:rPr lang="it-IT" dirty="0" err="1"/>
              <a:t>CloudFlare</a:t>
            </a:r>
            <a:r>
              <a:rPr lang="it-IT" dirty="0"/>
              <a:t>, e le interfacce di rete.</a:t>
            </a:r>
          </a:p>
          <a:p>
            <a:pPr defTabSz="914400">
              <a:lnSpc>
                <a:spcPct val="90000"/>
              </a:lnSpc>
              <a:spcAft>
                <a:spcPts val="600"/>
              </a:spcAft>
              <a:buClr>
                <a:schemeClr val="accent1"/>
              </a:buClr>
            </a:pPr>
            <a:endParaRPr lang="it-IT" dirty="0"/>
          </a:p>
          <a:p>
            <a:pPr marL="342900" indent="-342900" defTabSz="914400">
              <a:lnSpc>
                <a:spcPct val="90000"/>
              </a:lnSpc>
              <a:spcAft>
                <a:spcPts val="600"/>
              </a:spcAft>
              <a:buClr>
                <a:schemeClr val="accent1"/>
              </a:buClr>
              <a:buFont typeface="Arial" panose="020B0604020202020204" pitchFamily="34" charset="0"/>
              <a:buChar char="•"/>
            </a:pPr>
            <a:endParaRPr lang="it-IT" dirty="0"/>
          </a:p>
        </p:txBody>
      </p:sp>
      <p:sp>
        <p:nvSpPr>
          <p:cNvPr id="13" name="CasellaDiTesto 12">
            <a:extLst>
              <a:ext uri="{FF2B5EF4-FFF2-40B4-BE49-F238E27FC236}">
                <a16:creationId xmlns:a16="http://schemas.microsoft.com/office/drawing/2014/main" id="{0FAAE88E-D287-57D6-8884-24704140E369}"/>
              </a:ext>
            </a:extLst>
          </p:cNvPr>
          <p:cNvSpPr txBox="1"/>
          <p:nvPr/>
        </p:nvSpPr>
        <p:spPr>
          <a:xfrm>
            <a:off x="6909765" y="655508"/>
            <a:ext cx="4309874" cy="1243417"/>
          </a:xfrm>
          <a:prstGeom prst="rect">
            <a:avLst/>
          </a:prstGeom>
          <a:noFill/>
        </p:spPr>
        <p:txBody>
          <a:bodyPr wrap="square">
            <a:spAutoFit/>
          </a:bodyPr>
          <a:lstStyle/>
          <a:p>
            <a:pPr defTabSz="914400">
              <a:lnSpc>
                <a:spcPct val="90000"/>
              </a:lnSpc>
              <a:spcAft>
                <a:spcPts val="600"/>
              </a:spcAft>
              <a:buClr>
                <a:schemeClr val="accent1"/>
              </a:buClr>
            </a:pPr>
            <a:r>
              <a:rPr lang="it-IT" dirty="0">
                <a:solidFill>
                  <a:schemeClr val="bg1"/>
                </a:solidFill>
              </a:rPr>
              <a:t>Tramite </a:t>
            </a:r>
            <a:r>
              <a:rPr lang="it-IT" dirty="0" err="1">
                <a:solidFill>
                  <a:schemeClr val="bg1"/>
                </a:solidFill>
              </a:rPr>
              <a:t>NetworkManager</a:t>
            </a:r>
            <a:r>
              <a:rPr lang="it-IT" dirty="0">
                <a:solidFill>
                  <a:schemeClr val="bg1"/>
                </a:solidFill>
              </a:rPr>
              <a:t>:</a:t>
            </a:r>
            <a:br>
              <a:rPr lang="it-IT" dirty="0">
                <a:solidFill>
                  <a:schemeClr val="bg1"/>
                </a:solidFill>
              </a:rPr>
            </a:br>
            <a:r>
              <a:rPr lang="it-IT" dirty="0">
                <a:solidFill>
                  <a:schemeClr val="bg1"/>
                </a:solidFill>
              </a:rPr>
              <a:t>- connection show</a:t>
            </a:r>
          </a:p>
          <a:p>
            <a:pPr defTabSz="914400">
              <a:lnSpc>
                <a:spcPct val="90000"/>
              </a:lnSpc>
              <a:spcAft>
                <a:spcPts val="600"/>
              </a:spcAft>
              <a:buClr>
                <a:schemeClr val="accent1"/>
              </a:buClr>
            </a:pPr>
            <a:r>
              <a:rPr lang="it-IT" dirty="0">
                <a:solidFill>
                  <a:schemeClr val="bg1"/>
                </a:solidFill>
              </a:rPr>
              <a:t>- Impostiamo i </a:t>
            </a:r>
            <a:r>
              <a:rPr lang="it-IT" dirty="0" err="1">
                <a:solidFill>
                  <a:schemeClr val="bg1"/>
                </a:solidFill>
              </a:rPr>
              <a:t>dns</a:t>
            </a:r>
            <a:r>
              <a:rPr lang="it-IT" dirty="0">
                <a:solidFill>
                  <a:schemeClr val="bg1"/>
                </a:solidFill>
              </a:rPr>
              <a:t> di </a:t>
            </a:r>
            <a:r>
              <a:rPr lang="it-IT" dirty="0" err="1">
                <a:solidFill>
                  <a:schemeClr val="bg1"/>
                </a:solidFill>
              </a:rPr>
              <a:t>CloudFlare</a:t>
            </a:r>
            <a:endParaRPr lang="it-IT" dirty="0">
              <a:solidFill>
                <a:schemeClr val="bg1"/>
              </a:solidFill>
            </a:endParaRPr>
          </a:p>
          <a:p>
            <a:pPr defTabSz="914400">
              <a:lnSpc>
                <a:spcPct val="90000"/>
              </a:lnSpc>
              <a:spcAft>
                <a:spcPts val="600"/>
              </a:spcAft>
              <a:buClr>
                <a:schemeClr val="accent1"/>
              </a:buClr>
            </a:pPr>
            <a:r>
              <a:rPr lang="it-IT" dirty="0">
                <a:solidFill>
                  <a:schemeClr val="bg1"/>
                </a:solidFill>
              </a:rPr>
              <a:t>- «blocchiamo» auto </a:t>
            </a:r>
            <a:r>
              <a:rPr lang="it-IT" dirty="0" err="1">
                <a:solidFill>
                  <a:schemeClr val="bg1"/>
                </a:solidFill>
              </a:rPr>
              <a:t>dns</a:t>
            </a:r>
            <a:r>
              <a:rPr lang="it-IT" dirty="0">
                <a:solidFill>
                  <a:schemeClr val="bg1"/>
                </a:solidFill>
              </a:rPr>
              <a:t> </a:t>
            </a:r>
          </a:p>
        </p:txBody>
      </p:sp>
      <p:sp>
        <p:nvSpPr>
          <p:cNvPr id="16" name="CasellaDiTesto 15">
            <a:extLst>
              <a:ext uri="{FF2B5EF4-FFF2-40B4-BE49-F238E27FC236}">
                <a16:creationId xmlns:a16="http://schemas.microsoft.com/office/drawing/2014/main" id="{9744EB75-3DD7-4DDC-D48F-78033A1272F9}"/>
              </a:ext>
            </a:extLst>
          </p:cNvPr>
          <p:cNvSpPr txBox="1"/>
          <p:nvPr/>
        </p:nvSpPr>
        <p:spPr>
          <a:xfrm>
            <a:off x="6170566" y="4127864"/>
            <a:ext cx="5937407" cy="923330"/>
          </a:xfrm>
          <a:prstGeom prst="rect">
            <a:avLst/>
          </a:prstGeom>
          <a:noFill/>
        </p:spPr>
        <p:txBody>
          <a:bodyPr wrap="square" rtlCol="0">
            <a:spAutoFit/>
          </a:bodyPr>
          <a:lstStyle/>
          <a:p>
            <a:pPr algn="ctr"/>
            <a:r>
              <a:rPr lang="it-IT" dirty="0">
                <a:solidFill>
                  <a:schemeClr val="bg1"/>
                </a:solidFill>
              </a:rPr>
              <a:t>Controllare in </a:t>
            </a:r>
            <a:r>
              <a:rPr lang="it-IT" dirty="0" err="1">
                <a:solidFill>
                  <a:schemeClr val="bg1"/>
                </a:solidFill>
              </a:rPr>
              <a:t>resolv.conf</a:t>
            </a:r>
            <a:r>
              <a:rPr lang="it-IT" dirty="0">
                <a:solidFill>
                  <a:schemeClr val="bg1"/>
                </a:solidFill>
              </a:rPr>
              <a:t> se compaiono i </a:t>
            </a:r>
            <a:r>
              <a:rPr lang="it-IT" dirty="0" err="1">
                <a:solidFill>
                  <a:schemeClr val="bg1"/>
                </a:solidFill>
              </a:rPr>
              <a:t>nameserver</a:t>
            </a:r>
            <a:r>
              <a:rPr lang="it-IT" dirty="0">
                <a:solidFill>
                  <a:schemeClr val="bg1"/>
                </a:solidFill>
              </a:rPr>
              <a:t> di </a:t>
            </a:r>
            <a:r>
              <a:rPr lang="it-IT" dirty="0" err="1">
                <a:solidFill>
                  <a:schemeClr val="bg1"/>
                </a:solidFill>
              </a:rPr>
              <a:t>CloudFlare</a:t>
            </a:r>
            <a:r>
              <a:rPr lang="it-IT" dirty="0">
                <a:solidFill>
                  <a:schemeClr val="bg1"/>
                </a:solidFill>
              </a:rPr>
              <a:t> (1.1.1.1 e 1.0.0.1) : </a:t>
            </a:r>
          </a:p>
          <a:p>
            <a:pPr algn="ctr"/>
            <a:endParaRPr lang="it-IT" dirty="0">
              <a:solidFill>
                <a:schemeClr val="bg1"/>
              </a:solidFill>
              <a:latin typeface="+mj-lt"/>
            </a:endParaRPr>
          </a:p>
        </p:txBody>
      </p:sp>
      <p:pic>
        <p:nvPicPr>
          <p:cNvPr id="18" name="Immagine 17">
            <a:extLst>
              <a:ext uri="{FF2B5EF4-FFF2-40B4-BE49-F238E27FC236}">
                <a16:creationId xmlns:a16="http://schemas.microsoft.com/office/drawing/2014/main" id="{898379E9-66BE-9240-7659-D2B475E3562E}"/>
              </a:ext>
            </a:extLst>
          </p:cNvPr>
          <p:cNvPicPr>
            <a:picLocks noChangeAspect="1"/>
          </p:cNvPicPr>
          <p:nvPr/>
        </p:nvPicPr>
        <p:blipFill>
          <a:blip r:embed="rId3"/>
          <a:stretch>
            <a:fillRect/>
          </a:stretch>
        </p:blipFill>
        <p:spPr>
          <a:xfrm>
            <a:off x="7948645" y="4822041"/>
            <a:ext cx="2381250" cy="495300"/>
          </a:xfrm>
          <a:prstGeom prst="rect">
            <a:avLst/>
          </a:prstGeom>
        </p:spPr>
      </p:pic>
      <p:sp>
        <p:nvSpPr>
          <p:cNvPr id="19" name="CasellaDiTesto 18">
            <a:extLst>
              <a:ext uri="{FF2B5EF4-FFF2-40B4-BE49-F238E27FC236}">
                <a16:creationId xmlns:a16="http://schemas.microsoft.com/office/drawing/2014/main" id="{1097C4E9-AEAD-D2F9-BCB6-B9149B584962}"/>
              </a:ext>
            </a:extLst>
          </p:cNvPr>
          <p:cNvSpPr txBox="1"/>
          <p:nvPr/>
        </p:nvSpPr>
        <p:spPr>
          <a:xfrm>
            <a:off x="7219987" y="5412722"/>
            <a:ext cx="3689428" cy="369332"/>
          </a:xfrm>
          <a:prstGeom prst="rect">
            <a:avLst/>
          </a:prstGeom>
          <a:noFill/>
        </p:spPr>
        <p:txBody>
          <a:bodyPr wrap="square" rtlCol="0">
            <a:spAutoFit/>
          </a:bodyPr>
          <a:lstStyle/>
          <a:p>
            <a:pPr algn="ctr"/>
            <a:r>
              <a:rPr lang="it-IT" dirty="0">
                <a:solidFill>
                  <a:schemeClr val="bg1"/>
                </a:solidFill>
              </a:rPr>
              <a:t>Riavviare il Network Manager:</a:t>
            </a:r>
          </a:p>
        </p:txBody>
      </p:sp>
      <p:pic>
        <p:nvPicPr>
          <p:cNvPr id="20" name="Immagine 19">
            <a:extLst>
              <a:ext uri="{FF2B5EF4-FFF2-40B4-BE49-F238E27FC236}">
                <a16:creationId xmlns:a16="http://schemas.microsoft.com/office/drawing/2014/main" id="{E0566947-38AE-9280-49DC-45F5FD9235B0}"/>
              </a:ext>
            </a:extLst>
          </p:cNvPr>
          <p:cNvPicPr>
            <a:picLocks noChangeAspect="1"/>
          </p:cNvPicPr>
          <p:nvPr/>
        </p:nvPicPr>
        <p:blipFill>
          <a:blip r:embed="rId4"/>
          <a:stretch>
            <a:fillRect/>
          </a:stretch>
        </p:blipFill>
        <p:spPr>
          <a:xfrm>
            <a:off x="7258084" y="5858620"/>
            <a:ext cx="3762375" cy="400050"/>
          </a:xfrm>
          <a:prstGeom prst="rect">
            <a:avLst/>
          </a:prstGeom>
        </p:spPr>
      </p:pic>
      <p:pic>
        <p:nvPicPr>
          <p:cNvPr id="22" name="Immagine 21" descr="Immagine che contiene testo, Carattere, Elementi grafici, schermata&#10;&#10;Descrizione generata automaticamente">
            <a:extLst>
              <a:ext uri="{FF2B5EF4-FFF2-40B4-BE49-F238E27FC236}">
                <a16:creationId xmlns:a16="http://schemas.microsoft.com/office/drawing/2014/main" id="{B7CC36E9-4D61-F7AD-7953-A7BFA9CB6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pic>
        <p:nvPicPr>
          <p:cNvPr id="4" name="Immagine 3" descr="Immagine che contiene testo, schermata, Carattere&#10;&#10;Il contenuto generato dall'IA potrebbe non essere corretto.">
            <a:extLst>
              <a:ext uri="{FF2B5EF4-FFF2-40B4-BE49-F238E27FC236}">
                <a16:creationId xmlns:a16="http://schemas.microsoft.com/office/drawing/2014/main" id="{00224622-4C36-397D-1F27-113759523C64}"/>
              </a:ext>
            </a:extLst>
          </p:cNvPr>
          <p:cNvPicPr>
            <a:picLocks noChangeAspect="1"/>
          </p:cNvPicPr>
          <p:nvPr/>
        </p:nvPicPr>
        <p:blipFill>
          <a:blip r:embed="rId6"/>
          <a:stretch>
            <a:fillRect/>
          </a:stretch>
        </p:blipFill>
        <p:spPr>
          <a:xfrm>
            <a:off x="6567097" y="2057327"/>
            <a:ext cx="5135869" cy="1917926"/>
          </a:xfrm>
          <a:prstGeom prst="rect">
            <a:avLst/>
          </a:prstGeom>
        </p:spPr>
      </p:pic>
    </p:spTree>
    <p:extLst>
      <p:ext uri="{BB962C8B-B14F-4D97-AF65-F5344CB8AC3E}">
        <p14:creationId xmlns:p14="http://schemas.microsoft.com/office/powerpoint/2010/main" val="2141842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3E168D-00DA-7AB6-C43B-6F3425F18D79}"/>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54135A58-AE18-8B27-4133-3B203DA55D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EF97BEEA-EA83-BB26-BE61-C6A9314CD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25">
            <a:extLst>
              <a:ext uri="{FF2B5EF4-FFF2-40B4-BE49-F238E27FC236}">
                <a16:creationId xmlns:a16="http://schemas.microsoft.com/office/drawing/2014/main" id="{DD9A6DA8-F837-81B0-A3D6-DD35241F1C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asellaDiTesto 6">
            <a:extLst>
              <a:ext uri="{FF2B5EF4-FFF2-40B4-BE49-F238E27FC236}">
                <a16:creationId xmlns:a16="http://schemas.microsoft.com/office/drawing/2014/main" id="{D7D6875C-F81C-A34F-713E-651ECB10C5BE}"/>
              </a:ext>
            </a:extLst>
          </p:cNvPr>
          <p:cNvSpPr txBox="1"/>
          <p:nvPr/>
        </p:nvSpPr>
        <p:spPr>
          <a:xfrm>
            <a:off x="-656432" y="983403"/>
            <a:ext cx="6017702" cy="400110"/>
          </a:xfrm>
          <a:prstGeom prst="rect">
            <a:avLst/>
          </a:prstGeom>
          <a:noFill/>
        </p:spPr>
        <p:txBody>
          <a:bodyPr wrap="square" rtlCol="0">
            <a:spAutoFit/>
          </a:bodyPr>
          <a:lstStyle/>
          <a:p>
            <a:pPr algn="ctr"/>
            <a:r>
              <a:rPr lang="it-IT" sz="2000" dirty="0">
                <a:latin typeface="+mj-lt"/>
              </a:rPr>
              <a:t>Infine, tramite il comando </a:t>
            </a:r>
            <a:r>
              <a:rPr lang="it-IT" sz="2000" b="1" dirty="0">
                <a:latin typeface="+mj-lt"/>
              </a:rPr>
              <a:t>ifconfig: </a:t>
            </a:r>
            <a:endParaRPr lang="it-IT" sz="2000" dirty="0">
              <a:latin typeface="+mj-lt"/>
            </a:endParaRPr>
          </a:p>
        </p:txBody>
      </p:sp>
      <p:sp>
        <p:nvSpPr>
          <p:cNvPr id="13" name="CasellaDiTesto 12">
            <a:extLst>
              <a:ext uri="{FF2B5EF4-FFF2-40B4-BE49-F238E27FC236}">
                <a16:creationId xmlns:a16="http://schemas.microsoft.com/office/drawing/2014/main" id="{E5C91ADF-9CA6-0739-9004-D364BC7D96C9}"/>
              </a:ext>
            </a:extLst>
          </p:cNvPr>
          <p:cNvSpPr txBox="1"/>
          <p:nvPr/>
        </p:nvSpPr>
        <p:spPr>
          <a:xfrm>
            <a:off x="8415575" y="1484322"/>
            <a:ext cx="3073161" cy="369332"/>
          </a:xfrm>
          <a:prstGeom prst="rect">
            <a:avLst/>
          </a:prstGeom>
          <a:noFill/>
        </p:spPr>
        <p:txBody>
          <a:bodyPr wrap="square" rtlCol="0">
            <a:spAutoFit/>
          </a:bodyPr>
          <a:lstStyle/>
          <a:p>
            <a:pPr algn="ctr"/>
            <a:r>
              <a:rPr lang="it-IT" b="1" dirty="0">
                <a:solidFill>
                  <a:schemeClr val="bg1"/>
                </a:solidFill>
                <a:latin typeface="+mj-lt"/>
              </a:rPr>
              <a:t>Rete NAT </a:t>
            </a:r>
            <a:r>
              <a:rPr lang="it-IT" dirty="0">
                <a:solidFill>
                  <a:schemeClr val="bg1"/>
                </a:solidFill>
                <a:latin typeface="+mj-lt"/>
              </a:rPr>
              <a:t>per navigare su internet</a:t>
            </a:r>
          </a:p>
        </p:txBody>
      </p:sp>
      <p:sp>
        <p:nvSpPr>
          <p:cNvPr id="14" name="CasellaDiTesto 13">
            <a:extLst>
              <a:ext uri="{FF2B5EF4-FFF2-40B4-BE49-F238E27FC236}">
                <a16:creationId xmlns:a16="http://schemas.microsoft.com/office/drawing/2014/main" id="{9E28EE53-B18C-085A-A00E-E146D6F4742F}"/>
              </a:ext>
            </a:extLst>
          </p:cNvPr>
          <p:cNvSpPr txBox="1"/>
          <p:nvPr/>
        </p:nvSpPr>
        <p:spPr>
          <a:xfrm>
            <a:off x="8415576" y="3117403"/>
            <a:ext cx="3073161" cy="923330"/>
          </a:xfrm>
          <a:prstGeom prst="rect">
            <a:avLst/>
          </a:prstGeom>
          <a:noFill/>
        </p:spPr>
        <p:txBody>
          <a:bodyPr wrap="square" rtlCol="0">
            <a:spAutoFit/>
          </a:bodyPr>
          <a:lstStyle/>
          <a:p>
            <a:pPr algn="ctr"/>
            <a:r>
              <a:rPr lang="it-IT" dirty="0">
                <a:solidFill>
                  <a:schemeClr val="bg1"/>
                </a:solidFill>
                <a:latin typeface="+mj-lt"/>
              </a:rPr>
              <a:t>Rete </a:t>
            </a:r>
            <a:r>
              <a:rPr lang="it-IT" b="1" dirty="0">
                <a:solidFill>
                  <a:schemeClr val="bg1"/>
                </a:solidFill>
                <a:latin typeface="+mj-lt"/>
              </a:rPr>
              <a:t>locale</a:t>
            </a:r>
            <a:r>
              <a:rPr lang="it-IT" dirty="0">
                <a:solidFill>
                  <a:schemeClr val="bg1"/>
                </a:solidFill>
                <a:latin typeface="+mj-lt"/>
              </a:rPr>
              <a:t> Host, Linux, Ubuntu con indirizzo IP assegnato da DHCP con i server settati. </a:t>
            </a:r>
          </a:p>
        </p:txBody>
      </p:sp>
      <p:sp>
        <p:nvSpPr>
          <p:cNvPr id="33" name="CasellaDiTesto 32">
            <a:extLst>
              <a:ext uri="{FF2B5EF4-FFF2-40B4-BE49-F238E27FC236}">
                <a16:creationId xmlns:a16="http://schemas.microsoft.com/office/drawing/2014/main" id="{062DDFBE-44BC-68E4-37BE-E15673EA9BE2}"/>
              </a:ext>
            </a:extLst>
          </p:cNvPr>
          <p:cNvSpPr txBox="1"/>
          <p:nvPr/>
        </p:nvSpPr>
        <p:spPr>
          <a:xfrm>
            <a:off x="8415577" y="4813786"/>
            <a:ext cx="3073161" cy="646331"/>
          </a:xfrm>
          <a:prstGeom prst="rect">
            <a:avLst/>
          </a:prstGeom>
          <a:noFill/>
        </p:spPr>
        <p:txBody>
          <a:bodyPr wrap="square" rtlCol="0">
            <a:spAutoFit/>
          </a:bodyPr>
          <a:lstStyle/>
          <a:p>
            <a:pPr algn="ctr"/>
            <a:r>
              <a:rPr lang="it-IT" dirty="0">
                <a:solidFill>
                  <a:schemeClr val="bg1"/>
                </a:solidFill>
                <a:latin typeface="+mj-lt"/>
              </a:rPr>
              <a:t>Rete </a:t>
            </a:r>
            <a:r>
              <a:rPr lang="it-IT" b="1" dirty="0">
                <a:solidFill>
                  <a:schemeClr val="bg1"/>
                </a:solidFill>
                <a:latin typeface="+mj-lt"/>
              </a:rPr>
              <a:t>Loopback </a:t>
            </a:r>
            <a:r>
              <a:rPr lang="it-IT" dirty="0">
                <a:solidFill>
                  <a:schemeClr val="bg1"/>
                </a:solidFill>
                <a:latin typeface="+mj-lt"/>
              </a:rPr>
              <a:t>con indirizzo IP standard </a:t>
            </a:r>
            <a:r>
              <a:rPr lang="it-IT" b="1" dirty="0">
                <a:solidFill>
                  <a:schemeClr val="bg1"/>
                </a:solidFill>
                <a:latin typeface="+mj-lt"/>
              </a:rPr>
              <a:t>localhost</a:t>
            </a:r>
            <a:r>
              <a:rPr lang="it-IT" dirty="0">
                <a:solidFill>
                  <a:schemeClr val="bg1"/>
                </a:solidFill>
                <a:latin typeface="+mj-lt"/>
              </a:rPr>
              <a:t> </a:t>
            </a:r>
          </a:p>
        </p:txBody>
      </p:sp>
      <p:pic>
        <p:nvPicPr>
          <p:cNvPr id="15" name="Immagine 14" descr="Immagine che contiene testo, Carattere, Elementi grafici, schermata&#10;&#10;Descrizione generata automaticamente">
            <a:extLst>
              <a:ext uri="{FF2B5EF4-FFF2-40B4-BE49-F238E27FC236}">
                <a16:creationId xmlns:a16="http://schemas.microsoft.com/office/drawing/2014/main" id="{58A67E69-ABE2-E8ED-B4A1-9BC2978CEF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0687" y="361327"/>
            <a:ext cx="1461718" cy="475604"/>
          </a:xfrm>
          <a:prstGeom prst="rect">
            <a:avLst/>
          </a:prstGeom>
        </p:spPr>
      </p:pic>
      <p:pic>
        <p:nvPicPr>
          <p:cNvPr id="4" name="Immagine 3" descr="Immagine che contiene testo, schermata, Carattere, menu&#10;&#10;Il contenuto generato dall'IA potrebbe non essere corretto.">
            <a:extLst>
              <a:ext uri="{FF2B5EF4-FFF2-40B4-BE49-F238E27FC236}">
                <a16:creationId xmlns:a16="http://schemas.microsoft.com/office/drawing/2014/main" id="{00606EE5-C987-C48A-35B9-96B4C482AFE8}"/>
              </a:ext>
            </a:extLst>
          </p:cNvPr>
          <p:cNvPicPr>
            <a:picLocks noChangeAspect="1"/>
          </p:cNvPicPr>
          <p:nvPr/>
        </p:nvPicPr>
        <p:blipFill>
          <a:blip r:embed="rId4"/>
          <a:stretch>
            <a:fillRect/>
          </a:stretch>
        </p:blipFill>
        <p:spPr>
          <a:xfrm>
            <a:off x="399600" y="1577319"/>
            <a:ext cx="7260684" cy="5099904"/>
          </a:xfrm>
          <a:prstGeom prst="rect">
            <a:avLst/>
          </a:prstGeom>
        </p:spPr>
      </p:pic>
      <p:cxnSp>
        <p:nvCxnSpPr>
          <p:cNvPr id="5" name="Connettore 2 4">
            <a:extLst>
              <a:ext uri="{FF2B5EF4-FFF2-40B4-BE49-F238E27FC236}">
                <a16:creationId xmlns:a16="http://schemas.microsoft.com/office/drawing/2014/main" id="{26F1991E-1105-1683-20C7-5F63C2314BDE}"/>
              </a:ext>
            </a:extLst>
          </p:cNvPr>
          <p:cNvCxnSpPr>
            <a:cxnSpLocks/>
            <a:endCxn id="13" idx="1"/>
          </p:cNvCxnSpPr>
          <p:nvPr/>
        </p:nvCxnSpPr>
        <p:spPr>
          <a:xfrm>
            <a:off x="6074693" y="1668988"/>
            <a:ext cx="2340882"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ttore 2 15">
            <a:extLst>
              <a:ext uri="{FF2B5EF4-FFF2-40B4-BE49-F238E27FC236}">
                <a16:creationId xmlns:a16="http://schemas.microsoft.com/office/drawing/2014/main" id="{8B5D46AF-5EE7-7435-2D7B-13750E101FD4}"/>
              </a:ext>
            </a:extLst>
          </p:cNvPr>
          <p:cNvCxnSpPr>
            <a:cxnSpLocks/>
            <a:endCxn id="14" idx="1"/>
          </p:cNvCxnSpPr>
          <p:nvPr/>
        </p:nvCxnSpPr>
        <p:spPr>
          <a:xfrm>
            <a:off x="6074692" y="3579068"/>
            <a:ext cx="234088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C3F3DAE4-4A3A-3B12-9BFA-9DCA2AE6128A}"/>
              </a:ext>
            </a:extLst>
          </p:cNvPr>
          <p:cNvCxnSpPr>
            <a:cxnSpLocks/>
            <a:endCxn id="33" idx="1"/>
          </p:cNvCxnSpPr>
          <p:nvPr/>
        </p:nvCxnSpPr>
        <p:spPr>
          <a:xfrm flipV="1">
            <a:off x="4682215" y="5136952"/>
            <a:ext cx="3733362" cy="5206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Rettangolo 17">
            <a:extLst>
              <a:ext uri="{FF2B5EF4-FFF2-40B4-BE49-F238E27FC236}">
                <a16:creationId xmlns:a16="http://schemas.microsoft.com/office/drawing/2014/main" id="{516033BA-4AE9-C431-12F0-4A1C2E22B433}"/>
              </a:ext>
            </a:extLst>
          </p:cNvPr>
          <p:cNvSpPr/>
          <p:nvPr/>
        </p:nvSpPr>
        <p:spPr>
          <a:xfrm>
            <a:off x="1598003" y="3585757"/>
            <a:ext cx="1426846" cy="247389"/>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094165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9087AF-DE9F-9FB7-2B47-A481936A6746}"/>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232E232C-79FC-9860-E445-53087067B1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D994465F-7733-225C-C681-BC3D2E0D4A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0F8B33A9-D8E5-286F-A377-AEDBA4D1671F}"/>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02.1.2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della rete</a:t>
            </a:r>
          </a:p>
        </p:txBody>
      </p:sp>
      <p:cxnSp>
        <p:nvCxnSpPr>
          <p:cNvPr id="32" name="Straight Connector 25">
            <a:extLst>
              <a:ext uri="{FF2B5EF4-FFF2-40B4-BE49-F238E27FC236}">
                <a16:creationId xmlns:a16="http://schemas.microsoft.com/office/drawing/2014/main" id="{4C800082-5299-BC3C-D775-B05001D165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7FFADEAE-233E-7A3A-7E2A-5027961543E5}"/>
              </a:ext>
            </a:extLst>
          </p:cNvPr>
          <p:cNvSpPr txBox="1"/>
          <p:nvPr/>
        </p:nvSpPr>
        <p:spPr>
          <a:xfrm>
            <a:off x="1024129" y="2286000"/>
            <a:ext cx="4389120" cy="3931920"/>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Nella stessa maniera, sono stati settati i server DNS anche sulla macchina Ubuntu. </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Modificare il file seguente :</a:t>
            </a:r>
          </a:p>
          <a:p>
            <a:pPr defTabSz="914400">
              <a:lnSpc>
                <a:spcPct val="90000"/>
              </a:lnSpc>
              <a:spcAft>
                <a:spcPts val="600"/>
              </a:spcAft>
              <a:buClr>
                <a:schemeClr val="accent1"/>
              </a:buCl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Seguire ciò che suggeriscono le righe commentate per rendere la modifica persistente.</a:t>
            </a:r>
          </a:p>
          <a:p>
            <a:pPr marL="342900" indent="-342900" defTabSz="914400">
              <a:lnSpc>
                <a:spcPct val="90000"/>
              </a:lnSpc>
              <a:spcAft>
                <a:spcPts val="600"/>
              </a:spcAft>
              <a:buClr>
                <a:schemeClr val="accent1"/>
              </a:buClr>
              <a:buFont typeface="Arial" panose="020B0604020202020204" pitchFamily="34" charset="0"/>
              <a:buChar char="•"/>
            </a:pPr>
            <a:r>
              <a:rPr lang="it-IT" dirty="0"/>
              <a:t>In seguito riavviare le interfacce di rete tramite:  </a:t>
            </a:r>
          </a:p>
        </p:txBody>
      </p:sp>
      <p:pic>
        <p:nvPicPr>
          <p:cNvPr id="22" name="Immagine 21" descr="Immagine che contiene testo, Carattere, Elementi grafici, schermata&#10;&#10;Descrizione generata automaticamente">
            <a:extLst>
              <a:ext uri="{FF2B5EF4-FFF2-40B4-BE49-F238E27FC236}">
                <a16:creationId xmlns:a16="http://schemas.microsoft.com/office/drawing/2014/main" id="{24532CBB-9716-0A3A-BA16-907AFAB3C0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pic>
        <p:nvPicPr>
          <p:cNvPr id="2" name="Immagine 1">
            <a:extLst>
              <a:ext uri="{FF2B5EF4-FFF2-40B4-BE49-F238E27FC236}">
                <a16:creationId xmlns:a16="http://schemas.microsoft.com/office/drawing/2014/main" id="{8EF99368-28D1-BB60-AE1A-D323E954070A}"/>
              </a:ext>
            </a:extLst>
          </p:cNvPr>
          <p:cNvPicPr>
            <a:picLocks noChangeAspect="1"/>
          </p:cNvPicPr>
          <p:nvPr/>
        </p:nvPicPr>
        <p:blipFill>
          <a:blip r:embed="rId4"/>
          <a:stretch>
            <a:fillRect/>
          </a:stretch>
        </p:blipFill>
        <p:spPr>
          <a:xfrm>
            <a:off x="6698817" y="625168"/>
            <a:ext cx="5036430" cy="2385266"/>
          </a:xfrm>
          <a:prstGeom prst="rect">
            <a:avLst/>
          </a:prstGeom>
        </p:spPr>
      </p:pic>
      <p:pic>
        <p:nvPicPr>
          <p:cNvPr id="4" name="Immagine 3">
            <a:extLst>
              <a:ext uri="{FF2B5EF4-FFF2-40B4-BE49-F238E27FC236}">
                <a16:creationId xmlns:a16="http://schemas.microsoft.com/office/drawing/2014/main" id="{AF0AF0F4-87F7-F5E2-6618-520E3AFC1213}"/>
              </a:ext>
            </a:extLst>
          </p:cNvPr>
          <p:cNvPicPr>
            <a:picLocks noChangeAspect="1"/>
          </p:cNvPicPr>
          <p:nvPr/>
        </p:nvPicPr>
        <p:blipFill>
          <a:blip r:embed="rId5"/>
          <a:stretch>
            <a:fillRect/>
          </a:stretch>
        </p:blipFill>
        <p:spPr>
          <a:xfrm>
            <a:off x="6698817" y="4102107"/>
            <a:ext cx="3599951" cy="291014"/>
          </a:xfrm>
          <a:prstGeom prst="rect">
            <a:avLst/>
          </a:prstGeom>
        </p:spPr>
      </p:pic>
      <p:cxnSp>
        <p:nvCxnSpPr>
          <p:cNvPr id="5" name="Connettore 2 4">
            <a:extLst>
              <a:ext uri="{FF2B5EF4-FFF2-40B4-BE49-F238E27FC236}">
                <a16:creationId xmlns:a16="http://schemas.microsoft.com/office/drawing/2014/main" id="{BE682C74-D551-130B-E9EC-722D59ED563A}"/>
              </a:ext>
            </a:extLst>
          </p:cNvPr>
          <p:cNvCxnSpPr>
            <a:cxnSpLocks/>
            <a:endCxn id="2" idx="1"/>
          </p:cNvCxnSpPr>
          <p:nvPr/>
        </p:nvCxnSpPr>
        <p:spPr>
          <a:xfrm flipV="1">
            <a:off x="4227871" y="1817801"/>
            <a:ext cx="2470946" cy="1611199"/>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79E08B7E-FB55-418E-73DB-8E1933255A3E}"/>
              </a:ext>
            </a:extLst>
          </p:cNvPr>
          <p:cNvCxnSpPr>
            <a:cxnSpLocks/>
            <a:stCxn id="8" idx="3"/>
            <a:endCxn id="4" idx="1"/>
          </p:cNvCxnSpPr>
          <p:nvPr/>
        </p:nvCxnSpPr>
        <p:spPr>
          <a:xfrm flipV="1">
            <a:off x="5413249" y="4247614"/>
            <a:ext cx="1285568" cy="434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9EF47AC9-0661-6C84-08E6-FA1FD1FEE832}"/>
              </a:ext>
            </a:extLst>
          </p:cNvPr>
          <p:cNvSpPr txBox="1"/>
          <p:nvPr/>
        </p:nvSpPr>
        <p:spPr>
          <a:xfrm>
            <a:off x="6358125" y="232958"/>
            <a:ext cx="5377122" cy="369332"/>
          </a:xfrm>
          <a:prstGeom prst="rect">
            <a:avLst/>
          </a:prstGeom>
          <a:noFill/>
        </p:spPr>
        <p:txBody>
          <a:bodyPr wrap="square" rtlCol="0">
            <a:spAutoFit/>
          </a:bodyPr>
          <a:lstStyle/>
          <a:p>
            <a:pPr algn="ctr"/>
            <a:r>
              <a:rPr lang="it-IT" dirty="0">
                <a:solidFill>
                  <a:schemeClr val="bg1"/>
                </a:solidFill>
              </a:rPr>
              <a:t>sudo nano /</a:t>
            </a:r>
            <a:r>
              <a:rPr lang="it-IT" dirty="0" err="1">
                <a:solidFill>
                  <a:schemeClr val="bg1"/>
                </a:solidFill>
              </a:rPr>
              <a:t>etc</a:t>
            </a:r>
            <a:r>
              <a:rPr lang="it-IT" dirty="0">
                <a:solidFill>
                  <a:schemeClr val="bg1"/>
                </a:solidFill>
              </a:rPr>
              <a:t>/</a:t>
            </a:r>
            <a:r>
              <a:rPr lang="it-IT" dirty="0" err="1">
                <a:solidFill>
                  <a:schemeClr val="bg1"/>
                </a:solidFill>
              </a:rPr>
              <a:t>netplan</a:t>
            </a:r>
            <a:r>
              <a:rPr lang="it-IT" dirty="0">
                <a:solidFill>
                  <a:schemeClr val="bg1"/>
                </a:solidFill>
              </a:rPr>
              <a:t>/50-cloud-init.yaml</a:t>
            </a:r>
          </a:p>
        </p:txBody>
      </p:sp>
    </p:spTree>
    <p:extLst>
      <p:ext uri="{BB962C8B-B14F-4D97-AF65-F5344CB8AC3E}">
        <p14:creationId xmlns:p14="http://schemas.microsoft.com/office/powerpoint/2010/main" val="122579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8A7B9-56C7-81E5-5A39-AA0DC251D775}"/>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6E2E6BF4-2CB0-8325-807B-798CCE35D6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297AF8E1-9F5F-7A31-1830-EA75FA5C9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396CF2DA-29C5-5E28-25E1-DF8D299761A7}"/>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02.1.2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della rete</a:t>
            </a:r>
          </a:p>
        </p:txBody>
      </p:sp>
      <p:cxnSp>
        <p:nvCxnSpPr>
          <p:cNvPr id="32" name="Straight Connector 25">
            <a:extLst>
              <a:ext uri="{FF2B5EF4-FFF2-40B4-BE49-F238E27FC236}">
                <a16:creationId xmlns:a16="http://schemas.microsoft.com/office/drawing/2014/main" id="{D01BBF94-0806-8351-8983-700ACFF1D4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52DD52A5-8ECF-3CEE-0C78-5F6C64D9C7F2}"/>
              </a:ext>
            </a:extLst>
          </p:cNvPr>
          <p:cNvSpPr txBox="1"/>
          <p:nvPr/>
        </p:nvSpPr>
        <p:spPr>
          <a:xfrm>
            <a:off x="853439" y="3193984"/>
            <a:ext cx="4389120" cy="1841769"/>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Tramite </a:t>
            </a:r>
            <a:r>
              <a:rPr lang="it-IT" b="1" dirty="0" err="1"/>
              <a:t>ip</a:t>
            </a:r>
            <a:r>
              <a:rPr lang="it-IT" b="1" dirty="0"/>
              <a:t> a</a:t>
            </a:r>
            <a:r>
              <a:rPr lang="it-IT" dirty="0"/>
              <a:t> noteremo una situazione simile a quella riscontrata nella macchina Linux </a:t>
            </a:r>
          </a:p>
        </p:txBody>
      </p:sp>
      <p:pic>
        <p:nvPicPr>
          <p:cNvPr id="22" name="Immagine 21" descr="Immagine che contiene testo, Carattere, Elementi grafici, schermata&#10;&#10;Descrizione generata automaticamente">
            <a:extLst>
              <a:ext uri="{FF2B5EF4-FFF2-40B4-BE49-F238E27FC236}">
                <a16:creationId xmlns:a16="http://schemas.microsoft.com/office/drawing/2014/main" id="{B9A03F0D-7965-315A-FE8F-3D6819CF5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pic>
        <p:nvPicPr>
          <p:cNvPr id="2" name="Immagine 1">
            <a:extLst>
              <a:ext uri="{FF2B5EF4-FFF2-40B4-BE49-F238E27FC236}">
                <a16:creationId xmlns:a16="http://schemas.microsoft.com/office/drawing/2014/main" id="{0BF8D330-B9F5-AC87-0912-18BF53C3AF96}"/>
              </a:ext>
            </a:extLst>
          </p:cNvPr>
          <p:cNvPicPr>
            <a:picLocks noChangeAspect="1"/>
          </p:cNvPicPr>
          <p:nvPr/>
        </p:nvPicPr>
        <p:blipFill>
          <a:blip r:embed="rId4"/>
          <a:stretch>
            <a:fillRect/>
          </a:stretch>
        </p:blipFill>
        <p:spPr>
          <a:xfrm>
            <a:off x="6512690" y="1740724"/>
            <a:ext cx="5479615" cy="3778427"/>
          </a:xfrm>
          <a:prstGeom prst="rect">
            <a:avLst/>
          </a:prstGeom>
        </p:spPr>
      </p:pic>
    </p:spTree>
    <p:extLst>
      <p:ext uri="{BB962C8B-B14F-4D97-AF65-F5344CB8AC3E}">
        <p14:creationId xmlns:p14="http://schemas.microsoft.com/office/powerpoint/2010/main" val="62493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E5F10B-6F65-9299-4F31-0B3F60D07FE7}"/>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DD3F3D6D-A54B-8602-C665-1BF119ADD1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FB13CADF-C7BA-291F-6691-77071DDF9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25">
            <a:extLst>
              <a:ext uri="{FF2B5EF4-FFF2-40B4-BE49-F238E27FC236}">
                <a16:creationId xmlns:a16="http://schemas.microsoft.com/office/drawing/2014/main" id="{FC2D62C1-9D94-EBAF-B995-B3906FDDC2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8AEEB292-ACC8-833F-5525-2D6E224205F1}"/>
              </a:ext>
            </a:extLst>
          </p:cNvPr>
          <p:cNvSpPr txBox="1"/>
          <p:nvPr/>
        </p:nvSpPr>
        <p:spPr>
          <a:xfrm>
            <a:off x="6568436" y="532694"/>
            <a:ext cx="4389120" cy="1841769"/>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solidFill>
                  <a:schemeClr val="bg1"/>
                </a:solidFill>
              </a:rPr>
              <a:t>Tramite una serie di Ping si può verificare che le macchine comunichino tra loro all’interno della rete virtuale e che riescano ad interfacciarsi all’esterno</a:t>
            </a:r>
            <a:br>
              <a:rPr lang="it-IT" dirty="0">
                <a:solidFill>
                  <a:schemeClr val="bg1"/>
                </a:solidFill>
              </a:rPr>
            </a:br>
            <a:r>
              <a:rPr lang="it-IT" dirty="0">
                <a:solidFill>
                  <a:schemeClr val="bg1"/>
                </a:solidFill>
              </a:rPr>
              <a:t>(in immagine è mostrato anche il </a:t>
            </a:r>
            <a:r>
              <a:rPr lang="it-IT" dirty="0" err="1">
                <a:solidFill>
                  <a:schemeClr val="bg1"/>
                </a:solidFill>
              </a:rPr>
              <a:t>ping</a:t>
            </a:r>
            <a:r>
              <a:rPr lang="it-IT" dirty="0">
                <a:solidFill>
                  <a:schemeClr val="bg1"/>
                </a:solidFill>
              </a:rPr>
              <a:t> a </a:t>
            </a:r>
            <a:r>
              <a:rPr lang="it-IT" dirty="0" err="1">
                <a:solidFill>
                  <a:schemeClr val="bg1"/>
                </a:solidFill>
              </a:rPr>
              <a:t>google</a:t>
            </a:r>
            <a:r>
              <a:rPr lang="it-IT" dirty="0">
                <a:solidFill>
                  <a:schemeClr val="bg1"/>
                </a:solidFill>
              </a:rPr>
              <a:t>)</a:t>
            </a:r>
          </a:p>
        </p:txBody>
      </p:sp>
      <p:sp>
        <p:nvSpPr>
          <p:cNvPr id="7" name="CasellaDiTesto 6">
            <a:extLst>
              <a:ext uri="{FF2B5EF4-FFF2-40B4-BE49-F238E27FC236}">
                <a16:creationId xmlns:a16="http://schemas.microsoft.com/office/drawing/2014/main" id="{45B1322C-3DB9-15DD-CF9A-4BEC9270D563}"/>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02.1.2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della rete</a:t>
            </a:r>
          </a:p>
        </p:txBody>
      </p:sp>
      <p:pic>
        <p:nvPicPr>
          <p:cNvPr id="3" name="Immagine 2" descr="Immagine che contiene testo, Carattere, schermata, nero&#10;&#10;Il contenuto generato dall'IA potrebbe non essere corretto.">
            <a:extLst>
              <a:ext uri="{FF2B5EF4-FFF2-40B4-BE49-F238E27FC236}">
                <a16:creationId xmlns:a16="http://schemas.microsoft.com/office/drawing/2014/main" id="{CCE6167B-A3AE-F776-A9FA-66241346C68B}"/>
              </a:ext>
            </a:extLst>
          </p:cNvPr>
          <p:cNvPicPr>
            <a:picLocks noChangeAspect="1"/>
          </p:cNvPicPr>
          <p:nvPr/>
        </p:nvPicPr>
        <p:blipFill>
          <a:blip r:embed="rId3"/>
          <a:stretch>
            <a:fillRect/>
          </a:stretch>
        </p:blipFill>
        <p:spPr>
          <a:xfrm>
            <a:off x="6568436" y="2315408"/>
            <a:ext cx="4762500" cy="1714500"/>
          </a:xfrm>
          <a:prstGeom prst="rect">
            <a:avLst/>
          </a:prstGeom>
        </p:spPr>
      </p:pic>
      <p:pic>
        <p:nvPicPr>
          <p:cNvPr id="9" name="Immagine 8" descr="Immagine che contiene testo, Carattere, schermata&#10;&#10;Il contenuto generato dall'IA potrebbe non essere corretto.">
            <a:extLst>
              <a:ext uri="{FF2B5EF4-FFF2-40B4-BE49-F238E27FC236}">
                <a16:creationId xmlns:a16="http://schemas.microsoft.com/office/drawing/2014/main" id="{966C085D-C93F-0957-6E6A-696937174F8F}"/>
              </a:ext>
            </a:extLst>
          </p:cNvPr>
          <p:cNvPicPr>
            <a:picLocks noChangeAspect="1"/>
          </p:cNvPicPr>
          <p:nvPr/>
        </p:nvPicPr>
        <p:blipFill>
          <a:blip r:embed="rId4"/>
          <a:stretch>
            <a:fillRect/>
          </a:stretch>
        </p:blipFill>
        <p:spPr>
          <a:xfrm>
            <a:off x="6568436" y="4588561"/>
            <a:ext cx="4743450" cy="1704975"/>
          </a:xfrm>
          <a:prstGeom prst="rect">
            <a:avLst/>
          </a:prstGeom>
        </p:spPr>
      </p:pic>
      <p:pic>
        <p:nvPicPr>
          <p:cNvPr id="11" name="Immagine 10" descr="Immagine che contiene testo, schermata, Carattere&#10;&#10;Il contenuto generato dall'IA potrebbe non essere corretto.">
            <a:extLst>
              <a:ext uri="{FF2B5EF4-FFF2-40B4-BE49-F238E27FC236}">
                <a16:creationId xmlns:a16="http://schemas.microsoft.com/office/drawing/2014/main" id="{196BBBFB-60DB-9DAC-D584-CD2895D2E9D5}"/>
              </a:ext>
            </a:extLst>
          </p:cNvPr>
          <p:cNvPicPr>
            <a:picLocks noChangeAspect="1"/>
          </p:cNvPicPr>
          <p:nvPr/>
        </p:nvPicPr>
        <p:blipFill>
          <a:blip r:embed="rId5"/>
          <a:stretch>
            <a:fillRect/>
          </a:stretch>
        </p:blipFill>
        <p:spPr>
          <a:xfrm>
            <a:off x="623886" y="2315408"/>
            <a:ext cx="4924425" cy="1990725"/>
          </a:xfrm>
          <a:prstGeom prst="rect">
            <a:avLst/>
          </a:prstGeom>
        </p:spPr>
      </p:pic>
      <p:pic>
        <p:nvPicPr>
          <p:cNvPr id="14" name="Immagine 13" descr="Immagine che contiene testo, schermata, Carattere&#10;&#10;Il contenuto generato dall'IA potrebbe non essere corretto.">
            <a:extLst>
              <a:ext uri="{FF2B5EF4-FFF2-40B4-BE49-F238E27FC236}">
                <a16:creationId xmlns:a16="http://schemas.microsoft.com/office/drawing/2014/main" id="{BC824776-564A-DC7D-82EE-41BE15A4A3CD}"/>
              </a:ext>
            </a:extLst>
          </p:cNvPr>
          <p:cNvPicPr>
            <a:picLocks noChangeAspect="1"/>
          </p:cNvPicPr>
          <p:nvPr/>
        </p:nvPicPr>
        <p:blipFill>
          <a:blip r:embed="rId6"/>
          <a:stretch>
            <a:fillRect/>
          </a:stretch>
        </p:blipFill>
        <p:spPr>
          <a:xfrm>
            <a:off x="623886" y="4588561"/>
            <a:ext cx="4924425" cy="1973640"/>
          </a:xfrm>
          <a:prstGeom prst="rect">
            <a:avLst/>
          </a:prstGeom>
        </p:spPr>
      </p:pic>
    </p:spTree>
    <p:extLst>
      <p:ext uri="{BB962C8B-B14F-4D97-AF65-F5344CB8AC3E}">
        <p14:creationId xmlns:p14="http://schemas.microsoft.com/office/powerpoint/2010/main" val="2220992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9EA28F-D86B-23F5-A89D-E79BDC25533A}"/>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84F57D1A-4246-B0C1-F297-1C8D9848D2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F9F1AD39-EFC1-CCC0-6C67-28AEDF2E9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2D4BD596-3336-307E-7172-23785EEF0BC2}"/>
              </a:ext>
            </a:extLst>
          </p:cNvPr>
          <p:cNvSpPr txBox="1"/>
          <p:nvPr/>
        </p:nvSpPr>
        <p:spPr>
          <a:xfrm>
            <a:off x="1024127" y="459316"/>
            <a:ext cx="4835897" cy="2028245"/>
          </a:xfrm>
          <a:prstGeom prst="rect">
            <a:avLst/>
          </a:prstGeom>
        </p:spPr>
        <p:txBody>
          <a:bodyPr vert="horz" lIns="91440" tIns="45720" rIns="91440" bIns="45720" rtlCol="0" anchor="ctr">
            <a:normAutofit lnSpcReduction="10000"/>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02.1.3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delle machine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virtuali</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FB3FF14C-004A-784A-2D20-D3C166543E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2" name="Immagine 21" descr="Immagine che contiene testo, Carattere, Elementi grafici, schermata&#10;&#10;Descrizione generata automaticamente">
            <a:extLst>
              <a:ext uri="{FF2B5EF4-FFF2-40B4-BE49-F238E27FC236}">
                <a16:creationId xmlns:a16="http://schemas.microsoft.com/office/drawing/2014/main" id="{CE3B3F1E-FBD6-AAA0-8DD4-F174A3192B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2433" y="427986"/>
            <a:ext cx="1461718" cy="475604"/>
          </a:xfrm>
          <a:prstGeom prst="rect">
            <a:avLst/>
          </a:prstGeom>
        </p:spPr>
      </p:pic>
      <p:graphicFrame>
        <p:nvGraphicFramePr>
          <p:cNvPr id="6" name="Segnaposto tabella 5">
            <a:extLst>
              <a:ext uri="{FF2B5EF4-FFF2-40B4-BE49-F238E27FC236}">
                <a16:creationId xmlns:a16="http://schemas.microsoft.com/office/drawing/2014/main" id="{6CF71D81-E2F7-347B-090D-535518AB946A}"/>
              </a:ext>
            </a:extLst>
          </p:cNvPr>
          <p:cNvGraphicFramePr>
            <a:graphicFrameLocks/>
          </p:cNvGraphicFramePr>
          <p:nvPr>
            <p:extLst>
              <p:ext uri="{D42A27DB-BD31-4B8C-83A1-F6EECF244321}">
                <p14:modId xmlns:p14="http://schemas.microsoft.com/office/powerpoint/2010/main" val="256659708"/>
              </p:ext>
            </p:extLst>
          </p:nvPr>
        </p:nvGraphicFramePr>
        <p:xfrm>
          <a:off x="762000" y="2771872"/>
          <a:ext cx="10702410" cy="3708400"/>
        </p:xfrm>
        <a:graphic>
          <a:graphicData uri="http://schemas.openxmlformats.org/drawingml/2006/table">
            <a:tbl>
              <a:tblPr firstRow="1" bandRow="1">
                <a:tableStyleId>{10A1B5D5-9B99-4C35-A422-299274C87663}</a:tableStyleId>
              </a:tblPr>
              <a:tblGrid>
                <a:gridCol w="5320442">
                  <a:extLst>
                    <a:ext uri="{9D8B030D-6E8A-4147-A177-3AD203B41FA5}">
                      <a16:colId xmlns:a16="http://schemas.microsoft.com/office/drawing/2014/main" val="3854648792"/>
                    </a:ext>
                  </a:extLst>
                </a:gridCol>
                <a:gridCol w="2728191">
                  <a:extLst>
                    <a:ext uri="{9D8B030D-6E8A-4147-A177-3AD203B41FA5}">
                      <a16:colId xmlns:a16="http://schemas.microsoft.com/office/drawing/2014/main" val="4186298698"/>
                    </a:ext>
                  </a:extLst>
                </a:gridCol>
                <a:gridCol w="2653777">
                  <a:extLst>
                    <a:ext uri="{9D8B030D-6E8A-4147-A177-3AD203B41FA5}">
                      <a16:colId xmlns:a16="http://schemas.microsoft.com/office/drawing/2014/main" val="3221696764"/>
                    </a:ext>
                  </a:extLst>
                </a:gridCol>
              </a:tblGrid>
              <a:tr h="370840">
                <a:tc>
                  <a:txBody>
                    <a:bodyPr/>
                    <a:lstStyle/>
                    <a:p>
                      <a:pPr algn="ctr"/>
                      <a:r>
                        <a:rPr lang="it-IT" dirty="0">
                          <a:solidFill>
                            <a:sysClr val="windowText" lastClr="000000"/>
                          </a:solidFill>
                          <a:latin typeface="+mj-lt"/>
                        </a:rPr>
                        <a:t>Pacchetti installati</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b="1" dirty="0">
                          <a:ln>
                            <a:solidFill>
                              <a:schemeClr val="bg1"/>
                            </a:solidFill>
                          </a:ln>
                          <a:solidFill>
                            <a:schemeClr val="bg1"/>
                          </a:solidFill>
                          <a:latin typeface="+mj-lt"/>
                        </a:rPr>
                        <a:t>Linux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it-IT" dirty="0">
                          <a:ln>
                            <a:solidFill>
                              <a:schemeClr val="bg1"/>
                            </a:solidFill>
                          </a:ln>
                          <a:solidFill>
                            <a:schemeClr val="bg1"/>
                          </a:solidFill>
                          <a:latin typeface="+mj-lt"/>
                        </a:rPr>
                        <a:t>Ubuntu</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42842776"/>
                  </a:ext>
                </a:extLst>
              </a:tr>
              <a:tr h="370840">
                <a:tc>
                  <a:txBody>
                    <a:bodyPr/>
                    <a:lstStyle/>
                    <a:p>
                      <a:pPr algn="ctr"/>
                      <a:r>
                        <a:rPr lang="it-IT" dirty="0">
                          <a:solidFill>
                            <a:sysClr val="windowText" lastClr="000000"/>
                          </a:solidFill>
                          <a:latin typeface="+mj-lt"/>
                        </a:rPr>
                        <a:t>Apache 2</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76695156"/>
                  </a:ext>
                </a:extLst>
              </a:tr>
              <a:tr h="370840">
                <a:tc>
                  <a:txBody>
                    <a:bodyPr/>
                    <a:lstStyle/>
                    <a:p>
                      <a:pPr algn="ctr"/>
                      <a:r>
                        <a:rPr lang="it-IT" dirty="0">
                          <a:solidFill>
                            <a:sysClr val="windowText" lastClr="000000"/>
                          </a:solidFill>
                          <a:latin typeface="+mj-lt"/>
                        </a:rPr>
                        <a:t>MySQL</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06998992"/>
                  </a:ext>
                </a:extLst>
              </a:tr>
              <a:tr h="370840">
                <a:tc>
                  <a:txBody>
                    <a:bodyPr/>
                    <a:lstStyle/>
                    <a:p>
                      <a:pPr algn="ctr"/>
                      <a:r>
                        <a:rPr lang="it-IT" dirty="0">
                          <a:solidFill>
                            <a:sysClr val="windowText" lastClr="000000"/>
                          </a:solidFill>
                          <a:latin typeface="+mj-lt"/>
                        </a:rPr>
                        <a:t>PHP</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46891989"/>
                  </a:ext>
                </a:extLst>
              </a:tr>
              <a:tr h="370840">
                <a:tc>
                  <a:txBody>
                    <a:bodyPr/>
                    <a:lstStyle/>
                    <a:p>
                      <a:pPr algn="ctr"/>
                      <a:r>
                        <a:rPr lang="it-IT" dirty="0">
                          <a:solidFill>
                            <a:sysClr val="windowText" lastClr="000000"/>
                          </a:solidFill>
                          <a:latin typeface="+mj-lt"/>
                        </a:rPr>
                        <a:t>Phpmyadmin</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72148063"/>
                  </a:ext>
                </a:extLst>
              </a:tr>
              <a:tr h="370840">
                <a:tc>
                  <a:txBody>
                    <a:bodyPr/>
                    <a:lstStyle/>
                    <a:p>
                      <a:pPr algn="ctr"/>
                      <a:r>
                        <a:rPr lang="it-IT" dirty="0">
                          <a:solidFill>
                            <a:sysClr val="windowText" lastClr="000000"/>
                          </a:solidFill>
                          <a:latin typeface="+mj-lt"/>
                        </a:rPr>
                        <a:t>Net-Tools</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63788067"/>
                  </a:ext>
                </a:extLst>
              </a:tr>
              <a:tr h="370840">
                <a:tc>
                  <a:txBody>
                    <a:bodyPr/>
                    <a:lstStyle/>
                    <a:p>
                      <a:pPr algn="ctr"/>
                      <a:r>
                        <a:rPr lang="it-IT" dirty="0">
                          <a:solidFill>
                            <a:sysClr val="windowText" lastClr="000000"/>
                          </a:solidFill>
                          <a:latin typeface="+mj-lt"/>
                        </a:rPr>
                        <a:t>Python</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05587808"/>
                  </a:ext>
                </a:extLst>
              </a:tr>
              <a:tr h="370840">
                <a:tc>
                  <a:txBody>
                    <a:bodyPr/>
                    <a:lstStyle/>
                    <a:p>
                      <a:pPr algn="ctr"/>
                      <a:r>
                        <a:rPr lang="it-IT" dirty="0">
                          <a:solidFill>
                            <a:sysClr val="windowText" lastClr="000000"/>
                          </a:solidFill>
                          <a:latin typeface="+mj-lt"/>
                        </a:rPr>
                        <a:t>7Zip</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16868345"/>
                  </a:ext>
                </a:extLst>
              </a:tr>
              <a:tr h="370840">
                <a:tc>
                  <a:txBody>
                    <a:bodyPr/>
                    <a:lstStyle/>
                    <a:p>
                      <a:pPr algn="ctr"/>
                      <a:r>
                        <a:rPr lang="it-IT" dirty="0">
                          <a:solidFill>
                            <a:sysClr val="windowText" lastClr="000000"/>
                          </a:solidFill>
                          <a:latin typeface="+mj-lt"/>
                        </a:rPr>
                        <a:t>Tshark </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6333802"/>
                  </a:ext>
                </a:extLst>
              </a:tr>
              <a:tr h="370840">
                <a:tc>
                  <a:txBody>
                    <a:bodyPr/>
                    <a:lstStyle/>
                    <a:p>
                      <a:pPr algn="ctr"/>
                      <a:r>
                        <a:rPr lang="it-IT" dirty="0">
                          <a:solidFill>
                            <a:sysClr val="windowText" lastClr="000000"/>
                          </a:solidFill>
                          <a:latin typeface="+mj-lt"/>
                        </a:rPr>
                        <a:t>SSH</a:t>
                      </a: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it-IT" dirty="0">
                        <a:ln>
                          <a:solidFill>
                            <a:schemeClr val="bg1"/>
                          </a:solidFill>
                        </a:ln>
                        <a:solidFill>
                          <a:schemeClr val="bg1"/>
                        </a:solidFill>
                        <a:latin typeface="+mj-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96221554"/>
                  </a:ext>
                </a:extLst>
              </a:tr>
            </a:tbl>
          </a:graphicData>
        </a:graphic>
      </p:graphicFrame>
      <p:pic>
        <p:nvPicPr>
          <p:cNvPr id="11" name="Immagine 10" descr="Immagine che contiene nero, oscurità&#10;&#10;Descrizione generata automaticamente">
            <a:extLst>
              <a:ext uri="{FF2B5EF4-FFF2-40B4-BE49-F238E27FC236}">
                <a16:creationId xmlns:a16="http://schemas.microsoft.com/office/drawing/2014/main" id="{0EB4B3B1-C453-951A-9212-15FD08100AF9}"/>
              </a:ext>
            </a:extLst>
          </p:cNvPr>
          <p:cNvPicPr>
            <a:picLocks noChangeAspect="1"/>
          </p:cNvPicPr>
          <p:nvPr/>
        </p:nvPicPr>
        <p:blipFill>
          <a:blip r:embed="rId4">
            <a:lum bright="70000" contrast="-70000"/>
          </a:blip>
          <a:stretch>
            <a:fillRect/>
          </a:stretch>
        </p:blipFill>
        <p:spPr>
          <a:xfrm>
            <a:off x="7283343" y="3860084"/>
            <a:ext cx="380082" cy="373448"/>
          </a:xfrm>
          <a:prstGeom prst="rect">
            <a:avLst/>
          </a:prstGeom>
        </p:spPr>
      </p:pic>
      <p:pic>
        <p:nvPicPr>
          <p:cNvPr id="12" name="Immagine 11" descr="Immagine che contiene nero, oscurità&#10;&#10;Descrizione generata automaticamente">
            <a:extLst>
              <a:ext uri="{FF2B5EF4-FFF2-40B4-BE49-F238E27FC236}">
                <a16:creationId xmlns:a16="http://schemas.microsoft.com/office/drawing/2014/main" id="{F8EF859A-C45B-35F7-7353-8DBE2D1C5BEA}"/>
              </a:ext>
            </a:extLst>
          </p:cNvPr>
          <p:cNvPicPr>
            <a:picLocks noChangeAspect="1"/>
          </p:cNvPicPr>
          <p:nvPr/>
        </p:nvPicPr>
        <p:blipFill>
          <a:blip r:embed="rId4">
            <a:lum bright="70000" contrast="-70000"/>
          </a:blip>
          <a:stretch>
            <a:fillRect/>
          </a:stretch>
        </p:blipFill>
        <p:spPr>
          <a:xfrm>
            <a:off x="9928422" y="3123136"/>
            <a:ext cx="380082" cy="373448"/>
          </a:xfrm>
          <a:prstGeom prst="rect">
            <a:avLst/>
          </a:prstGeom>
        </p:spPr>
      </p:pic>
      <p:pic>
        <p:nvPicPr>
          <p:cNvPr id="13" name="Immagine 12" descr="Immagine che contiene nero, oscurità&#10;&#10;Descrizione generata automaticamente">
            <a:extLst>
              <a:ext uri="{FF2B5EF4-FFF2-40B4-BE49-F238E27FC236}">
                <a16:creationId xmlns:a16="http://schemas.microsoft.com/office/drawing/2014/main" id="{8A8771C9-57D9-FBB1-62EF-65759982032E}"/>
              </a:ext>
            </a:extLst>
          </p:cNvPr>
          <p:cNvPicPr>
            <a:picLocks noChangeAspect="1"/>
          </p:cNvPicPr>
          <p:nvPr/>
        </p:nvPicPr>
        <p:blipFill>
          <a:blip r:embed="rId4">
            <a:lum bright="70000" contrast="-70000"/>
          </a:blip>
          <a:stretch>
            <a:fillRect/>
          </a:stretch>
        </p:blipFill>
        <p:spPr>
          <a:xfrm>
            <a:off x="9928422" y="3496584"/>
            <a:ext cx="380082" cy="373448"/>
          </a:xfrm>
          <a:prstGeom prst="rect">
            <a:avLst/>
          </a:prstGeom>
        </p:spPr>
      </p:pic>
      <p:pic>
        <p:nvPicPr>
          <p:cNvPr id="14" name="Immagine 13" descr="Immagine che contiene nero, oscurità&#10;&#10;Descrizione generata automaticamente">
            <a:extLst>
              <a:ext uri="{FF2B5EF4-FFF2-40B4-BE49-F238E27FC236}">
                <a16:creationId xmlns:a16="http://schemas.microsoft.com/office/drawing/2014/main" id="{E65BC3D8-F742-9A5F-C742-36D1F5A66010}"/>
              </a:ext>
            </a:extLst>
          </p:cNvPr>
          <p:cNvPicPr>
            <a:picLocks noChangeAspect="1"/>
          </p:cNvPicPr>
          <p:nvPr/>
        </p:nvPicPr>
        <p:blipFill>
          <a:blip r:embed="rId4">
            <a:lum bright="70000" contrast="-70000"/>
          </a:blip>
          <a:stretch>
            <a:fillRect/>
          </a:stretch>
        </p:blipFill>
        <p:spPr>
          <a:xfrm>
            <a:off x="9928422" y="3870032"/>
            <a:ext cx="380082" cy="373448"/>
          </a:xfrm>
          <a:prstGeom prst="rect">
            <a:avLst/>
          </a:prstGeom>
        </p:spPr>
      </p:pic>
      <p:pic>
        <p:nvPicPr>
          <p:cNvPr id="15" name="Immagine 14" descr="Immagine che contiene nero, oscurità&#10;&#10;Descrizione generata automaticamente">
            <a:extLst>
              <a:ext uri="{FF2B5EF4-FFF2-40B4-BE49-F238E27FC236}">
                <a16:creationId xmlns:a16="http://schemas.microsoft.com/office/drawing/2014/main" id="{24710686-3C5B-13C5-595A-135665FC7B9D}"/>
              </a:ext>
            </a:extLst>
          </p:cNvPr>
          <p:cNvPicPr>
            <a:picLocks noChangeAspect="1"/>
          </p:cNvPicPr>
          <p:nvPr/>
        </p:nvPicPr>
        <p:blipFill>
          <a:blip r:embed="rId4">
            <a:lum bright="70000" contrast="-70000"/>
          </a:blip>
          <a:stretch>
            <a:fillRect/>
          </a:stretch>
        </p:blipFill>
        <p:spPr>
          <a:xfrm>
            <a:off x="9928422" y="4254714"/>
            <a:ext cx="380082" cy="373448"/>
          </a:xfrm>
          <a:prstGeom prst="rect">
            <a:avLst/>
          </a:prstGeom>
        </p:spPr>
      </p:pic>
      <p:pic>
        <p:nvPicPr>
          <p:cNvPr id="16" name="Immagine 15" descr="Immagine che contiene nero, oscurità&#10;&#10;Descrizione generata automaticamente">
            <a:extLst>
              <a:ext uri="{FF2B5EF4-FFF2-40B4-BE49-F238E27FC236}">
                <a16:creationId xmlns:a16="http://schemas.microsoft.com/office/drawing/2014/main" id="{CDAF09FA-1DA2-5BD7-BA14-F0A5B8580425}"/>
              </a:ext>
            </a:extLst>
          </p:cNvPr>
          <p:cNvPicPr>
            <a:picLocks noChangeAspect="1"/>
          </p:cNvPicPr>
          <p:nvPr/>
        </p:nvPicPr>
        <p:blipFill>
          <a:blip r:embed="rId4">
            <a:lum bright="70000" contrast="-70000"/>
          </a:blip>
          <a:stretch>
            <a:fillRect/>
          </a:stretch>
        </p:blipFill>
        <p:spPr>
          <a:xfrm>
            <a:off x="9928422" y="4645579"/>
            <a:ext cx="380082" cy="373448"/>
          </a:xfrm>
          <a:prstGeom prst="rect">
            <a:avLst/>
          </a:prstGeom>
        </p:spPr>
      </p:pic>
      <p:pic>
        <p:nvPicPr>
          <p:cNvPr id="17" name="Immagine 16" descr="Immagine che contiene nero, oscurità&#10;&#10;Descrizione generata automaticamente">
            <a:extLst>
              <a:ext uri="{FF2B5EF4-FFF2-40B4-BE49-F238E27FC236}">
                <a16:creationId xmlns:a16="http://schemas.microsoft.com/office/drawing/2014/main" id="{4D99DD7A-DF79-4F0C-F229-081C417C4F67}"/>
              </a:ext>
            </a:extLst>
          </p:cNvPr>
          <p:cNvPicPr>
            <a:picLocks noChangeAspect="1"/>
          </p:cNvPicPr>
          <p:nvPr/>
        </p:nvPicPr>
        <p:blipFill>
          <a:blip r:embed="rId4">
            <a:lum bright="70000" contrast="-70000"/>
          </a:blip>
          <a:stretch>
            <a:fillRect/>
          </a:stretch>
        </p:blipFill>
        <p:spPr>
          <a:xfrm>
            <a:off x="9928422" y="5377246"/>
            <a:ext cx="380082" cy="373448"/>
          </a:xfrm>
          <a:prstGeom prst="rect">
            <a:avLst/>
          </a:prstGeom>
        </p:spPr>
      </p:pic>
      <p:pic>
        <p:nvPicPr>
          <p:cNvPr id="18" name="Immagine 17" descr="Immagine che contiene nero, oscurità&#10;&#10;Descrizione generata automaticamente">
            <a:extLst>
              <a:ext uri="{FF2B5EF4-FFF2-40B4-BE49-F238E27FC236}">
                <a16:creationId xmlns:a16="http://schemas.microsoft.com/office/drawing/2014/main" id="{80ED5D9D-697A-04AB-9FC9-D4EAE7D1B8F9}"/>
              </a:ext>
            </a:extLst>
          </p:cNvPr>
          <p:cNvPicPr>
            <a:picLocks noChangeAspect="1"/>
          </p:cNvPicPr>
          <p:nvPr/>
        </p:nvPicPr>
        <p:blipFill>
          <a:blip r:embed="rId4">
            <a:lum bright="70000" contrast="-70000"/>
          </a:blip>
          <a:stretch>
            <a:fillRect/>
          </a:stretch>
        </p:blipFill>
        <p:spPr>
          <a:xfrm>
            <a:off x="9928422" y="5762573"/>
            <a:ext cx="380082" cy="373448"/>
          </a:xfrm>
          <a:prstGeom prst="rect">
            <a:avLst/>
          </a:prstGeom>
        </p:spPr>
      </p:pic>
      <p:pic>
        <p:nvPicPr>
          <p:cNvPr id="19" name="Immagine 18" descr="Immagine che contiene nero, oscurità&#10;&#10;Descrizione generata automaticamente">
            <a:extLst>
              <a:ext uri="{FF2B5EF4-FFF2-40B4-BE49-F238E27FC236}">
                <a16:creationId xmlns:a16="http://schemas.microsoft.com/office/drawing/2014/main" id="{C7AB5355-FFEB-4BB6-4894-CDD52501EDB7}"/>
              </a:ext>
            </a:extLst>
          </p:cNvPr>
          <p:cNvPicPr>
            <a:picLocks noChangeAspect="1"/>
          </p:cNvPicPr>
          <p:nvPr/>
        </p:nvPicPr>
        <p:blipFill>
          <a:blip r:embed="rId4">
            <a:lum bright="70000" contrast="-70000"/>
          </a:blip>
          <a:stretch>
            <a:fillRect/>
          </a:stretch>
        </p:blipFill>
        <p:spPr>
          <a:xfrm>
            <a:off x="9928422" y="6135374"/>
            <a:ext cx="380082" cy="373448"/>
          </a:xfrm>
          <a:prstGeom prst="rect">
            <a:avLst/>
          </a:prstGeom>
        </p:spPr>
      </p:pic>
      <p:pic>
        <p:nvPicPr>
          <p:cNvPr id="20" name="Immagine 19" descr="Immagine che contiene nero, oscurità&#10;&#10;Descrizione generata automaticamente">
            <a:extLst>
              <a:ext uri="{FF2B5EF4-FFF2-40B4-BE49-F238E27FC236}">
                <a16:creationId xmlns:a16="http://schemas.microsoft.com/office/drawing/2014/main" id="{FA51258F-D7B1-19A6-C528-CAD72C22A368}"/>
              </a:ext>
            </a:extLst>
          </p:cNvPr>
          <p:cNvPicPr>
            <a:picLocks noChangeAspect="1"/>
          </p:cNvPicPr>
          <p:nvPr/>
        </p:nvPicPr>
        <p:blipFill>
          <a:blip r:embed="rId4">
            <a:lum bright="70000" contrast="-70000"/>
          </a:blip>
          <a:stretch>
            <a:fillRect/>
          </a:stretch>
        </p:blipFill>
        <p:spPr>
          <a:xfrm>
            <a:off x="7283343" y="4657458"/>
            <a:ext cx="380082" cy="373448"/>
          </a:xfrm>
          <a:prstGeom prst="rect">
            <a:avLst/>
          </a:prstGeom>
        </p:spPr>
      </p:pic>
      <p:pic>
        <p:nvPicPr>
          <p:cNvPr id="21" name="Immagine 20" descr="Immagine che contiene nero, oscurità&#10;&#10;Descrizione generata automaticamente">
            <a:extLst>
              <a:ext uri="{FF2B5EF4-FFF2-40B4-BE49-F238E27FC236}">
                <a16:creationId xmlns:a16="http://schemas.microsoft.com/office/drawing/2014/main" id="{7A698D5F-0ED0-51EB-D9DD-A229A6BB90B8}"/>
              </a:ext>
            </a:extLst>
          </p:cNvPr>
          <p:cNvPicPr>
            <a:picLocks noChangeAspect="1"/>
          </p:cNvPicPr>
          <p:nvPr/>
        </p:nvPicPr>
        <p:blipFill>
          <a:blip r:embed="rId4">
            <a:lum bright="70000" contrast="-70000"/>
          </a:blip>
          <a:stretch>
            <a:fillRect/>
          </a:stretch>
        </p:blipFill>
        <p:spPr>
          <a:xfrm>
            <a:off x="7283343" y="5013136"/>
            <a:ext cx="380082" cy="373448"/>
          </a:xfrm>
          <a:prstGeom prst="rect">
            <a:avLst/>
          </a:prstGeom>
        </p:spPr>
      </p:pic>
      <p:pic>
        <p:nvPicPr>
          <p:cNvPr id="5" name="Immagine 4" descr="Immagine che contiene nero, oscurità&#10;&#10;Descrizione generata automaticamente">
            <a:extLst>
              <a:ext uri="{FF2B5EF4-FFF2-40B4-BE49-F238E27FC236}">
                <a16:creationId xmlns:a16="http://schemas.microsoft.com/office/drawing/2014/main" id="{DF3E8E9B-E50F-6F76-6507-3087AA082CF7}"/>
              </a:ext>
            </a:extLst>
          </p:cNvPr>
          <p:cNvPicPr>
            <a:picLocks noChangeAspect="1"/>
          </p:cNvPicPr>
          <p:nvPr/>
        </p:nvPicPr>
        <p:blipFill>
          <a:blip r:embed="rId4">
            <a:lum bright="70000" contrast="-70000"/>
          </a:blip>
          <a:stretch>
            <a:fillRect/>
          </a:stretch>
        </p:blipFill>
        <p:spPr>
          <a:xfrm>
            <a:off x="7283343" y="5361118"/>
            <a:ext cx="380082" cy="373448"/>
          </a:xfrm>
          <a:prstGeom prst="rect">
            <a:avLst/>
          </a:prstGeom>
        </p:spPr>
      </p:pic>
      <p:pic>
        <p:nvPicPr>
          <p:cNvPr id="24" name="Immagine 23" descr="Immagine che contiene nero, oscurità&#10;&#10;Descrizione generata automaticamente">
            <a:extLst>
              <a:ext uri="{FF2B5EF4-FFF2-40B4-BE49-F238E27FC236}">
                <a16:creationId xmlns:a16="http://schemas.microsoft.com/office/drawing/2014/main" id="{91ACC682-D0BD-49A6-A36C-FA9B413DD2EF}"/>
              </a:ext>
            </a:extLst>
          </p:cNvPr>
          <p:cNvPicPr>
            <a:picLocks noChangeAspect="1"/>
          </p:cNvPicPr>
          <p:nvPr/>
        </p:nvPicPr>
        <p:blipFill>
          <a:blip r:embed="rId4">
            <a:lum bright="70000" contrast="-70000"/>
          </a:blip>
          <a:stretch>
            <a:fillRect/>
          </a:stretch>
        </p:blipFill>
        <p:spPr>
          <a:xfrm>
            <a:off x="7283343" y="5729955"/>
            <a:ext cx="380082" cy="373448"/>
          </a:xfrm>
          <a:prstGeom prst="rect">
            <a:avLst/>
          </a:prstGeom>
        </p:spPr>
      </p:pic>
      <p:pic>
        <p:nvPicPr>
          <p:cNvPr id="25" name="Immagine 24" descr="Immagine che contiene nero, oscurità&#10;&#10;Descrizione generata automaticamente">
            <a:extLst>
              <a:ext uri="{FF2B5EF4-FFF2-40B4-BE49-F238E27FC236}">
                <a16:creationId xmlns:a16="http://schemas.microsoft.com/office/drawing/2014/main" id="{0F81E453-7FF6-4D5A-FF7A-494F9B7E10AA}"/>
              </a:ext>
            </a:extLst>
          </p:cNvPr>
          <p:cNvPicPr>
            <a:picLocks noChangeAspect="1"/>
          </p:cNvPicPr>
          <p:nvPr/>
        </p:nvPicPr>
        <p:blipFill>
          <a:blip r:embed="rId4">
            <a:lum bright="70000" contrast="-70000"/>
          </a:blip>
          <a:stretch>
            <a:fillRect/>
          </a:stretch>
        </p:blipFill>
        <p:spPr>
          <a:xfrm>
            <a:off x="7283343" y="6103403"/>
            <a:ext cx="380082" cy="373448"/>
          </a:xfrm>
          <a:prstGeom prst="rect">
            <a:avLst/>
          </a:prstGeom>
        </p:spPr>
      </p:pic>
      <p:pic>
        <p:nvPicPr>
          <p:cNvPr id="27" name="Immagine 26" descr="Immagine che contiene nero, oscurità&#10;&#10;Descrizione generata automaticamente">
            <a:extLst>
              <a:ext uri="{FF2B5EF4-FFF2-40B4-BE49-F238E27FC236}">
                <a16:creationId xmlns:a16="http://schemas.microsoft.com/office/drawing/2014/main" id="{8E702378-EDE9-FFAD-D6CC-9E0339F069FC}"/>
              </a:ext>
            </a:extLst>
          </p:cNvPr>
          <p:cNvPicPr>
            <a:picLocks noChangeAspect="1"/>
          </p:cNvPicPr>
          <p:nvPr/>
        </p:nvPicPr>
        <p:blipFill>
          <a:blip r:embed="rId5">
            <a:lum bright="70000" contrast="-70000"/>
          </a:blip>
          <a:stretch>
            <a:fillRect/>
          </a:stretch>
        </p:blipFill>
        <p:spPr>
          <a:xfrm>
            <a:off x="7334765" y="3204023"/>
            <a:ext cx="272904" cy="268140"/>
          </a:xfrm>
          <a:prstGeom prst="rect">
            <a:avLst/>
          </a:prstGeom>
        </p:spPr>
      </p:pic>
      <p:pic>
        <p:nvPicPr>
          <p:cNvPr id="28" name="Immagine 27" descr="Immagine che contiene nero, oscurità&#10;&#10;Descrizione generata automaticamente">
            <a:extLst>
              <a:ext uri="{FF2B5EF4-FFF2-40B4-BE49-F238E27FC236}">
                <a16:creationId xmlns:a16="http://schemas.microsoft.com/office/drawing/2014/main" id="{93B53380-06BB-AF77-FF50-0467FFD0A5F2}"/>
              </a:ext>
            </a:extLst>
          </p:cNvPr>
          <p:cNvPicPr>
            <a:picLocks noChangeAspect="1"/>
          </p:cNvPicPr>
          <p:nvPr/>
        </p:nvPicPr>
        <p:blipFill>
          <a:blip r:embed="rId5">
            <a:lum bright="70000" contrast="-70000"/>
          </a:blip>
          <a:stretch>
            <a:fillRect/>
          </a:stretch>
        </p:blipFill>
        <p:spPr>
          <a:xfrm>
            <a:off x="7334765" y="3582951"/>
            <a:ext cx="272904" cy="268140"/>
          </a:xfrm>
          <a:prstGeom prst="rect">
            <a:avLst/>
          </a:prstGeom>
        </p:spPr>
      </p:pic>
      <p:pic>
        <p:nvPicPr>
          <p:cNvPr id="29" name="Immagine 28" descr="Immagine che contiene nero, oscurità&#10;&#10;Descrizione generata automaticamente">
            <a:extLst>
              <a:ext uri="{FF2B5EF4-FFF2-40B4-BE49-F238E27FC236}">
                <a16:creationId xmlns:a16="http://schemas.microsoft.com/office/drawing/2014/main" id="{EC1C8D59-BFFC-B9EA-EF7D-E1D5AF1440B2}"/>
              </a:ext>
            </a:extLst>
          </p:cNvPr>
          <p:cNvPicPr>
            <a:picLocks noChangeAspect="1"/>
          </p:cNvPicPr>
          <p:nvPr/>
        </p:nvPicPr>
        <p:blipFill>
          <a:blip r:embed="rId5">
            <a:lum bright="70000" contrast="-70000"/>
          </a:blip>
          <a:stretch>
            <a:fillRect/>
          </a:stretch>
        </p:blipFill>
        <p:spPr>
          <a:xfrm>
            <a:off x="7334765" y="4291586"/>
            <a:ext cx="272904" cy="268140"/>
          </a:xfrm>
          <a:prstGeom prst="rect">
            <a:avLst/>
          </a:prstGeom>
        </p:spPr>
      </p:pic>
      <p:pic>
        <p:nvPicPr>
          <p:cNvPr id="7" name="Immagine 6" descr="Immagine che contiene nero, oscurità&#10;&#10;Descrizione generata automaticamente">
            <a:extLst>
              <a:ext uri="{FF2B5EF4-FFF2-40B4-BE49-F238E27FC236}">
                <a16:creationId xmlns:a16="http://schemas.microsoft.com/office/drawing/2014/main" id="{B466B95B-D591-0449-C284-FCCFFF8AC62F}"/>
              </a:ext>
            </a:extLst>
          </p:cNvPr>
          <p:cNvPicPr>
            <a:picLocks noChangeAspect="1"/>
          </p:cNvPicPr>
          <p:nvPr/>
        </p:nvPicPr>
        <p:blipFill>
          <a:blip r:embed="rId5">
            <a:lum bright="70000" contrast="-70000"/>
          </a:blip>
          <a:stretch>
            <a:fillRect/>
          </a:stretch>
        </p:blipFill>
        <p:spPr>
          <a:xfrm>
            <a:off x="9980512" y="5064066"/>
            <a:ext cx="272904" cy="268140"/>
          </a:xfrm>
          <a:prstGeom prst="rect">
            <a:avLst/>
          </a:prstGeom>
        </p:spPr>
      </p:pic>
      <p:sp>
        <p:nvSpPr>
          <p:cNvPr id="10" name="CasellaDiTesto 9">
            <a:extLst>
              <a:ext uri="{FF2B5EF4-FFF2-40B4-BE49-F238E27FC236}">
                <a16:creationId xmlns:a16="http://schemas.microsoft.com/office/drawing/2014/main" id="{2DF08081-9F68-B723-10BE-ADFB9F5B2FE7}"/>
              </a:ext>
            </a:extLst>
          </p:cNvPr>
          <p:cNvSpPr txBox="1"/>
          <p:nvPr/>
        </p:nvSpPr>
        <p:spPr>
          <a:xfrm>
            <a:off x="6122150" y="1519509"/>
            <a:ext cx="4940709" cy="1107996"/>
          </a:xfrm>
          <a:prstGeom prst="rect">
            <a:avLst/>
          </a:prstGeom>
          <a:noFill/>
        </p:spPr>
        <p:txBody>
          <a:bodyPr wrap="square">
            <a:spAutoFit/>
          </a:bodyPr>
          <a:lstStyle/>
          <a:p>
            <a:pPr algn="ctr"/>
            <a:r>
              <a:rPr lang="it-IT" sz="6600" dirty="0">
                <a:solidFill>
                  <a:schemeClr val="bg1">
                    <a:alpha val="20000"/>
                  </a:schemeClr>
                </a:solidFill>
                <a:latin typeface="+mj-lt"/>
              </a:rPr>
              <a:t>Sudo </a:t>
            </a:r>
            <a:r>
              <a:rPr lang="it-IT" sz="6600" dirty="0" err="1">
                <a:solidFill>
                  <a:schemeClr val="bg1">
                    <a:alpha val="20000"/>
                  </a:schemeClr>
                </a:solidFill>
                <a:latin typeface="+mj-lt"/>
              </a:rPr>
              <a:t>apt</a:t>
            </a:r>
            <a:r>
              <a:rPr lang="it-IT" sz="6600" dirty="0">
                <a:solidFill>
                  <a:schemeClr val="bg1">
                    <a:alpha val="20000"/>
                  </a:schemeClr>
                </a:solidFill>
                <a:latin typeface="+mj-lt"/>
              </a:rPr>
              <a:t> </a:t>
            </a:r>
            <a:r>
              <a:rPr lang="it-IT" sz="6600" dirty="0" err="1">
                <a:solidFill>
                  <a:schemeClr val="bg1">
                    <a:alpha val="20000"/>
                  </a:schemeClr>
                </a:solidFill>
                <a:latin typeface="+mj-lt"/>
              </a:rPr>
              <a:t>install</a:t>
            </a:r>
            <a:r>
              <a:rPr lang="it-IT" sz="6600" dirty="0">
                <a:solidFill>
                  <a:schemeClr val="bg1">
                    <a:alpha val="20000"/>
                  </a:schemeClr>
                </a:solidFill>
                <a:latin typeface="+mj-lt"/>
              </a:rPr>
              <a:t>…</a:t>
            </a:r>
          </a:p>
        </p:txBody>
      </p:sp>
    </p:spTree>
    <p:extLst>
      <p:ext uri="{BB962C8B-B14F-4D97-AF65-F5344CB8AC3E}">
        <p14:creationId xmlns:p14="http://schemas.microsoft.com/office/powerpoint/2010/main" val="3648857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C62EBB-ABD3-7C99-BF4C-2074377421CE}"/>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5B3376B9-F38B-425B-8ADE-9EB76E72B9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C50B36DF-E32E-8044-2920-5C803D09F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E0AC4C72-BBE4-C8B8-BE7F-F23D5D28E757}"/>
              </a:ext>
            </a:extLst>
          </p:cNvPr>
          <p:cNvSpPr txBox="1"/>
          <p:nvPr/>
        </p:nvSpPr>
        <p:spPr>
          <a:xfrm>
            <a:off x="1024128" y="459317"/>
            <a:ext cx="4389120" cy="1749552"/>
          </a:xfrm>
          <a:prstGeom prst="rect">
            <a:avLst/>
          </a:prstGeom>
        </p:spPr>
        <p:txBody>
          <a:bodyPr vert="horz" lIns="91440" tIns="45720" rIns="91440" bIns="45720" rtlCol="0" anchor="ctr">
            <a:normAutofit fontScale="92500" lnSpcReduction="20000"/>
          </a:bodyPr>
          <a:lstStyle/>
          <a:p>
            <a:pPr defTabSz="914400">
              <a:lnSpc>
                <a:spcPct val="80000"/>
              </a:lnSpc>
              <a:spcBef>
                <a:spcPct val="0"/>
              </a:spcBef>
              <a:spcAft>
                <a:spcPts val="600"/>
              </a:spcAft>
            </a:pPr>
            <a:r>
              <a:rPr lang="it-IT"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02.1.4 - Importazione file Web Application e Database </a:t>
            </a:r>
          </a:p>
        </p:txBody>
      </p:sp>
      <p:cxnSp>
        <p:nvCxnSpPr>
          <p:cNvPr id="32" name="Straight Connector 25">
            <a:extLst>
              <a:ext uri="{FF2B5EF4-FFF2-40B4-BE49-F238E27FC236}">
                <a16:creationId xmlns:a16="http://schemas.microsoft.com/office/drawing/2014/main" id="{031945BE-69C2-B787-F1C8-CD3C234E68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EE4D207C-2E6E-992A-B4EA-71B137C8DAA0}"/>
              </a:ext>
            </a:extLst>
          </p:cNvPr>
          <p:cNvSpPr txBox="1"/>
          <p:nvPr/>
        </p:nvSpPr>
        <p:spPr>
          <a:xfrm>
            <a:off x="6857998" y="819840"/>
            <a:ext cx="4389120" cy="1389030"/>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solidFill>
                  <a:schemeClr val="bg1"/>
                </a:solidFill>
              </a:rPr>
              <a:t>Tutti i file relativi alla web </a:t>
            </a:r>
            <a:r>
              <a:rPr lang="it-IT" dirty="0" err="1">
                <a:solidFill>
                  <a:schemeClr val="bg1"/>
                </a:solidFill>
              </a:rPr>
              <a:t>application</a:t>
            </a:r>
            <a:r>
              <a:rPr lang="it-IT" dirty="0">
                <a:solidFill>
                  <a:schemeClr val="bg1"/>
                </a:solidFill>
              </a:rPr>
              <a:t> e al database sono stati importati sulla macchina virtuale </a:t>
            </a:r>
            <a:r>
              <a:rPr lang="it-IT" dirty="0" err="1">
                <a:solidFill>
                  <a:schemeClr val="bg1"/>
                </a:solidFill>
              </a:rPr>
              <a:t>ubuntu</a:t>
            </a:r>
            <a:r>
              <a:rPr lang="it-IT" dirty="0">
                <a:solidFill>
                  <a:schemeClr val="bg1"/>
                </a:solidFill>
              </a:rPr>
              <a:t> da Windows (</a:t>
            </a:r>
            <a:r>
              <a:rPr lang="it-IT" dirty="0" err="1">
                <a:solidFill>
                  <a:schemeClr val="bg1"/>
                </a:solidFill>
              </a:rPr>
              <a:t>host</a:t>
            </a:r>
            <a:r>
              <a:rPr lang="it-IT" dirty="0">
                <a:solidFill>
                  <a:schemeClr val="bg1"/>
                </a:solidFill>
              </a:rPr>
              <a:t> della MV) tramite il protocollo SSH. </a:t>
            </a:r>
          </a:p>
        </p:txBody>
      </p:sp>
      <p:pic>
        <p:nvPicPr>
          <p:cNvPr id="22" name="Immagine 21" descr="Immagine che contiene testo, Carattere, Elementi grafici, schermata&#10;&#10;Descrizione generata automaticamente">
            <a:extLst>
              <a:ext uri="{FF2B5EF4-FFF2-40B4-BE49-F238E27FC236}">
                <a16:creationId xmlns:a16="http://schemas.microsoft.com/office/drawing/2014/main" id="{2856D79D-E4D6-02D1-C84A-E62D4F2A10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pic>
        <p:nvPicPr>
          <p:cNvPr id="4" name="Immagine 3" descr="Immagine che contiene nero, oscurità&#10;&#10;Descrizione generata automaticamente">
            <a:extLst>
              <a:ext uri="{FF2B5EF4-FFF2-40B4-BE49-F238E27FC236}">
                <a16:creationId xmlns:a16="http://schemas.microsoft.com/office/drawing/2014/main" id="{F4DB719C-F138-ACBE-5403-A8D19C3BE08C}"/>
              </a:ext>
            </a:extLst>
          </p:cNvPr>
          <p:cNvPicPr>
            <a:picLocks noChangeAspect="1"/>
          </p:cNvPicPr>
          <p:nvPr/>
        </p:nvPicPr>
        <p:blipFill>
          <a:blip r:embed="rId4">
            <a:alphaModFix amt="20000"/>
            <a:lum bright="70000" contrast="-70000"/>
          </a:blip>
          <a:stretch>
            <a:fillRect/>
          </a:stretch>
        </p:blipFill>
        <p:spPr>
          <a:xfrm>
            <a:off x="8005222" y="3263028"/>
            <a:ext cx="2478630" cy="2478630"/>
          </a:xfrm>
          <a:prstGeom prst="rect">
            <a:avLst/>
          </a:prstGeom>
        </p:spPr>
      </p:pic>
      <p:pic>
        <p:nvPicPr>
          <p:cNvPr id="24" name="Immagine 23" descr="Immagine che contiene nero, oscurità&#10;&#10;Descrizione generata automaticamente">
            <a:extLst>
              <a:ext uri="{FF2B5EF4-FFF2-40B4-BE49-F238E27FC236}">
                <a16:creationId xmlns:a16="http://schemas.microsoft.com/office/drawing/2014/main" id="{5C51E01D-9679-02CE-8D41-A520BA41E528}"/>
              </a:ext>
            </a:extLst>
          </p:cNvPr>
          <p:cNvPicPr>
            <a:picLocks noChangeAspect="1"/>
          </p:cNvPicPr>
          <p:nvPr/>
        </p:nvPicPr>
        <p:blipFill>
          <a:blip r:embed="rId5">
            <a:alphaModFix amt="20000"/>
            <a:biLevel thresh="75000"/>
          </a:blip>
          <a:stretch>
            <a:fillRect/>
          </a:stretch>
        </p:blipFill>
        <p:spPr>
          <a:xfrm>
            <a:off x="1708148" y="3200681"/>
            <a:ext cx="2679699" cy="2679699"/>
          </a:xfrm>
          <a:prstGeom prst="rect">
            <a:avLst/>
          </a:prstGeom>
        </p:spPr>
      </p:pic>
      <p:sp>
        <p:nvSpPr>
          <p:cNvPr id="16" name="CasellaDiTesto 15">
            <a:extLst>
              <a:ext uri="{FF2B5EF4-FFF2-40B4-BE49-F238E27FC236}">
                <a16:creationId xmlns:a16="http://schemas.microsoft.com/office/drawing/2014/main" id="{F912D7D8-54CD-0BC5-BAD5-E27A3923CB23}"/>
              </a:ext>
            </a:extLst>
          </p:cNvPr>
          <p:cNvSpPr txBox="1"/>
          <p:nvPr/>
        </p:nvSpPr>
        <p:spPr>
          <a:xfrm>
            <a:off x="0" y="2678253"/>
            <a:ext cx="6095997" cy="584775"/>
          </a:xfrm>
          <a:prstGeom prst="rect">
            <a:avLst/>
          </a:prstGeom>
          <a:noFill/>
        </p:spPr>
        <p:txBody>
          <a:bodyPr wrap="square" rtlCol="0">
            <a:spAutoFit/>
          </a:bodyPr>
          <a:lstStyle/>
          <a:p>
            <a:pPr algn="ctr"/>
            <a:r>
              <a:rPr lang="it-IT" sz="3200" b="1" dirty="0">
                <a:latin typeface="+mj-lt"/>
              </a:rPr>
              <a:t>Web Application</a:t>
            </a:r>
          </a:p>
        </p:txBody>
      </p:sp>
      <p:sp>
        <p:nvSpPr>
          <p:cNvPr id="26" name="CasellaDiTesto 25">
            <a:extLst>
              <a:ext uri="{FF2B5EF4-FFF2-40B4-BE49-F238E27FC236}">
                <a16:creationId xmlns:a16="http://schemas.microsoft.com/office/drawing/2014/main" id="{BD238D30-4DE1-6F40-9E1A-AF46949241C1}"/>
              </a:ext>
            </a:extLst>
          </p:cNvPr>
          <p:cNvSpPr txBox="1"/>
          <p:nvPr/>
        </p:nvSpPr>
        <p:spPr>
          <a:xfrm>
            <a:off x="6095997" y="2678253"/>
            <a:ext cx="6095997" cy="584775"/>
          </a:xfrm>
          <a:prstGeom prst="rect">
            <a:avLst/>
          </a:prstGeom>
          <a:noFill/>
        </p:spPr>
        <p:txBody>
          <a:bodyPr wrap="square" rtlCol="0">
            <a:spAutoFit/>
          </a:bodyPr>
          <a:lstStyle/>
          <a:p>
            <a:pPr algn="ctr"/>
            <a:r>
              <a:rPr lang="it-IT" sz="3200" b="1" dirty="0">
                <a:solidFill>
                  <a:schemeClr val="bg1"/>
                </a:solidFill>
                <a:latin typeface="+mj-lt"/>
              </a:rPr>
              <a:t>Database</a:t>
            </a:r>
          </a:p>
        </p:txBody>
      </p:sp>
      <p:sp>
        <p:nvSpPr>
          <p:cNvPr id="27" name="CasellaDiTesto 26">
            <a:extLst>
              <a:ext uri="{FF2B5EF4-FFF2-40B4-BE49-F238E27FC236}">
                <a16:creationId xmlns:a16="http://schemas.microsoft.com/office/drawing/2014/main" id="{4A00A51B-3815-3D16-0F4B-07D609E95A0B}"/>
              </a:ext>
            </a:extLst>
          </p:cNvPr>
          <p:cNvSpPr txBox="1"/>
          <p:nvPr/>
        </p:nvSpPr>
        <p:spPr>
          <a:xfrm>
            <a:off x="473955" y="3390593"/>
            <a:ext cx="5148086" cy="2031325"/>
          </a:xfrm>
          <a:prstGeom prst="rect">
            <a:avLst/>
          </a:prstGeom>
          <a:noFill/>
        </p:spPr>
        <p:txBody>
          <a:bodyPr wrap="square" rtlCol="0">
            <a:spAutoFit/>
          </a:bodyPr>
          <a:lstStyle/>
          <a:p>
            <a:pPr marL="342900" indent="-342900" algn="ctr">
              <a:buFont typeface="Arial" panose="020B0604020202020204" pitchFamily="34" charset="0"/>
              <a:buChar char="•"/>
            </a:pPr>
            <a:r>
              <a:rPr lang="it-IT" dirty="0">
                <a:latin typeface="+mj-lt"/>
              </a:rPr>
              <a:t>Creare una cartella 7z contenente i file della W.A. (Windows10).</a:t>
            </a:r>
          </a:p>
          <a:p>
            <a:pPr algn="ctr"/>
            <a:endParaRPr lang="it-IT" dirty="0">
              <a:latin typeface="+mj-lt"/>
            </a:endParaRPr>
          </a:p>
          <a:p>
            <a:pPr marL="342900" indent="-342900" algn="ctr">
              <a:buFont typeface="Arial" panose="020B0604020202020204" pitchFamily="34" charset="0"/>
              <a:buChar char="•"/>
            </a:pPr>
            <a:r>
              <a:rPr lang="it-IT" dirty="0">
                <a:latin typeface="+mj-lt"/>
              </a:rPr>
              <a:t>Copiare, tramite </a:t>
            </a:r>
            <a:r>
              <a:rPr lang="it-IT" b="1" dirty="0">
                <a:latin typeface="+mj-lt"/>
              </a:rPr>
              <a:t>SCP</a:t>
            </a:r>
            <a:r>
              <a:rPr lang="it-IT" dirty="0">
                <a:latin typeface="+mj-lt"/>
              </a:rPr>
              <a:t>, la cartella creata nella directory:</a:t>
            </a:r>
            <a:br>
              <a:rPr lang="it-IT" dirty="0">
                <a:latin typeface="+mj-lt"/>
              </a:rPr>
            </a:br>
            <a:r>
              <a:rPr lang="it-IT" b="1" dirty="0">
                <a:latin typeface="+mj-lt"/>
              </a:rPr>
              <a:t>/var/www/html</a:t>
            </a:r>
            <a:br>
              <a:rPr lang="it-IT" b="1" dirty="0">
                <a:latin typeface="+mj-lt"/>
              </a:rPr>
            </a:br>
            <a:r>
              <a:rPr lang="it-IT" dirty="0">
                <a:latin typeface="+mj-lt"/>
              </a:rPr>
              <a:t>(root directory dei servizi di apache2).</a:t>
            </a:r>
          </a:p>
          <a:p>
            <a:pPr algn="ctr"/>
            <a:endParaRPr lang="it-IT" dirty="0">
              <a:latin typeface="+mj-lt"/>
            </a:endParaRPr>
          </a:p>
          <a:p>
            <a:pPr marL="342900" indent="-342900" algn="ctr">
              <a:buFont typeface="Arial" panose="020B0604020202020204" pitchFamily="34" charset="0"/>
              <a:buChar char="•"/>
            </a:pPr>
            <a:r>
              <a:rPr lang="it-IT" dirty="0">
                <a:latin typeface="+mj-lt"/>
              </a:rPr>
              <a:t>De zippare i  file tramite 7z (Ubuntu).</a:t>
            </a:r>
          </a:p>
        </p:txBody>
      </p:sp>
      <p:sp>
        <p:nvSpPr>
          <p:cNvPr id="28" name="CasellaDiTesto 27">
            <a:extLst>
              <a:ext uri="{FF2B5EF4-FFF2-40B4-BE49-F238E27FC236}">
                <a16:creationId xmlns:a16="http://schemas.microsoft.com/office/drawing/2014/main" id="{1187835B-63E0-A5EC-D586-A7F980139D88}"/>
              </a:ext>
            </a:extLst>
          </p:cNvPr>
          <p:cNvSpPr txBox="1"/>
          <p:nvPr/>
        </p:nvSpPr>
        <p:spPr>
          <a:xfrm>
            <a:off x="6615672" y="3318534"/>
            <a:ext cx="5056648" cy="2308324"/>
          </a:xfrm>
          <a:prstGeom prst="rect">
            <a:avLst/>
          </a:prstGeom>
          <a:noFill/>
        </p:spPr>
        <p:txBody>
          <a:bodyPr wrap="square" rtlCol="0">
            <a:spAutoFit/>
          </a:bodyPr>
          <a:lstStyle/>
          <a:p>
            <a:pPr marL="285750" indent="-285750" algn="ctr">
              <a:buFont typeface="Arial" panose="020B0604020202020204" pitchFamily="34" charset="0"/>
              <a:buChar char="•"/>
            </a:pPr>
            <a:r>
              <a:rPr lang="it-IT" dirty="0">
                <a:solidFill>
                  <a:schemeClr val="bg1"/>
                </a:solidFill>
                <a:latin typeface="+mj-lt"/>
              </a:rPr>
              <a:t>Creare il </a:t>
            </a:r>
            <a:r>
              <a:rPr lang="it-IT" b="1" dirty="0">
                <a:solidFill>
                  <a:schemeClr val="bg1"/>
                </a:solidFill>
                <a:latin typeface="+mj-lt"/>
              </a:rPr>
              <a:t>dump SQL </a:t>
            </a:r>
            <a:r>
              <a:rPr lang="it-IT" dirty="0">
                <a:solidFill>
                  <a:schemeClr val="bg1"/>
                </a:solidFill>
                <a:latin typeface="+mj-lt"/>
              </a:rPr>
              <a:t>(Windows).</a:t>
            </a:r>
          </a:p>
          <a:p>
            <a:pPr algn="ctr"/>
            <a:endParaRPr lang="it-IT" b="1" dirty="0">
              <a:solidFill>
                <a:schemeClr val="bg1"/>
              </a:solidFill>
              <a:latin typeface="+mj-lt"/>
            </a:endParaRPr>
          </a:p>
          <a:p>
            <a:pPr marL="285750" indent="-285750" algn="ctr">
              <a:buFont typeface="Arial" panose="020B0604020202020204" pitchFamily="34" charset="0"/>
              <a:buChar char="•"/>
            </a:pPr>
            <a:r>
              <a:rPr lang="it-IT" dirty="0">
                <a:solidFill>
                  <a:schemeClr val="bg1"/>
                </a:solidFill>
                <a:latin typeface="+mj-lt"/>
              </a:rPr>
              <a:t>Copiare, tramite </a:t>
            </a:r>
            <a:r>
              <a:rPr lang="it-IT" b="1" dirty="0">
                <a:solidFill>
                  <a:schemeClr val="bg1"/>
                </a:solidFill>
                <a:latin typeface="+mj-lt"/>
              </a:rPr>
              <a:t>SCP, </a:t>
            </a:r>
            <a:r>
              <a:rPr lang="it-IT" dirty="0">
                <a:solidFill>
                  <a:schemeClr val="bg1"/>
                </a:solidFill>
                <a:latin typeface="+mj-lt"/>
              </a:rPr>
              <a:t>il dump in una directory </a:t>
            </a:r>
            <a:r>
              <a:rPr lang="it-IT" dirty="0" err="1">
                <a:solidFill>
                  <a:schemeClr val="bg1"/>
                </a:solidFill>
                <a:latin typeface="+mj-lt"/>
              </a:rPr>
              <a:t>ubuntu</a:t>
            </a:r>
            <a:r>
              <a:rPr lang="it-IT" dirty="0">
                <a:solidFill>
                  <a:schemeClr val="bg1"/>
                </a:solidFill>
                <a:latin typeface="+mj-lt"/>
              </a:rPr>
              <a:t> precedentemente creata: </a:t>
            </a:r>
            <a:r>
              <a:rPr lang="it-IT" b="1" dirty="0" err="1">
                <a:solidFill>
                  <a:schemeClr val="bg1"/>
                </a:solidFill>
                <a:latin typeface="+mj-lt"/>
              </a:rPr>
              <a:t>imported_database</a:t>
            </a:r>
            <a:r>
              <a:rPr lang="it-IT" b="1" dirty="0">
                <a:solidFill>
                  <a:schemeClr val="bg1"/>
                </a:solidFill>
                <a:latin typeface="+mj-lt"/>
              </a:rPr>
              <a:t>.</a:t>
            </a:r>
          </a:p>
          <a:p>
            <a:pPr algn="ctr"/>
            <a:endParaRPr lang="it-IT" b="1" dirty="0">
              <a:solidFill>
                <a:schemeClr val="bg1"/>
              </a:solidFill>
              <a:latin typeface="+mj-lt"/>
            </a:endParaRPr>
          </a:p>
          <a:p>
            <a:pPr marL="285750" indent="-285750" algn="ctr">
              <a:buFont typeface="Arial" panose="020B0604020202020204" pitchFamily="34" charset="0"/>
              <a:buChar char="•"/>
            </a:pPr>
            <a:r>
              <a:rPr lang="it-IT" dirty="0">
                <a:solidFill>
                  <a:schemeClr val="bg1"/>
                </a:solidFill>
                <a:latin typeface="+mj-lt"/>
              </a:rPr>
              <a:t>Accedere al terminare </a:t>
            </a:r>
            <a:r>
              <a:rPr lang="it-IT" b="1" dirty="0">
                <a:solidFill>
                  <a:schemeClr val="bg1"/>
                </a:solidFill>
                <a:latin typeface="+mj-lt"/>
              </a:rPr>
              <a:t>Mysql </a:t>
            </a:r>
            <a:r>
              <a:rPr lang="it-IT" dirty="0">
                <a:solidFill>
                  <a:schemeClr val="bg1"/>
                </a:solidFill>
                <a:latin typeface="+mj-lt"/>
              </a:rPr>
              <a:t>(ubuntu).</a:t>
            </a:r>
          </a:p>
          <a:p>
            <a:pPr algn="ctr"/>
            <a:endParaRPr lang="it-IT" dirty="0">
              <a:solidFill>
                <a:schemeClr val="bg1"/>
              </a:solidFill>
              <a:latin typeface="+mj-lt"/>
            </a:endParaRPr>
          </a:p>
          <a:p>
            <a:pPr marL="285750" indent="-285750" algn="ctr">
              <a:buFont typeface="Arial" panose="020B0604020202020204" pitchFamily="34" charset="0"/>
              <a:buChar char="•"/>
            </a:pPr>
            <a:r>
              <a:rPr lang="it-IT" dirty="0">
                <a:solidFill>
                  <a:schemeClr val="bg1"/>
                </a:solidFill>
                <a:latin typeface="+mj-lt"/>
              </a:rPr>
              <a:t>Importare il dump in un database. </a:t>
            </a:r>
          </a:p>
        </p:txBody>
      </p:sp>
    </p:spTree>
    <p:extLst>
      <p:ext uri="{BB962C8B-B14F-4D97-AF65-F5344CB8AC3E}">
        <p14:creationId xmlns:p14="http://schemas.microsoft.com/office/powerpoint/2010/main" val="3109362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F70746-59DC-D611-8C41-2B42283932F0}"/>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70593BCC-350B-EF4F-55DD-CE113837C9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2EC4626E-A333-F97C-AFC2-D296AECA2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8A4CBD96-3EE2-C5BF-CA71-D0558F3CDAE6}"/>
              </a:ext>
            </a:extLst>
          </p:cNvPr>
          <p:cNvSpPr txBox="1"/>
          <p:nvPr/>
        </p:nvSpPr>
        <p:spPr>
          <a:xfrm>
            <a:off x="1024127" y="459317"/>
            <a:ext cx="5071867"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02.1.4 – </a:t>
            </a:r>
          </a:p>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Web Application </a:t>
            </a:r>
          </a:p>
        </p:txBody>
      </p:sp>
      <p:cxnSp>
        <p:nvCxnSpPr>
          <p:cNvPr id="32" name="Straight Connector 25">
            <a:extLst>
              <a:ext uri="{FF2B5EF4-FFF2-40B4-BE49-F238E27FC236}">
                <a16:creationId xmlns:a16="http://schemas.microsoft.com/office/drawing/2014/main" id="{91ECBDC1-334A-5FD8-1734-AC4AA9781C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0" name="Immagine 39" descr="Immagine che contiene nero, oscurità&#10;&#10;Descrizione generata automaticamente">
            <a:extLst>
              <a:ext uri="{FF2B5EF4-FFF2-40B4-BE49-F238E27FC236}">
                <a16:creationId xmlns:a16="http://schemas.microsoft.com/office/drawing/2014/main" id="{6D28F809-511F-BE74-B251-DEEA053DC41C}"/>
              </a:ext>
            </a:extLst>
          </p:cNvPr>
          <p:cNvPicPr>
            <a:picLocks noChangeAspect="1"/>
          </p:cNvPicPr>
          <p:nvPr/>
        </p:nvPicPr>
        <p:blipFill>
          <a:blip r:embed="rId3">
            <a:alphaModFix amt="20000"/>
            <a:lum bright="70000" contrast="-70000"/>
          </a:blip>
          <a:stretch>
            <a:fillRect/>
          </a:stretch>
        </p:blipFill>
        <p:spPr>
          <a:xfrm>
            <a:off x="6224566" y="544283"/>
            <a:ext cx="5799871" cy="5799871"/>
          </a:xfrm>
          <a:prstGeom prst="rect">
            <a:avLst/>
          </a:prstGeom>
        </p:spPr>
      </p:pic>
      <p:pic>
        <p:nvPicPr>
          <p:cNvPr id="12" name="Immagine 11" descr="Immagine che contiene schermata, testo, Rettangolo, simbolo&#10;&#10;Descrizione generata automaticamente">
            <a:extLst>
              <a:ext uri="{FF2B5EF4-FFF2-40B4-BE49-F238E27FC236}">
                <a16:creationId xmlns:a16="http://schemas.microsoft.com/office/drawing/2014/main" id="{FC682015-033B-845A-87BB-571A2BC8AA73}"/>
              </a:ext>
            </a:extLst>
          </p:cNvPr>
          <p:cNvPicPr>
            <a:picLocks noChangeAspect="1"/>
          </p:cNvPicPr>
          <p:nvPr/>
        </p:nvPicPr>
        <p:blipFill>
          <a:blip r:embed="rId4"/>
          <a:stretch>
            <a:fillRect/>
          </a:stretch>
        </p:blipFill>
        <p:spPr>
          <a:xfrm>
            <a:off x="10750381" y="836371"/>
            <a:ext cx="1091794" cy="1091794"/>
          </a:xfrm>
          <a:prstGeom prst="rect">
            <a:avLst/>
          </a:prstGeom>
        </p:spPr>
      </p:pic>
      <p:cxnSp>
        <p:nvCxnSpPr>
          <p:cNvPr id="16" name="Connettore 2 15">
            <a:extLst>
              <a:ext uri="{FF2B5EF4-FFF2-40B4-BE49-F238E27FC236}">
                <a16:creationId xmlns:a16="http://schemas.microsoft.com/office/drawing/2014/main" id="{4A0C86C0-EF5D-1CF2-E948-83F43F62DD2D}"/>
              </a:ext>
            </a:extLst>
          </p:cNvPr>
          <p:cNvCxnSpPr>
            <a:cxnSpLocks/>
          </p:cNvCxnSpPr>
          <p:nvPr/>
        </p:nvCxnSpPr>
        <p:spPr>
          <a:xfrm>
            <a:off x="8672892" y="1365337"/>
            <a:ext cx="1803748" cy="4405"/>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23" name="CasellaDiTesto 22">
            <a:extLst>
              <a:ext uri="{FF2B5EF4-FFF2-40B4-BE49-F238E27FC236}">
                <a16:creationId xmlns:a16="http://schemas.microsoft.com/office/drawing/2014/main" id="{39C30CE6-0EE5-47F0-C1FC-FB0F57C6A35F}"/>
              </a:ext>
            </a:extLst>
          </p:cNvPr>
          <p:cNvSpPr txBox="1"/>
          <p:nvPr/>
        </p:nvSpPr>
        <p:spPr>
          <a:xfrm>
            <a:off x="10595823" y="1786670"/>
            <a:ext cx="1400910" cy="338554"/>
          </a:xfrm>
          <a:prstGeom prst="rect">
            <a:avLst/>
          </a:prstGeom>
          <a:noFill/>
        </p:spPr>
        <p:txBody>
          <a:bodyPr wrap="square" rtlCol="0">
            <a:spAutoFit/>
          </a:bodyPr>
          <a:lstStyle/>
          <a:p>
            <a:pPr algn="ctr"/>
            <a:r>
              <a:rPr lang="it-IT" sz="1600" dirty="0">
                <a:solidFill>
                  <a:schemeClr val="bg1"/>
                </a:solidFill>
                <a:latin typeface="+mj-lt"/>
              </a:rPr>
              <a:t>e</a:t>
            </a:r>
            <a:r>
              <a:rPr lang="it-IT" sz="1600">
                <a:solidFill>
                  <a:schemeClr val="bg1"/>
                </a:solidFill>
                <a:latin typeface="+mj-lt"/>
              </a:rPr>
              <a:t>lezioni_2025.7z</a:t>
            </a:r>
            <a:endParaRPr lang="it-IT" sz="1600" dirty="0">
              <a:solidFill>
                <a:schemeClr val="bg1"/>
              </a:solidFill>
              <a:latin typeface="+mj-lt"/>
            </a:endParaRPr>
          </a:p>
        </p:txBody>
      </p:sp>
      <p:cxnSp>
        <p:nvCxnSpPr>
          <p:cNvPr id="4" name="Connettore curvo 3">
            <a:extLst>
              <a:ext uri="{FF2B5EF4-FFF2-40B4-BE49-F238E27FC236}">
                <a16:creationId xmlns:a16="http://schemas.microsoft.com/office/drawing/2014/main" id="{2435BBA5-AA8A-5847-6417-59B0AB86F1C1}"/>
              </a:ext>
            </a:extLst>
          </p:cNvPr>
          <p:cNvCxnSpPr/>
          <p:nvPr/>
        </p:nvCxnSpPr>
        <p:spPr>
          <a:xfrm>
            <a:off x="6908800" y="3431612"/>
            <a:ext cx="749300" cy="322508"/>
          </a:xfrm>
          <a:prstGeom prst="curvedConnector3">
            <a:avLst>
              <a:gd name="adj1" fmla="val 848"/>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pic>
        <p:nvPicPr>
          <p:cNvPr id="5" name="Immagine 4" descr="Immagine che contiene testo, Carattere, Elementi grafici, schermata&#10;&#10;Descrizione generata automaticamente">
            <a:extLst>
              <a:ext uri="{FF2B5EF4-FFF2-40B4-BE49-F238E27FC236}">
                <a16:creationId xmlns:a16="http://schemas.microsoft.com/office/drawing/2014/main" id="{E557808C-B077-AA9C-9BA8-82AA1BDA28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5141" y="5917772"/>
            <a:ext cx="1461718" cy="475604"/>
          </a:xfrm>
          <a:prstGeom prst="rect">
            <a:avLst/>
          </a:prstGeom>
        </p:spPr>
      </p:pic>
      <p:graphicFrame>
        <p:nvGraphicFramePr>
          <p:cNvPr id="44" name="CasellaDiTesto 7">
            <a:extLst>
              <a:ext uri="{FF2B5EF4-FFF2-40B4-BE49-F238E27FC236}">
                <a16:creationId xmlns:a16="http://schemas.microsoft.com/office/drawing/2014/main" id="{3B0B8BD0-E9DD-CA16-248F-F20FCEE98CD6}"/>
              </a:ext>
            </a:extLst>
          </p:cNvPr>
          <p:cNvGraphicFramePr/>
          <p:nvPr>
            <p:extLst>
              <p:ext uri="{D42A27DB-BD31-4B8C-83A1-F6EECF244321}">
                <p14:modId xmlns:p14="http://schemas.microsoft.com/office/powerpoint/2010/main" val="2148315182"/>
              </p:ext>
            </p:extLst>
          </p:nvPr>
        </p:nvGraphicFramePr>
        <p:xfrm>
          <a:off x="853439" y="2208870"/>
          <a:ext cx="4389120" cy="428760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6" name="Immagine 5">
            <a:extLst>
              <a:ext uri="{FF2B5EF4-FFF2-40B4-BE49-F238E27FC236}">
                <a16:creationId xmlns:a16="http://schemas.microsoft.com/office/drawing/2014/main" id="{2FEEBCA1-9C81-083E-5C0E-E9BE02F4901D}"/>
              </a:ext>
            </a:extLst>
          </p:cNvPr>
          <p:cNvPicPr>
            <a:picLocks noChangeAspect="1"/>
          </p:cNvPicPr>
          <p:nvPr/>
        </p:nvPicPr>
        <p:blipFill>
          <a:blip r:embed="rId11"/>
          <a:stretch>
            <a:fillRect/>
          </a:stretch>
        </p:blipFill>
        <p:spPr>
          <a:xfrm>
            <a:off x="6351146" y="481600"/>
            <a:ext cx="2139484" cy="1897518"/>
          </a:xfrm>
          <a:prstGeom prst="rect">
            <a:avLst/>
          </a:prstGeom>
        </p:spPr>
      </p:pic>
      <p:pic>
        <p:nvPicPr>
          <p:cNvPr id="7" name="Immagine 6">
            <a:extLst>
              <a:ext uri="{FF2B5EF4-FFF2-40B4-BE49-F238E27FC236}">
                <a16:creationId xmlns:a16="http://schemas.microsoft.com/office/drawing/2014/main" id="{596834B2-343C-2442-386C-021B756137BF}"/>
              </a:ext>
            </a:extLst>
          </p:cNvPr>
          <p:cNvPicPr>
            <a:picLocks noChangeAspect="1"/>
          </p:cNvPicPr>
          <p:nvPr/>
        </p:nvPicPr>
        <p:blipFill>
          <a:blip r:embed="rId12"/>
          <a:stretch>
            <a:fillRect/>
          </a:stretch>
        </p:blipFill>
        <p:spPr>
          <a:xfrm>
            <a:off x="6224566" y="3082834"/>
            <a:ext cx="5799872" cy="321259"/>
          </a:xfrm>
          <a:prstGeom prst="rect">
            <a:avLst/>
          </a:prstGeom>
        </p:spPr>
      </p:pic>
      <p:pic>
        <p:nvPicPr>
          <p:cNvPr id="9" name="Immagine 8">
            <a:extLst>
              <a:ext uri="{FF2B5EF4-FFF2-40B4-BE49-F238E27FC236}">
                <a16:creationId xmlns:a16="http://schemas.microsoft.com/office/drawing/2014/main" id="{62039B25-8873-EA84-6663-2F93B08B8D06}"/>
              </a:ext>
            </a:extLst>
          </p:cNvPr>
          <p:cNvPicPr>
            <a:picLocks noChangeAspect="1"/>
          </p:cNvPicPr>
          <p:nvPr/>
        </p:nvPicPr>
        <p:blipFill>
          <a:blip r:embed="rId13"/>
          <a:stretch>
            <a:fillRect/>
          </a:stretch>
        </p:blipFill>
        <p:spPr>
          <a:xfrm>
            <a:off x="7722061" y="3893842"/>
            <a:ext cx="3705742" cy="371527"/>
          </a:xfrm>
          <a:prstGeom prst="rect">
            <a:avLst/>
          </a:prstGeom>
        </p:spPr>
      </p:pic>
      <p:pic>
        <p:nvPicPr>
          <p:cNvPr id="11" name="Immagine 10">
            <a:extLst>
              <a:ext uri="{FF2B5EF4-FFF2-40B4-BE49-F238E27FC236}">
                <a16:creationId xmlns:a16="http://schemas.microsoft.com/office/drawing/2014/main" id="{66C0BCC2-60AB-ADED-930F-7F2B31BA4D9F}"/>
              </a:ext>
            </a:extLst>
          </p:cNvPr>
          <p:cNvPicPr>
            <a:picLocks noChangeAspect="1"/>
          </p:cNvPicPr>
          <p:nvPr/>
        </p:nvPicPr>
        <p:blipFill>
          <a:blip r:embed="rId14"/>
          <a:stretch>
            <a:fillRect/>
          </a:stretch>
        </p:blipFill>
        <p:spPr>
          <a:xfrm>
            <a:off x="7722061" y="3663620"/>
            <a:ext cx="4248743" cy="181000"/>
          </a:xfrm>
          <a:prstGeom prst="rect">
            <a:avLst/>
          </a:prstGeom>
        </p:spPr>
      </p:pic>
      <p:sp>
        <p:nvSpPr>
          <p:cNvPr id="13" name="CasellaDiTesto 12">
            <a:extLst>
              <a:ext uri="{FF2B5EF4-FFF2-40B4-BE49-F238E27FC236}">
                <a16:creationId xmlns:a16="http://schemas.microsoft.com/office/drawing/2014/main" id="{43E264E4-2101-C121-E0AD-CD6941B07F01}"/>
              </a:ext>
            </a:extLst>
          </p:cNvPr>
          <p:cNvSpPr txBox="1"/>
          <p:nvPr/>
        </p:nvSpPr>
        <p:spPr>
          <a:xfrm>
            <a:off x="6351145" y="222073"/>
            <a:ext cx="1011051" cy="246221"/>
          </a:xfrm>
          <a:prstGeom prst="rect">
            <a:avLst/>
          </a:prstGeom>
          <a:noFill/>
        </p:spPr>
        <p:txBody>
          <a:bodyPr wrap="square" rtlCol="0">
            <a:spAutoFit/>
          </a:bodyPr>
          <a:lstStyle/>
          <a:p>
            <a:r>
              <a:rPr lang="it-IT" sz="1000" dirty="0">
                <a:solidFill>
                  <a:schemeClr val="bg1"/>
                </a:solidFill>
                <a:latin typeface="+mj-lt"/>
              </a:rPr>
              <a:t>windows</a:t>
            </a:r>
          </a:p>
        </p:txBody>
      </p:sp>
      <p:sp>
        <p:nvSpPr>
          <p:cNvPr id="14" name="CasellaDiTesto 13">
            <a:extLst>
              <a:ext uri="{FF2B5EF4-FFF2-40B4-BE49-F238E27FC236}">
                <a16:creationId xmlns:a16="http://schemas.microsoft.com/office/drawing/2014/main" id="{7B1692D2-E804-7657-D22F-8A4207821B2B}"/>
              </a:ext>
            </a:extLst>
          </p:cNvPr>
          <p:cNvSpPr txBox="1"/>
          <p:nvPr/>
        </p:nvSpPr>
        <p:spPr>
          <a:xfrm>
            <a:off x="6272784" y="2842961"/>
            <a:ext cx="989972" cy="246221"/>
          </a:xfrm>
          <a:prstGeom prst="rect">
            <a:avLst/>
          </a:prstGeom>
          <a:noFill/>
        </p:spPr>
        <p:txBody>
          <a:bodyPr wrap="square" rtlCol="0">
            <a:spAutoFit/>
          </a:bodyPr>
          <a:lstStyle/>
          <a:p>
            <a:r>
              <a:rPr lang="it-IT" sz="1000" dirty="0">
                <a:solidFill>
                  <a:schemeClr val="bg1"/>
                </a:solidFill>
                <a:latin typeface="+mj-lt"/>
              </a:rPr>
              <a:t>windows</a:t>
            </a:r>
          </a:p>
        </p:txBody>
      </p:sp>
      <p:sp>
        <p:nvSpPr>
          <p:cNvPr id="15" name="CasellaDiTesto 14">
            <a:extLst>
              <a:ext uri="{FF2B5EF4-FFF2-40B4-BE49-F238E27FC236}">
                <a16:creationId xmlns:a16="http://schemas.microsoft.com/office/drawing/2014/main" id="{F6E37199-8042-4529-983F-4E166AD1122D}"/>
              </a:ext>
            </a:extLst>
          </p:cNvPr>
          <p:cNvSpPr txBox="1"/>
          <p:nvPr/>
        </p:nvSpPr>
        <p:spPr>
          <a:xfrm>
            <a:off x="6272784" y="3740210"/>
            <a:ext cx="1602654" cy="246221"/>
          </a:xfrm>
          <a:prstGeom prst="rect">
            <a:avLst/>
          </a:prstGeom>
          <a:noFill/>
        </p:spPr>
        <p:txBody>
          <a:bodyPr wrap="square" rtlCol="0">
            <a:spAutoFit/>
          </a:bodyPr>
          <a:lstStyle/>
          <a:p>
            <a:pPr algn="ctr"/>
            <a:r>
              <a:rPr lang="it-IT" sz="1000" dirty="0" err="1">
                <a:solidFill>
                  <a:schemeClr val="bg1"/>
                </a:solidFill>
                <a:latin typeface="+mj-lt"/>
              </a:rPr>
              <a:t>ubuntu</a:t>
            </a:r>
            <a:endParaRPr lang="it-IT" sz="1000" dirty="0">
              <a:solidFill>
                <a:schemeClr val="bg1"/>
              </a:solidFill>
              <a:latin typeface="+mj-lt"/>
            </a:endParaRPr>
          </a:p>
        </p:txBody>
      </p:sp>
    </p:spTree>
    <p:extLst>
      <p:ext uri="{BB962C8B-B14F-4D97-AF65-F5344CB8AC3E}">
        <p14:creationId xmlns:p14="http://schemas.microsoft.com/office/powerpoint/2010/main" val="2367674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72CB41-CF90-F040-4552-BFC2E3E02E04}"/>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72CC4569-FED4-8766-2E9D-6E7E23C753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A5450A23-8281-BA11-8E85-6E1E0184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3CA59CBC-7C0E-E8BD-1388-AF4EBEF2EA4A}"/>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rPr>
              <a:t>02.1.4 – database</a:t>
            </a:r>
          </a:p>
        </p:txBody>
      </p:sp>
      <p:cxnSp>
        <p:nvCxnSpPr>
          <p:cNvPr id="32" name="Straight Connector 25">
            <a:extLst>
              <a:ext uri="{FF2B5EF4-FFF2-40B4-BE49-F238E27FC236}">
                <a16:creationId xmlns:a16="http://schemas.microsoft.com/office/drawing/2014/main" id="{3E6BA150-A61B-A573-5ED2-E033E1966C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E0FF48D0-D770-4426-07DB-54DF3B277109}"/>
              </a:ext>
            </a:extLst>
          </p:cNvPr>
          <p:cNvSpPr txBox="1"/>
          <p:nvPr/>
        </p:nvSpPr>
        <p:spPr>
          <a:xfrm>
            <a:off x="853439" y="2407920"/>
            <a:ext cx="4389120" cy="3891280"/>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Creare il </a:t>
            </a:r>
            <a:r>
              <a:rPr lang="it-IT" dirty="0" err="1"/>
              <a:t>dump</a:t>
            </a:r>
            <a:r>
              <a:rPr lang="it-IT" dirty="0"/>
              <a:t> SQL (Windows10)</a:t>
            </a:r>
          </a:p>
          <a:p>
            <a:pPr defTabSz="914400">
              <a:lnSpc>
                <a:spcPct val="90000"/>
              </a:lnSpc>
              <a:spcAft>
                <a:spcPts val="600"/>
              </a:spcAft>
              <a:buClr>
                <a:schemeClr val="accent1"/>
              </a:buCl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Copiare, tramite SCP, il </a:t>
            </a:r>
            <a:r>
              <a:rPr lang="it-IT" dirty="0" err="1"/>
              <a:t>dump</a:t>
            </a:r>
            <a:r>
              <a:rPr lang="it-IT" dirty="0"/>
              <a:t> in una directory </a:t>
            </a:r>
            <a:r>
              <a:rPr lang="it-IT" dirty="0" err="1"/>
              <a:t>ubuntu</a:t>
            </a:r>
            <a:r>
              <a:rPr lang="it-IT" dirty="0"/>
              <a:t> precedentemente creata: </a:t>
            </a:r>
            <a:r>
              <a:rPr lang="it-IT" dirty="0" err="1"/>
              <a:t>imported_database</a:t>
            </a:r>
            <a:endParaRPr lang="it-IT" dirty="0"/>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Accedere al terminare </a:t>
            </a:r>
            <a:r>
              <a:rPr lang="it-IT" dirty="0" err="1"/>
              <a:t>Mysql</a:t>
            </a:r>
            <a:r>
              <a:rPr lang="it-IT" dirty="0"/>
              <a:t> (</a:t>
            </a:r>
            <a:r>
              <a:rPr lang="it-IT" dirty="0" err="1"/>
              <a:t>ubuntu</a:t>
            </a:r>
            <a:r>
              <a:rPr lang="it-IT" dirty="0"/>
              <a:t>) e creare un database vuoto che conterrà il </a:t>
            </a:r>
            <a:r>
              <a:rPr lang="it-IT" dirty="0" err="1"/>
              <a:t>dump</a:t>
            </a:r>
            <a:r>
              <a:rPr lang="it-IT" dirty="0"/>
              <a:t>.</a:t>
            </a:r>
          </a:p>
          <a:p>
            <a:pPr defTabSz="914400">
              <a:lnSpc>
                <a:spcPct val="90000"/>
              </a:lnSpc>
              <a:spcAft>
                <a:spcPts val="600"/>
              </a:spcAft>
              <a:buClr>
                <a:schemeClr val="accent1"/>
              </a:buCl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Importare il </a:t>
            </a:r>
            <a:r>
              <a:rPr lang="it-IT" dirty="0" err="1"/>
              <a:t>dump</a:t>
            </a:r>
            <a:r>
              <a:rPr lang="it-IT" dirty="0"/>
              <a:t> nel database appena creato </a:t>
            </a:r>
          </a:p>
        </p:txBody>
      </p:sp>
      <p:pic>
        <p:nvPicPr>
          <p:cNvPr id="4" name="Immagine 3" descr="Immagine che contiene nero, oscurità&#10;&#10;Descrizione generata automaticamente">
            <a:extLst>
              <a:ext uri="{FF2B5EF4-FFF2-40B4-BE49-F238E27FC236}">
                <a16:creationId xmlns:a16="http://schemas.microsoft.com/office/drawing/2014/main" id="{71E12C03-183A-1BE9-C3FD-81EBA09C2D6D}"/>
              </a:ext>
            </a:extLst>
          </p:cNvPr>
          <p:cNvPicPr>
            <a:picLocks noChangeAspect="1"/>
          </p:cNvPicPr>
          <p:nvPr/>
        </p:nvPicPr>
        <p:blipFill>
          <a:blip r:embed="rId3">
            <a:alphaModFix amt="20000"/>
            <a:lum bright="70000" contrast="-70000"/>
          </a:blip>
          <a:stretch>
            <a:fillRect/>
          </a:stretch>
        </p:blipFill>
        <p:spPr>
          <a:xfrm>
            <a:off x="6356951" y="604784"/>
            <a:ext cx="5624996" cy="5624996"/>
          </a:xfrm>
          <a:prstGeom prst="rect">
            <a:avLst/>
          </a:prstGeom>
        </p:spPr>
      </p:pic>
      <p:pic>
        <p:nvPicPr>
          <p:cNvPr id="5" name="Immagine 4" descr="Immagine che contiene testo, Elementi grafici, schermata, Carattere&#10;&#10;Descrizione generata automaticamente">
            <a:extLst>
              <a:ext uri="{FF2B5EF4-FFF2-40B4-BE49-F238E27FC236}">
                <a16:creationId xmlns:a16="http://schemas.microsoft.com/office/drawing/2014/main" id="{50D8ED9B-126F-FADB-5F6D-2BE17ECCFC20}"/>
              </a:ext>
            </a:extLst>
          </p:cNvPr>
          <p:cNvPicPr>
            <a:picLocks noChangeAspect="1"/>
          </p:cNvPicPr>
          <p:nvPr/>
        </p:nvPicPr>
        <p:blipFill>
          <a:blip r:embed="rId4">
            <a:alphaModFix/>
            <a:biLevel thresh="25000"/>
          </a:blip>
          <a:stretch>
            <a:fillRect/>
          </a:stretch>
        </p:blipFill>
        <p:spPr>
          <a:xfrm>
            <a:off x="11150508" y="662039"/>
            <a:ext cx="780290" cy="780290"/>
          </a:xfrm>
          <a:prstGeom prst="rect">
            <a:avLst/>
          </a:prstGeom>
          <a:ln>
            <a:solidFill>
              <a:schemeClr val="bg1"/>
            </a:solidFill>
          </a:ln>
        </p:spPr>
      </p:pic>
      <p:sp>
        <p:nvSpPr>
          <p:cNvPr id="6" name="CasellaDiTesto 5">
            <a:extLst>
              <a:ext uri="{FF2B5EF4-FFF2-40B4-BE49-F238E27FC236}">
                <a16:creationId xmlns:a16="http://schemas.microsoft.com/office/drawing/2014/main" id="{3EC3E833-45F3-C07D-A081-0D49CFD105A0}"/>
              </a:ext>
            </a:extLst>
          </p:cNvPr>
          <p:cNvSpPr txBox="1"/>
          <p:nvPr/>
        </p:nvSpPr>
        <p:spPr>
          <a:xfrm>
            <a:off x="10471759" y="1426546"/>
            <a:ext cx="2083385" cy="338554"/>
          </a:xfrm>
          <a:prstGeom prst="rect">
            <a:avLst/>
          </a:prstGeom>
          <a:noFill/>
        </p:spPr>
        <p:txBody>
          <a:bodyPr wrap="square" rtlCol="0">
            <a:spAutoFit/>
          </a:bodyPr>
          <a:lstStyle/>
          <a:p>
            <a:pPr algn="ctr"/>
            <a:r>
              <a:rPr lang="it-IT" sz="1600" dirty="0">
                <a:solidFill>
                  <a:schemeClr val="bg1"/>
                </a:solidFill>
                <a:latin typeface="+mj-lt"/>
              </a:rPr>
              <a:t>elezioni_2025.sql</a:t>
            </a:r>
          </a:p>
        </p:txBody>
      </p:sp>
      <p:cxnSp>
        <p:nvCxnSpPr>
          <p:cNvPr id="9" name="Connettore curvo 8">
            <a:extLst>
              <a:ext uri="{FF2B5EF4-FFF2-40B4-BE49-F238E27FC236}">
                <a16:creationId xmlns:a16="http://schemas.microsoft.com/office/drawing/2014/main" id="{2CBEAB0B-E48C-09BC-0CFD-A9D82BF94715}"/>
              </a:ext>
            </a:extLst>
          </p:cNvPr>
          <p:cNvCxnSpPr>
            <a:cxnSpLocks/>
            <a:stCxn id="22" idx="2"/>
          </p:cNvCxnSpPr>
          <p:nvPr/>
        </p:nvCxnSpPr>
        <p:spPr>
          <a:xfrm rot="16200000" flipH="1">
            <a:off x="9654274" y="-340927"/>
            <a:ext cx="408300" cy="2481868"/>
          </a:xfrm>
          <a:prstGeom prst="curvedConnector2">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cxnSp>
        <p:nvCxnSpPr>
          <p:cNvPr id="13" name="Connettore curvo 12">
            <a:extLst>
              <a:ext uri="{FF2B5EF4-FFF2-40B4-BE49-F238E27FC236}">
                <a16:creationId xmlns:a16="http://schemas.microsoft.com/office/drawing/2014/main" id="{DF876310-80F6-933C-1471-9718DD9273D2}"/>
              </a:ext>
            </a:extLst>
          </p:cNvPr>
          <p:cNvCxnSpPr/>
          <p:nvPr/>
        </p:nvCxnSpPr>
        <p:spPr>
          <a:xfrm>
            <a:off x="7146795" y="2312504"/>
            <a:ext cx="749300" cy="322508"/>
          </a:xfrm>
          <a:prstGeom prst="curvedConnector3">
            <a:avLst>
              <a:gd name="adj1" fmla="val 848"/>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cxnSp>
        <p:nvCxnSpPr>
          <p:cNvPr id="18" name="Connettore curvo 17">
            <a:extLst>
              <a:ext uri="{FF2B5EF4-FFF2-40B4-BE49-F238E27FC236}">
                <a16:creationId xmlns:a16="http://schemas.microsoft.com/office/drawing/2014/main" id="{BCBE3C5B-0C2A-1268-0DDA-3F546F68E7AF}"/>
              </a:ext>
            </a:extLst>
          </p:cNvPr>
          <p:cNvCxnSpPr>
            <a:cxnSpLocks/>
          </p:cNvCxnSpPr>
          <p:nvPr/>
        </p:nvCxnSpPr>
        <p:spPr>
          <a:xfrm>
            <a:off x="9134953" y="3467781"/>
            <a:ext cx="1336806" cy="12700"/>
          </a:xfrm>
          <a:prstGeom prst="curvedConnector3">
            <a:avLst>
              <a:gd name="adj1" fmla="val 50000"/>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cxnSp>
        <p:nvCxnSpPr>
          <p:cNvPr id="21" name="Connettore curvo 20">
            <a:extLst>
              <a:ext uri="{FF2B5EF4-FFF2-40B4-BE49-F238E27FC236}">
                <a16:creationId xmlns:a16="http://schemas.microsoft.com/office/drawing/2014/main" id="{A8F9C974-FD48-09BC-0E59-AEBEC349A954}"/>
              </a:ext>
            </a:extLst>
          </p:cNvPr>
          <p:cNvCxnSpPr/>
          <p:nvPr/>
        </p:nvCxnSpPr>
        <p:spPr>
          <a:xfrm>
            <a:off x="6412269" y="4783976"/>
            <a:ext cx="749300" cy="322508"/>
          </a:xfrm>
          <a:prstGeom prst="curvedConnector3">
            <a:avLst>
              <a:gd name="adj1" fmla="val 848"/>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pic>
        <p:nvPicPr>
          <p:cNvPr id="22" name="Immagine 21" descr="Immagine che contiene testo, schermata, Software multimediale, Carattere&#10;&#10;Il contenuto generato dall'IA potrebbe non essere corretto.">
            <a:extLst>
              <a:ext uri="{FF2B5EF4-FFF2-40B4-BE49-F238E27FC236}">
                <a16:creationId xmlns:a16="http://schemas.microsoft.com/office/drawing/2014/main" id="{42A0911D-E160-197C-0BA8-3607E7B55A5E}"/>
              </a:ext>
            </a:extLst>
          </p:cNvPr>
          <p:cNvPicPr>
            <a:picLocks noChangeAspect="1"/>
          </p:cNvPicPr>
          <p:nvPr/>
        </p:nvPicPr>
        <p:blipFill>
          <a:blip r:embed="rId5"/>
          <a:stretch>
            <a:fillRect/>
          </a:stretch>
        </p:blipFill>
        <p:spPr>
          <a:xfrm>
            <a:off x="6203551" y="84278"/>
            <a:ext cx="4827878" cy="611579"/>
          </a:xfrm>
          <a:prstGeom prst="rect">
            <a:avLst/>
          </a:prstGeom>
        </p:spPr>
      </p:pic>
      <p:sp>
        <p:nvSpPr>
          <p:cNvPr id="28" name="Rettangolo 27">
            <a:extLst>
              <a:ext uri="{FF2B5EF4-FFF2-40B4-BE49-F238E27FC236}">
                <a16:creationId xmlns:a16="http://schemas.microsoft.com/office/drawing/2014/main" id="{0F020EA5-309E-F149-4D4E-0CC60B218B49}"/>
              </a:ext>
            </a:extLst>
          </p:cNvPr>
          <p:cNvSpPr/>
          <p:nvPr/>
        </p:nvSpPr>
        <p:spPr>
          <a:xfrm>
            <a:off x="10026213" y="238748"/>
            <a:ext cx="1005216" cy="54281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3" name="Immagine 32">
            <a:extLst>
              <a:ext uri="{FF2B5EF4-FFF2-40B4-BE49-F238E27FC236}">
                <a16:creationId xmlns:a16="http://schemas.microsoft.com/office/drawing/2014/main" id="{271DAB0A-DA36-CE7F-9013-2EFF5CDDE958}"/>
              </a:ext>
            </a:extLst>
          </p:cNvPr>
          <p:cNvPicPr>
            <a:picLocks noChangeAspect="1"/>
          </p:cNvPicPr>
          <p:nvPr/>
        </p:nvPicPr>
        <p:blipFill>
          <a:blip r:embed="rId6"/>
          <a:stretch>
            <a:fillRect/>
          </a:stretch>
        </p:blipFill>
        <p:spPr>
          <a:xfrm>
            <a:off x="6356951" y="1986133"/>
            <a:ext cx="5487417" cy="305509"/>
          </a:xfrm>
          <a:prstGeom prst="rect">
            <a:avLst/>
          </a:prstGeom>
        </p:spPr>
      </p:pic>
      <p:pic>
        <p:nvPicPr>
          <p:cNvPr id="35" name="Immagine 34">
            <a:extLst>
              <a:ext uri="{FF2B5EF4-FFF2-40B4-BE49-F238E27FC236}">
                <a16:creationId xmlns:a16="http://schemas.microsoft.com/office/drawing/2014/main" id="{B09E2AF8-10A8-4095-80DF-E32ACE6E3AAE}"/>
              </a:ext>
            </a:extLst>
          </p:cNvPr>
          <p:cNvPicPr>
            <a:picLocks noChangeAspect="1"/>
          </p:cNvPicPr>
          <p:nvPr/>
        </p:nvPicPr>
        <p:blipFill>
          <a:blip r:embed="rId7"/>
          <a:stretch>
            <a:fillRect/>
          </a:stretch>
        </p:blipFill>
        <p:spPr>
          <a:xfrm>
            <a:off x="7959605" y="2467761"/>
            <a:ext cx="3903045" cy="332174"/>
          </a:xfrm>
          <a:prstGeom prst="rect">
            <a:avLst/>
          </a:prstGeom>
        </p:spPr>
      </p:pic>
      <p:sp>
        <p:nvSpPr>
          <p:cNvPr id="38" name="CasellaDiTesto 37">
            <a:extLst>
              <a:ext uri="{FF2B5EF4-FFF2-40B4-BE49-F238E27FC236}">
                <a16:creationId xmlns:a16="http://schemas.microsoft.com/office/drawing/2014/main" id="{92443EA1-FF17-B6D6-77C9-ED15A57D5E62}"/>
              </a:ext>
            </a:extLst>
          </p:cNvPr>
          <p:cNvSpPr txBox="1"/>
          <p:nvPr/>
        </p:nvSpPr>
        <p:spPr>
          <a:xfrm>
            <a:off x="6356951" y="1677766"/>
            <a:ext cx="1602654" cy="246221"/>
          </a:xfrm>
          <a:prstGeom prst="rect">
            <a:avLst/>
          </a:prstGeom>
          <a:noFill/>
        </p:spPr>
        <p:txBody>
          <a:bodyPr wrap="square" rtlCol="0">
            <a:spAutoFit/>
          </a:bodyPr>
          <a:lstStyle/>
          <a:p>
            <a:pPr algn="ctr"/>
            <a:r>
              <a:rPr lang="it-IT" sz="1000" dirty="0">
                <a:solidFill>
                  <a:schemeClr val="bg1"/>
                </a:solidFill>
                <a:latin typeface="+mj-lt"/>
              </a:rPr>
              <a:t>windows</a:t>
            </a:r>
          </a:p>
        </p:txBody>
      </p:sp>
      <p:sp>
        <p:nvSpPr>
          <p:cNvPr id="39" name="CasellaDiTesto 38">
            <a:extLst>
              <a:ext uri="{FF2B5EF4-FFF2-40B4-BE49-F238E27FC236}">
                <a16:creationId xmlns:a16="http://schemas.microsoft.com/office/drawing/2014/main" id="{E1C61B1C-2BE4-C589-BBDF-EF128AFE0E2E}"/>
              </a:ext>
            </a:extLst>
          </p:cNvPr>
          <p:cNvSpPr txBox="1"/>
          <p:nvPr/>
        </p:nvSpPr>
        <p:spPr>
          <a:xfrm>
            <a:off x="6412269" y="2580226"/>
            <a:ext cx="1602654" cy="246221"/>
          </a:xfrm>
          <a:prstGeom prst="rect">
            <a:avLst/>
          </a:prstGeom>
          <a:noFill/>
        </p:spPr>
        <p:txBody>
          <a:bodyPr wrap="square" rtlCol="0">
            <a:spAutoFit/>
          </a:bodyPr>
          <a:lstStyle/>
          <a:p>
            <a:pPr algn="ctr"/>
            <a:r>
              <a:rPr lang="it-IT" sz="1000" dirty="0" err="1">
                <a:solidFill>
                  <a:schemeClr val="bg1"/>
                </a:solidFill>
                <a:latin typeface="+mj-lt"/>
              </a:rPr>
              <a:t>ubuntu</a:t>
            </a:r>
            <a:endParaRPr lang="it-IT" sz="1000" dirty="0">
              <a:solidFill>
                <a:schemeClr val="bg1"/>
              </a:solidFill>
              <a:latin typeface="+mj-lt"/>
            </a:endParaRPr>
          </a:p>
        </p:txBody>
      </p:sp>
      <p:pic>
        <p:nvPicPr>
          <p:cNvPr id="41" name="Immagine 40">
            <a:extLst>
              <a:ext uri="{FF2B5EF4-FFF2-40B4-BE49-F238E27FC236}">
                <a16:creationId xmlns:a16="http://schemas.microsoft.com/office/drawing/2014/main" id="{D490582F-FB03-F48C-AA90-CD5C0025070F}"/>
              </a:ext>
            </a:extLst>
          </p:cNvPr>
          <p:cNvPicPr>
            <a:picLocks noChangeAspect="1"/>
          </p:cNvPicPr>
          <p:nvPr/>
        </p:nvPicPr>
        <p:blipFill>
          <a:blip r:embed="rId8"/>
          <a:stretch>
            <a:fillRect/>
          </a:stretch>
        </p:blipFill>
        <p:spPr>
          <a:xfrm>
            <a:off x="6198613" y="3160496"/>
            <a:ext cx="3981539" cy="169427"/>
          </a:xfrm>
          <a:prstGeom prst="rect">
            <a:avLst/>
          </a:prstGeom>
        </p:spPr>
      </p:pic>
      <p:pic>
        <p:nvPicPr>
          <p:cNvPr id="43" name="Immagine 42">
            <a:extLst>
              <a:ext uri="{FF2B5EF4-FFF2-40B4-BE49-F238E27FC236}">
                <a16:creationId xmlns:a16="http://schemas.microsoft.com/office/drawing/2014/main" id="{E444D36C-81E8-AC4F-7DD7-FBFC2E588816}"/>
              </a:ext>
            </a:extLst>
          </p:cNvPr>
          <p:cNvPicPr>
            <a:picLocks noChangeAspect="1"/>
          </p:cNvPicPr>
          <p:nvPr/>
        </p:nvPicPr>
        <p:blipFill>
          <a:blip r:embed="rId9"/>
          <a:stretch>
            <a:fillRect/>
          </a:stretch>
        </p:blipFill>
        <p:spPr>
          <a:xfrm>
            <a:off x="6220360" y="3359127"/>
            <a:ext cx="2767600" cy="177961"/>
          </a:xfrm>
          <a:prstGeom prst="rect">
            <a:avLst/>
          </a:prstGeom>
        </p:spPr>
      </p:pic>
      <p:pic>
        <p:nvPicPr>
          <p:cNvPr id="45" name="Immagine 44" descr="Immagine che contiene testo, Carattere, schermata, numero&#10;&#10;Il contenuto generato dall'IA potrebbe non essere corretto.">
            <a:extLst>
              <a:ext uri="{FF2B5EF4-FFF2-40B4-BE49-F238E27FC236}">
                <a16:creationId xmlns:a16="http://schemas.microsoft.com/office/drawing/2014/main" id="{7CFFAAF2-9A0F-0AEC-795E-5850EEE484C2}"/>
              </a:ext>
            </a:extLst>
          </p:cNvPr>
          <p:cNvPicPr>
            <a:picLocks noChangeAspect="1"/>
          </p:cNvPicPr>
          <p:nvPr/>
        </p:nvPicPr>
        <p:blipFill>
          <a:blip r:embed="rId10"/>
          <a:stretch>
            <a:fillRect/>
          </a:stretch>
        </p:blipFill>
        <p:spPr>
          <a:xfrm>
            <a:off x="10528821" y="2983811"/>
            <a:ext cx="1338398" cy="1218470"/>
          </a:xfrm>
          <a:prstGeom prst="rect">
            <a:avLst/>
          </a:prstGeom>
        </p:spPr>
      </p:pic>
      <p:sp>
        <p:nvSpPr>
          <p:cNvPr id="46" name="Rettangolo 45">
            <a:extLst>
              <a:ext uri="{FF2B5EF4-FFF2-40B4-BE49-F238E27FC236}">
                <a16:creationId xmlns:a16="http://schemas.microsoft.com/office/drawing/2014/main" id="{995511AE-F5F6-197A-4FD2-E02BC6F85FA4}"/>
              </a:ext>
            </a:extLst>
          </p:cNvPr>
          <p:cNvSpPr/>
          <p:nvPr/>
        </p:nvSpPr>
        <p:spPr>
          <a:xfrm>
            <a:off x="10513258" y="3399886"/>
            <a:ext cx="1008181" cy="180055"/>
          </a:xfrm>
          <a:prstGeom prst="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8" name="Immagine 47">
            <a:extLst>
              <a:ext uri="{FF2B5EF4-FFF2-40B4-BE49-F238E27FC236}">
                <a16:creationId xmlns:a16="http://schemas.microsoft.com/office/drawing/2014/main" id="{C1AE09F6-5809-7C73-87FE-602F551AD01E}"/>
              </a:ext>
            </a:extLst>
          </p:cNvPr>
          <p:cNvPicPr>
            <a:picLocks noChangeAspect="1"/>
          </p:cNvPicPr>
          <p:nvPr/>
        </p:nvPicPr>
        <p:blipFill>
          <a:blip r:embed="rId11"/>
          <a:stretch>
            <a:fillRect/>
          </a:stretch>
        </p:blipFill>
        <p:spPr>
          <a:xfrm>
            <a:off x="6197234" y="4169104"/>
            <a:ext cx="2972215" cy="257211"/>
          </a:xfrm>
          <a:prstGeom prst="rect">
            <a:avLst/>
          </a:prstGeom>
        </p:spPr>
      </p:pic>
      <p:pic>
        <p:nvPicPr>
          <p:cNvPr id="50" name="Immagine 49">
            <a:extLst>
              <a:ext uri="{FF2B5EF4-FFF2-40B4-BE49-F238E27FC236}">
                <a16:creationId xmlns:a16="http://schemas.microsoft.com/office/drawing/2014/main" id="{D1ADD9E3-24A1-0DD2-EC81-7EFCC12CDAD0}"/>
              </a:ext>
            </a:extLst>
          </p:cNvPr>
          <p:cNvPicPr>
            <a:picLocks noChangeAspect="1"/>
          </p:cNvPicPr>
          <p:nvPr/>
        </p:nvPicPr>
        <p:blipFill>
          <a:blip r:embed="rId12"/>
          <a:stretch>
            <a:fillRect/>
          </a:stretch>
        </p:blipFill>
        <p:spPr>
          <a:xfrm>
            <a:off x="6197234" y="4488532"/>
            <a:ext cx="5074639" cy="188673"/>
          </a:xfrm>
          <a:prstGeom prst="rect">
            <a:avLst/>
          </a:prstGeom>
        </p:spPr>
      </p:pic>
      <p:pic>
        <p:nvPicPr>
          <p:cNvPr id="54" name="Immagine 53" descr="Immagine che contiene testo, schermata, Carattere&#10;&#10;Il contenuto generato dall'IA potrebbe non essere corretto.">
            <a:extLst>
              <a:ext uri="{FF2B5EF4-FFF2-40B4-BE49-F238E27FC236}">
                <a16:creationId xmlns:a16="http://schemas.microsoft.com/office/drawing/2014/main" id="{C15AC0BF-D8FE-8C07-C8B9-D692671D9711}"/>
              </a:ext>
            </a:extLst>
          </p:cNvPr>
          <p:cNvPicPr>
            <a:picLocks noChangeAspect="1"/>
          </p:cNvPicPr>
          <p:nvPr/>
        </p:nvPicPr>
        <p:blipFill>
          <a:blip r:embed="rId13"/>
          <a:stretch>
            <a:fillRect/>
          </a:stretch>
        </p:blipFill>
        <p:spPr>
          <a:xfrm>
            <a:off x="7213428" y="4843942"/>
            <a:ext cx="1905807" cy="1841893"/>
          </a:xfrm>
          <a:prstGeom prst="rect">
            <a:avLst/>
          </a:prstGeom>
        </p:spPr>
      </p:pic>
    </p:spTree>
    <p:extLst>
      <p:ext uri="{BB962C8B-B14F-4D97-AF65-F5344CB8AC3E}">
        <p14:creationId xmlns:p14="http://schemas.microsoft.com/office/powerpoint/2010/main" val="1722439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4CB396-88C1-4144-F2C2-A21B99910462}"/>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3BF89F7E-0F16-9093-52D1-B0D2315798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A251AE09-B0EC-B3BD-8B3E-F0C12B701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116DE09F-D35D-1432-04D3-4CD42DD77ADF}"/>
              </a:ext>
            </a:extLst>
          </p:cNvPr>
          <p:cNvSpPr txBox="1"/>
          <p:nvPr/>
        </p:nvSpPr>
        <p:spPr>
          <a:xfrm>
            <a:off x="1024128" y="459317"/>
            <a:ext cx="4389120" cy="1749552"/>
          </a:xfrm>
          <a:prstGeom prst="rect">
            <a:avLst/>
          </a:prstGeom>
        </p:spPr>
        <p:txBody>
          <a:bodyPr vert="horz" lIns="91440" tIns="45720" rIns="91440" bIns="45720" rtlCol="0" anchor="ctr">
            <a:normAutofit lnSpcReduction="10000"/>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02.1.4 – </a:t>
            </a:r>
          </a:p>
          <a:p>
            <a:pP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Utente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ROOT &amp;</a:t>
            </a:r>
            <a:b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b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Connection.php</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00C4D8DF-7FF2-BD47-F9B1-C9B2B4D4F8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0948E6A9-97DD-4F6F-CD57-444DF8176E36}"/>
              </a:ext>
            </a:extLst>
          </p:cNvPr>
          <p:cNvSpPr txBox="1"/>
          <p:nvPr/>
        </p:nvSpPr>
        <p:spPr>
          <a:xfrm>
            <a:off x="853439" y="3193985"/>
            <a:ext cx="4389120" cy="1184976"/>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Per garantire la corretta interazione Web Application / Database. Bisogna configurare correttamente l’utente ROOT di MySQL e il file </a:t>
            </a:r>
            <a:r>
              <a:rPr lang="it-IT" dirty="0" err="1"/>
              <a:t>Connection.php</a:t>
            </a:r>
            <a:endParaRPr lang="it-IT" dirty="0"/>
          </a:p>
        </p:txBody>
      </p:sp>
      <p:sp>
        <p:nvSpPr>
          <p:cNvPr id="6" name="Segnaposto contenuto 3">
            <a:extLst>
              <a:ext uri="{FF2B5EF4-FFF2-40B4-BE49-F238E27FC236}">
                <a16:creationId xmlns:a16="http://schemas.microsoft.com/office/drawing/2014/main" id="{28A925FD-341B-595D-9579-4F2E8659D8A3}"/>
              </a:ext>
            </a:extLst>
          </p:cNvPr>
          <p:cNvSpPr txBox="1">
            <a:spLocks/>
          </p:cNvSpPr>
          <p:nvPr/>
        </p:nvSpPr>
        <p:spPr>
          <a:xfrm>
            <a:off x="5413248" y="316279"/>
            <a:ext cx="7311859" cy="949732"/>
          </a:xfrm>
          <a:prstGeom prst="rect">
            <a:avLst/>
          </a:prstGeom>
        </p:spPr>
        <p:txBody>
          <a:bodyPr vert="horz" lIns="91440" tIns="45720" rIns="91440" bIns="45720" rtlCol="0">
            <a:noAutofit/>
          </a:bodyPr>
          <a:lstStyle>
            <a:defPPr>
              <a:defRPr lang="it-IT"/>
            </a:defPPr>
            <a:lvl1pPr marL="0" indent="0" algn="l" defTabSz="914400" rtl="0" eaLnBrk="1" latinLnBrk="0" hangingPunct="1">
              <a:lnSpc>
                <a:spcPct val="120000"/>
              </a:lnSpc>
              <a:spcBef>
                <a:spcPts val="1000"/>
              </a:spcBef>
              <a:spcAft>
                <a:spcPts val="600"/>
              </a:spcAft>
              <a:buClr>
                <a:schemeClr val="accent6"/>
              </a:buClr>
              <a:buFont typeface="Arial" panose="020B0604020202020204" pitchFamily="34" charset="0"/>
              <a:buNone/>
              <a:defRPr lang="it-IT" sz="1800" kern="1200" spc="0" baseline="0">
                <a:solidFill>
                  <a:schemeClr val="bg1"/>
                </a:solidFill>
                <a:latin typeface="+mn-lt"/>
                <a:ea typeface="+mn-ea"/>
                <a:cs typeface="Biome" panose="020B0503030204020804" pitchFamily="34" charset="0"/>
              </a:defRPr>
            </a:lvl1pPr>
            <a:lvl2pPr marL="569214"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2pPr>
            <a:lvl3pPr marL="861822"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3pPr>
            <a:lvl4pPr marL="1152144"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lang="it-IT"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algn="ctr">
              <a:lnSpc>
                <a:spcPct val="100000"/>
              </a:lnSpc>
            </a:pPr>
            <a:r>
              <a:rPr lang="it-IT" b="1" dirty="0"/>
              <a:t>Utente ROOT</a:t>
            </a:r>
            <a:r>
              <a:rPr lang="it-IT" dirty="0"/>
              <a:t>:</a:t>
            </a:r>
          </a:p>
          <a:p>
            <a:pPr marL="285750" indent="-285750" algn="ctr">
              <a:lnSpc>
                <a:spcPct val="100000"/>
              </a:lnSpc>
              <a:buFont typeface="Arial" panose="020B0604020202020204" pitchFamily="34" charset="0"/>
              <a:buChar char="•"/>
            </a:pPr>
            <a:r>
              <a:rPr lang="it-IT" dirty="0"/>
              <a:t>Impostare il plugin di connessione tramite </a:t>
            </a:r>
            <a:r>
              <a:rPr lang="it-IT" b="1" dirty="0"/>
              <a:t>password: </a:t>
            </a:r>
            <a:endParaRPr lang="it-IT" dirty="0"/>
          </a:p>
          <a:p>
            <a:pPr algn="ctr">
              <a:lnSpc>
                <a:spcPct val="100000"/>
              </a:lnSpc>
            </a:pPr>
            <a:endParaRPr lang="it-IT" dirty="0"/>
          </a:p>
        </p:txBody>
      </p:sp>
      <p:pic>
        <p:nvPicPr>
          <p:cNvPr id="4" name="Immagine 3">
            <a:extLst>
              <a:ext uri="{FF2B5EF4-FFF2-40B4-BE49-F238E27FC236}">
                <a16:creationId xmlns:a16="http://schemas.microsoft.com/office/drawing/2014/main" id="{AF53A45D-9C51-96B4-EF22-46641EAAC7AC}"/>
              </a:ext>
            </a:extLst>
          </p:cNvPr>
          <p:cNvPicPr>
            <a:picLocks noChangeAspect="1"/>
          </p:cNvPicPr>
          <p:nvPr/>
        </p:nvPicPr>
        <p:blipFill>
          <a:blip r:embed="rId3"/>
          <a:stretch>
            <a:fillRect/>
          </a:stretch>
        </p:blipFill>
        <p:spPr>
          <a:xfrm>
            <a:off x="6322195" y="1140920"/>
            <a:ext cx="5581650" cy="285750"/>
          </a:xfrm>
          <a:prstGeom prst="rect">
            <a:avLst/>
          </a:prstGeom>
        </p:spPr>
      </p:pic>
      <p:sp>
        <p:nvSpPr>
          <p:cNvPr id="13" name="Segnaposto contenuto 3">
            <a:extLst>
              <a:ext uri="{FF2B5EF4-FFF2-40B4-BE49-F238E27FC236}">
                <a16:creationId xmlns:a16="http://schemas.microsoft.com/office/drawing/2014/main" id="{E730FD83-40E8-BCC2-2A53-F2077CA69F66}"/>
              </a:ext>
            </a:extLst>
          </p:cNvPr>
          <p:cNvSpPr txBox="1">
            <a:spLocks/>
          </p:cNvSpPr>
          <p:nvPr/>
        </p:nvSpPr>
        <p:spPr>
          <a:xfrm>
            <a:off x="5413246" y="1407741"/>
            <a:ext cx="7311859" cy="474866"/>
          </a:xfrm>
          <a:prstGeom prst="rect">
            <a:avLst/>
          </a:prstGeom>
        </p:spPr>
        <p:txBody>
          <a:bodyPr vert="horz" lIns="91440" tIns="45720" rIns="91440" bIns="45720" rtlCol="0">
            <a:noAutofit/>
          </a:bodyPr>
          <a:lstStyle>
            <a:defPPr>
              <a:defRPr lang="it-IT"/>
            </a:defPPr>
            <a:lvl1pPr marL="0" indent="0" algn="l" defTabSz="914400" rtl="0" eaLnBrk="1" latinLnBrk="0" hangingPunct="1">
              <a:lnSpc>
                <a:spcPct val="120000"/>
              </a:lnSpc>
              <a:spcBef>
                <a:spcPts val="1000"/>
              </a:spcBef>
              <a:spcAft>
                <a:spcPts val="600"/>
              </a:spcAft>
              <a:buClr>
                <a:schemeClr val="accent6"/>
              </a:buClr>
              <a:buFont typeface="Arial" panose="020B0604020202020204" pitchFamily="34" charset="0"/>
              <a:buNone/>
              <a:defRPr lang="it-IT" sz="1800" kern="1200" spc="0" baseline="0">
                <a:solidFill>
                  <a:schemeClr val="bg1"/>
                </a:solidFill>
                <a:latin typeface="+mn-lt"/>
                <a:ea typeface="+mn-ea"/>
                <a:cs typeface="Biome" panose="020B0503030204020804" pitchFamily="34" charset="0"/>
              </a:defRPr>
            </a:lvl1pPr>
            <a:lvl2pPr marL="569214"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2pPr>
            <a:lvl3pPr marL="861822"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3pPr>
            <a:lvl4pPr marL="1152144"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lang="it-IT"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285750" indent="-285750" algn="ctr">
              <a:lnSpc>
                <a:spcPct val="100000"/>
              </a:lnSpc>
              <a:buFont typeface="Arial" panose="020B0604020202020204" pitchFamily="34" charset="0"/>
              <a:buChar char="•"/>
            </a:pPr>
            <a:r>
              <a:rPr lang="it-IT" dirty="0"/>
              <a:t>Impostare una password e assegnare tutti i permessi: </a:t>
            </a:r>
            <a:r>
              <a:rPr lang="it-IT" b="1" dirty="0"/>
              <a:t> </a:t>
            </a:r>
            <a:endParaRPr lang="it-IT" dirty="0"/>
          </a:p>
          <a:p>
            <a:pPr algn="ctr">
              <a:lnSpc>
                <a:spcPct val="100000"/>
              </a:lnSpc>
            </a:pPr>
            <a:endParaRPr lang="it-IT" dirty="0"/>
          </a:p>
        </p:txBody>
      </p:sp>
      <p:pic>
        <p:nvPicPr>
          <p:cNvPr id="15" name="Immagine 14">
            <a:extLst>
              <a:ext uri="{FF2B5EF4-FFF2-40B4-BE49-F238E27FC236}">
                <a16:creationId xmlns:a16="http://schemas.microsoft.com/office/drawing/2014/main" id="{86A7980B-9A2D-5953-6A75-6A6891EEDC2E}"/>
              </a:ext>
            </a:extLst>
          </p:cNvPr>
          <p:cNvPicPr>
            <a:picLocks noChangeAspect="1"/>
          </p:cNvPicPr>
          <p:nvPr/>
        </p:nvPicPr>
        <p:blipFill>
          <a:blip r:embed="rId4"/>
          <a:stretch>
            <a:fillRect/>
          </a:stretch>
        </p:blipFill>
        <p:spPr>
          <a:xfrm>
            <a:off x="6607945" y="1775560"/>
            <a:ext cx="5010150" cy="361950"/>
          </a:xfrm>
          <a:prstGeom prst="rect">
            <a:avLst/>
          </a:prstGeom>
        </p:spPr>
      </p:pic>
      <p:pic>
        <p:nvPicPr>
          <p:cNvPr id="17" name="Immagine 16">
            <a:extLst>
              <a:ext uri="{FF2B5EF4-FFF2-40B4-BE49-F238E27FC236}">
                <a16:creationId xmlns:a16="http://schemas.microsoft.com/office/drawing/2014/main" id="{5515F986-A687-CC5F-7A69-2503FA2CB3D0}"/>
              </a:ext>
            </a:extLst>
          </p:cNvPr>
          <p:cNvPicPr>
            <a:picLocks noChangeAspect="1"/>
          </p:cNvPicPr>
          <p:nvPr/>
        </p:nvPicPr>
        <p:blipFill>
          <a:blip r:embed="rId5"/>
          <a:stretch>
            <a:fillRect/>
          </a:stretch>
        </p:blipFill>
        <p:spPr>
          <a:xfrm>
            <a:off x="6292637" y="2148292"/>
            <a:ext cx="5553075" cy="295275"/>
          </a:xfrm>
          <a:prstGeom prst="rect">
            <a:avLst/>
          </a:prstGeom>
        </p:spPr>
      </p:pic>
      <p:sp>
        <p:nvSpPr>
          <p:cNvPr id="18" name="Segnaposto contenuto 3">
            <a:extLst>
              <a:ext uri="{FF2B5EF4-FFF2-40B4-BE49-F238E27FC236}">
                <a16:creationId xmlns:a16="http://schemas.microsoft.com/office/drawing/2014/main" id="{0BC6DCA7-78EA-8874-8F66-AF0714A79BC5}"/>
              </a:ext>
            </a:extLst>
          </p:cNvPr>
          <p:cNvSpPr txBox="1">
            <a:spLocks/>
          </p:cNvSpPr>
          <p:nvPr/>
        </p:nvSpPr>
        <p:spPr>
          <a:xfrm>
            <a:off x="5413249" y="4374485"/>
            <a:ext cx="7311859" cy="949732"/>
          </a:xfrm>
          <a:prstGeom prst="rect">
            <a:avLst/>
          </a:prstGeom>
        </p:spPr>
        <p:txBody>
          <a:bodyPr vert="horz" lIns="91440" tIns="45720" rIns="91440" bIns="45720" rtlCol="0">
            <a:noAutofit/>
          </a:bodyPr>
          <a:lstStyle>
            <a:defPPr>
              <a:defRPr lang="it-IT"/>
            </a:defPPr>
            <a:lvl1pPr marL="0" indent="0" algn="l" defTabSz="914400" rtl="0" eaLnBrk="1" latinLnBrk="0" hangingPunct="1">
              <a:lnSpc>
                <a:spcPct val="120000"/>
              </a:lnSpc>
              <a:spcBef>
                <a:spcPts val="1000"/>
              </a:spcBef>
              <a:spcAft>
                <a:spcPts val="600"/>
              </a:spcAft>
              <a:buClr>
                <a:schemeClr val="accent6"/>
              </a:buClr>
              <a:buFont typeface="Arial" panose="020B0604020202020204" pitchFamily="34" charset="0"/>
              <a:buNone/>
              <a:defRPr lang="it-IT" sz="1800" kern="1200" spc="0" baseline="0">
                <a:solidFill>
                  <a:schemeClr val="bg1"/>
                </a:solidFill>
                <a:latin typeface="+mn-lt"/>
                <a:ea typeface="+mn-ea"/>
                <a:cs typeface="Biome" panose="020B0503030204020804" pitchFamily="34" charset="0"/>
              </a:defRPr>
            </a:lvl1pPr>
            <a:lvl2pPr marL="569214"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2pPr>
            <a:lvl3pPr marL="861822"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3pPr>
            <a:lvl4pPr marL="1152144" indent="-285750" algn="l" defTabSz="914400" rtl="0" eaLnBrk="1" latinLnBrk="0" hangingPunct="1">
              <a:lnSpc>
                <a:spcPct val="120000"/>
              </a:lnSpc>
              <a:spcBef>
                <a:spcPts val="1000"/>
              </a:spcBef>
              <a:spcAft>
                <a:spcPts val="600"/>
              </a:spcAft>
              <a:buClr>
                <a:schemeClr val="accent3"/>
              </a:buClr>
              <a:buFont typeface="Arial" panose="020B0604020202020204" pitchFamily="34" charset="0"/>
              <a:buChar char="•"/>
              <a:defRPr lang="it-IT" sz="1800" kern="1200" spc="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lang="it-IT"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algn="ctr">
              <a:lnSpc>
                <a:spcPct val="100000"/>
              </a:lnSpc>
            </a:pPr>
            <a:r>
              <a:rPr lang="it-IT" b="1" dirty="0"/>
              <a:t>Connection.php</a:t>
            </a:r>
            <a:r>
              <a:rPr lang="it-IT" dirty="0"/>
              <a:t>:</a:t>
            </a:r>
            <a:br>
              <a:rPr lang="it-IT" dirty="0"/>
            </a:br>
            <a:r>
              <a:rPr lang="it-IT" b="1" dirty="0"/>
              <a:t> </a:t>
            </a:r>
            <a:endParaRPr lang="it-IT" dirty="0"/>
          </a:p>
          <a:p>
            <a:pPr algn="ctr">
              <a:lnSpc>
                <a:spcPct val="100000"/>
              </a:lnSpc>
            </a:pPr>
            <a:endParaRPr lang="it-IT" dirty="0"/>
          </a:p>
        </p:txBody>
      </p:sp>
      <p:pic>
        <p:nvPicPr>
          <p:cNvPr id="2" name="Immagine 1">
            <a:extLst>
              <a:ext uri="{FF2B5EF4-FFF2-40B4-BE49-F238E27FC236}">
                <a16:creationId xmlns:a16="http://schemas.microsoft.com/office/drawing/2014/main" id="{627E5808-C575-FA11-607C-62BC8985189E}"/>
              </a:ext>
            </a:extLst>
          </p:cNvPr>
          <p:cNvPicPr>
            <a:picLocks noChangeAspect="1"/>
          </p:cNvPicPr>
          <p:nvPr/>
        </p:nvPicPr>
        <p:blipFill>
          <a:blip r:embed="rId6"/>
          <a:srcRect b="3895"/>
          <a:stretch/>
        </p:blipFill>
        <p:spPr>
          <a:xfrm>
            <a:off x="7307600" y="2644445"/>
            <a:ext cx="3854676" cy="1596920"/>
          </a:xfrm>
          <a:prstGeom prst="rect">
            <a:avLst/>
          </a:prstGeom>
        </p:spPr>
      </p:pic>
      <p:sp>
        <p:nvSpPr>
          <p:cNvPr id="5" name="Rettangolo 4">
            <a:extLst>
              <a:ext uri="{FF2B5EF4-FFF2-40B4-BE49-F238E27FC236}">
                <a16:creationId xmlns:a16="http://schemas.microsoft.com/office/drawing/2014/main" id="{B8EC50F8-B7EC-2A19-3C05-C3A223D74C32}"/>
              </a:ext>
            </a:extLst>
          </p:cNvPr>
          <p:cNvSpPr/>
          <p:nvPr/>
        </p:nvSpPr>
        <p:spPr>
          <a:xfrm>
            <a:off x="7351441" y="3989957"/>
            <a:ext cx="3766993" cy="149154"/>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9" name="Immagine 8" descr="Immagine che contiene testo, schermata, Carattere, software&#10;&#10;Il contenuto generato dall'IA potrebbe non essere corretto.">
            <a:extLst>
              <a:ext uri="{FF2B5EF4-FFF2-40B4-BE49-F238E27FC236}">
                <a16:creationId xmlns:a16="http://schemas.microsoft.com/office/drawing/2014/main" id="{4E020E57-F258-48BF-C479-519F666ABB20}"/>
              </a:ext>
            </a:extLst>
          </p:cNvPr>
          <p:cNvPicPr>
            <a:picLocks noChangeAspect="1"/>
          </p:cNvPicPr>
          <p:nvPr/>
        </p:nvPicPr>
        <p:blipFill>
          <a:blip r:embed="rId7"/>
          <a:stretch>
            <a:fillRect/>
          </a:stretch>
        </p:blipFill>
        <p:spPr>
          <a:xfrm>
            <a:off x="6322195" y="4849351"/>
            <a:ext cx="5664383" cy="1322932"/>
          </a:xfrm>
          <a:prstGeom prst="rect">
            <a:avLst/>
          </a:prstGeom>
        </p:spPr>
      </p:pic>
    </p:spTree>
    <p:extLst>
      <p:ext uri="{BB962C8B-B14F-4D97-AF65-F5344CB8AC3E}">
        <p14:creationId xmlns:p14="http://schemas.microsoft.com/office/powerpoint/2010/main" val="395295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29E62E-6B76-7C2F-FC1A-EE7425A9036B}"/>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964479CF-4483-61B6-4120-2296863711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5D4D9322-F123-DF76-DF3B-4E1E11F4D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0D36539B-4C22-0DAC-2C4F-93B8051BF0F3}"/>
              </a:ext>
            </a:extLst>
          </p:cNvPr>
          <p:cNvSpPr txBox="1"/>
          <p:nvPr/>
        </p:nvSpPr>
        <p:spPr>
          <a:xfrm>
            <a:off x="1024127" y="459317"/>
            <a:ext cx="4868671" cy="1749552"/>
          </a:xfrm>
          <a:prstGeom prst="rect">
            <a:avLst/>
          </a:prstGeom>
        </p:spPr>
        <p:txBody>
          <a:bodyPr vert="horz" lIns="91440" tIns="45720" rIns="91440" bIns="45720" rtlCol="0" anchor="ctr">
            <a:normAutofit fontScale="92500" lnSpcReduction="20000"/>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02.1.5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implementazione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software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dell’attacco</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661C1FA1-EC68-4841-32A3-DA70FDC5AE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9E4464A9-4DE8-8EDB-8E4C-CA8D3B44F0E5}"/>
              </a:ext>
            </a:extLst>
          </p:cNvPr>
          <p:cNvSpPr txBox="1"/>
          <p:nvPr/>
        </p:nvSpPr>
        <p:spPr>
          <a:xfrm>
            <a:off x="853438" y="2418080"/>
            <a:ext cx="4592321" cy="3602788"/>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r>
              <a:rPr lang="it-IT" dirty="0"/>
              <a:t>Il tool tramite il quale si implementa l’attacco è uno script </a:t>
            </a:r>
            <a:r>
              <a:rPr lang="it-IT" dirty="0" err="1"/>
              <a:t>python</a:t>
            </a:r>
            <a:r>
              <a:rPr lang="it-IT" dirty="0"/>
              <a:t> che viene eseguito tramite terminale Kali.</a:t>
            </a:r>
          </a:p>
          <a:p>
            <a:pPr marL="342900" indent="-342900" defTabSz="914400">
              <a:lnSpc>
                <a:spcPct val="90000"/>
              </a:lnSpc>
              <a:spcAft>
                <a:spcPts val="600"/>
              </a:spcAft>
              <a:buClr>
                <a:schemeClr val="accent1"/>
              </a:buClr>
              <a:buFont typeface="Arial" panose="020B0604020202020204" pitchFamily="34" charset="0"/>
              <a:buChar char="•"/>
            </a:pP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Nome: </a:t>
            </a:r>
            <a:r>
              <a:rPr lang="it-IT" dirty="0" err="1"/>
              <a:t>Slowloris</a:t>
            </a:r>
            <a:endParaRPr lang="it-IT" dirty="0"/>
          </a:p>
          <a:p>
            <a:pPr marL="342900" indent="-342900" defTabSz="914400">
              <a:lnSpc>
                <a:spcPct val="90000"/>
              </a:lnSpc>
              <a:spcAft>
                <a:spcPts val="600"/>
              </a:spcAft>
              <a:buClr>
                <a:schemeClr val="accent1"/>
              </a:buClr>
              <a:buFont typeface="Arial" panose="020B0604020202020204" pitchFamily="34" charset="0"/>
              <a:buChar char="•"/>
            </a:pPr>
            <a:r>
              <a:rPr lang="it-IT" dirty="0"/>
              <a:t>Autore dello script: «</a:t>
            </a:r>
            <a:r>
              <a:rPr lang="it-IT" dirty="0" err="1"/>
              <a:t>Gokberk</a:t>
            </a:r>
            <a:r>
              <a:rPr lang="it-IT" dirty="0"/>
              <a:t> </a:t>
            </a:r>
            <a:r>
              <a:rPr lang="it-IT" dirty="0" err="1"/>
              <a:t>Yaltirakli</a:t>
            </a:r>
            <a:r>
              <a:rPr lang="it-IT" dirty="0"/>
              <a:t>»</a:t>
            </a:r>
          </a:p>
          <a:p>
            <a:pPr marL="342900" indent="-342900" defTabSz="914400">
              <a:lnSpc>
                <a:spcPct val="90000"/>
              </a:lnSpc>
              <a:spcAft>
                <a:spcPts val="600"/>
              </a:spcAft>
              <a:buClr>
                <a:schemeClr val="accent1"/>
              </a:buClr>
              <a:buFont typeface="Arial" panose="020B0604020202020204" pitchFamily="34" charset="0"/>
              <a:buChar char="•"/>
            </a:pPr>
            <a:r>
              <a:rPr lang="it-IT" dirty="0"/>
              <a:t>Url: «https://github.com/</a:t>
            </a:r>
            <a:r>
              <a:rPr lang="it-IT" dirty="0" err="1"/>
              <a:t>gkbrk</a:t>
            </a:r>
            <a:r>
              <a:rPr lang="it-IT" dirty="0"/>
              <a:t>/</a:t>
            </a:r>
            <a:r>
              <a:rPr lang="it-IT" dirty="0" err="1"/>
              <a:t>slowloris.git</a:t>
            </a:r>
            <a:r>
              <a:rPr lang="it-IT" dirty="0"/>
              <a:t>»</a:t>
            </a:r>
          </a:p>
        </p:txBody>
      </p:sp>
      <p:pic>
        <p:nvPicPr>
          <p:cNvPr id="22" name="Immagine 21" descr="Immagine che contiene testo, Carattere, Elementi grafici, schermata&#10;&#10;Descrizione generata automaticamente">
            <a:extLst>
              <a:ext uri="{FF2B5EF4-FFF2-40B4-BE49-F238E27FC236}">
                <a16:creationId xmlns:a16="http://schemas.microsoft.com/office/drawing/2014/main" id="{4B920F82-442B-1CE9-5AE5-49B34747A1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sp>
        <p:nvSpPr>
          <p:cNvPr id="4" name="CasellaDiTesto 3">
            <a:extLst>
              <a:ext uri="{FF2B5EF4-FFF2-40B4-BE49-F238E27FC236}">
                <a16:creationId xmlns:a16="http://schemas.microsoft.com/office/drawing/2014/main" id="{82004822-102E-94F9-55D0-4CC5A9F878B2}"/>
              </a:ext>
            </a:extLst>
          </p:cNvPr>
          <p:cNvSpPr txBox="1"/>
          <p:nvPr/>
        </p:nvSpPr>
        <p:spPr>
          <a:xfrm>
            <a:off x="4735310" y="2012349"/>
            <a:ext cx="8837699" cy="369332"/>
          </a:xfrm>
          <a:prstGeom prst="rect">
            <a:avLst/>
          </a:prstGeom>
          <a:noFill/>
        </p:spPr>
        <p:txBody>
          <a:bodyPr wrap="square" rtlCol="0">
            <a:spAutoFit/>
          </a:bodyPr>
          <a:lstStyle/>
          <a:p>
            <a:pPr algn="ctr"/>
            <a:r>
              <a:rPr lang="it-IT" dirty="0">
                <a:solidFill>
                  <a:schemeClr val="bg1"/>
                </a:solidFill>
                <a:latin typeface="+mj-lt"/>
              </a:rPr>
              <a:t>Si riesce facilmente ad ottenere sulla MV Kali tramite il comando:</a:t>
            </a:r>
          </a:p>
        </p:txBody>
      </p:sp>
      <p:pic>
        <p:nvPicPr>
          <p:cNvPr id="5" name="Immagine 4">
            <a:extLst>
              <a:ext uri="{FF2B5EF4-FFF2-40B4-BE49-F238E27FC236}">
                <a16:creationId xmlns:a16="http://schemas.microsoft.com/office/drawing/2014/main" id="{91610D99-6647-80B0-9AFC-3066AE0E1C6F}"/>
              </a:ext>
            </a:extLst>
          </p:cNvPr>
          <p:cNvPicPr>
            <a:picLocks noChangeAspect="1"/>
          </p:cNvPicPr>
          <p:nvPr/>
        </p:nvPicPr>
        <p:blipFill>
          <a:blip r:embed="rId4"/>
          <a:stretch>
            <a:fillRect/>
          </a:stretch>
        </p:blipFill>
        <p:spPr>
          <a:xfrm>
            <a:off x="6177040" y="2375604"/>
            <a:ext cx="5954240" cy="785906"/>
          </a:xfrm>
          <a:prstGeom prst="rect">
            <a:avLst/>
          </a:prstGeom>
        </p:spPr>
      </p:pic>
      <p:sp>
        <p:nvSpPr>
          <p:cNvPr id="6" name="CasellaDiTesto 5">
            <a:extLst>
              <a:ext uri="{FF2B5EF4-FFF2-40B4-BE49-F238E27FC236}">
                <a16:creationId xmlns:a16="http://schemas.microsoft.com/office/drawing/2014/main" id="{C2076AC7-A6F5-5D9C-7E5D-C9FB10E58011}"/>
              </a:ext>
            </a:extLst>
          </p:cNvPr>
          <p:cNvSpPr txBox="1"/>
          <p:nvPr/>
        </p:nvSpPr>
        <p:spPr>
          <a:xfrm>
            <a:off x="4735309" y="3499329"/>
            <a:ext cx="8837699" cy="369332"/>
          </a:xfrm>
          <a:prstGeom prst="rect">
            <a:avLst/>
          </a:prstGeom>
          <a:noFill/>
        </p:spPr>
        <p:txBody>
          <a:bodyPr wrap="square" rtlCol="0">
            <a:spAutoFit/>
          </a:bodyPr>
          <a:lstStyle/>
          <a:p>
            <a:pPr algn="ctr"/>
            <a:r>
              <a:rPr lang="it-IT" dirty="0">
                <a:solidFill>
                  <a:schemeClr val="bg1"/>
                </a:solidFill>
                <a:latin typeface="+mj-lt"/>
              </a:rPr>
              <a:t>In seguito otterremo:</a:t>
            </a:r>
          </a:p>
        </p:txBody>
      </p:sp>
      <p:pic>
        <p:nvPicPr>
          <p:cNvPr id="7" name="Immagine 6">
            <a:extLst>
              <a:ext uri="{FF2B5EF4-FFF2-40B4-BE49-F238E27FC236}">
                <a16:creationId xmlns:a16="http://schemas.microsoft.com/office/drawing/2014/main" id="{1A7EFD90-823B-B295-8095-83D0B533FEF7}"/>
              </a:ext>
            </a:extLst>
          </p:cNvPr>
          <p:cNvPicPr>
            <a:picLocks noChangeAspect="1"/>
          </p:cNvPicPr>
          <p:nvPr/>
        </p:nvPicPr>
        <p:blipFill>
          <a:blip r:embed="rId5"/>
          <a:stretch>
            <a:fillRect/>
          </a:stretch>
        </p:blipFill>
        <p:spPr>
          <a:xfrm>
            <a:off x="6968172" y="3868661"/>
            <a:ext cx="4371975" cy="1819275"/>
          </a:xfrm>
          <a:prstGeom prst="rect">
            <a:avLst/>
          </a:prstGeom>
        </p:spPr>
      </p:pic>
    </p:spTree>
    <p:extLst>
      <p:ext uri="{BB962C8B-B14F-4D97-AF65-F5344CB8AC3E}">
        <p14:creationId xmlns:p14="http://schemas.microsoft.com/office/powerpoint/2010/main" val="3571601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9753FF-E8E6-1EDF-2251-D049DB17B988}"/>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32B0EF4A-15D1-65E4-C783-F37565DE8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A2713160-7769-07D4-A904-4BFE6CD71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AF2FB5F2-D867-75C2-EDAA-509DBE365B3A}"/>
              </a:ext>
            </a:extLst>
          </p:cNvPr>
          <p:cNvSpPr txBox="1"/>
          <p:nvPr/>
        </p:nvSpPr>
        <p:spPr>
          <a:xfrm>
            <a:off x="1024127" y="459317"/>
            <a:ext cx="4868671"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02.1.5 – parsing degli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argomenti</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CFEBDA8C-12D9-EAC1-8282-9964FA6CDC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49FC9BEE-AEF1-5D64-0ED4-4889AA59E750}"/>
              </a:ext>
            </a:extLst>
          </p:cNvPr>
          <p:cNvSpPr txBox="1"/>
          <p:nvPr/>
        </p:nvSpPr>
        <p:spPr>
          <a:xfrm>
            <a:off x="6826859" y="674304"/>
            <a:ext cx="4389120" cy="1841769"/>
          </a:xfrm>
          <a:prstGeom prst="rect">
            <a:avLst/>
          </a:prstGeom>
        </p:spPr>
        <p:txBody>
          <a:bodyPr vert="horz" lIns="45720" tIns="45720" rIns="45720" bIns="45720" rtlCol="0">
            <a:normAutofit/>
          </a:bodyPr>
          <a:lstStyle/>
          <a:p>
            <a:pPr marL="342900" indent="-342900" algn="ctr" defTabSz="914400">
              <a:lnSpc>
                <a:spcPct val="90000"/>
              </a:lnSpc>
              <a:spcAft>
                <a:spcPts val="600"/>
              </a:spcAft>
              <a:buClr>
                <a:schemeClr val="accent1"/>
              </a:buClr>
              <a:buFont typeface="Arial" panose="020B0604020202020204" pitchFamily="34" charset="0"/>
              <a:buChar char="•"/>
            </a:pPr>
            <a:r>
              <a:rPr lang="it-IT" dirty="0">
                <a:solidFill>
                  <a:schemeClr val="bg1"/>
                </a:solidFill>
              </a:rPr>
              <a:t>Utilizza il modulo «</a:t>
            </a:r>
            <a:r>
              <a:rPr lang="it-IT" dirty="0" err="1">
                <a:solidFill>
                  <a:schemeClr val="bg1"/>
                </a:solidFill>
              </a:rPr>
              <a:t>argparse</a:t>
            </a:r>
            <a:r>
              <a:rPr lang="it-IT" dirty="0">
                <a:solidFill>
                  <a:schemeClr val="bg1"/>
                </a:solidFill>
              </a:rPr>
              <a:t>» per definire parametri che l’utente può passare a linea di comando per personalizzare il comportamento dello </a:t>
            </a:r>
            <a:r>
              <a:rPr lang="it-IT" dirty="0" err="1">
                <a:solidFill>
                  <a:schemeClr val="bg1"/>
                </a:solidFill>
              </a:rPr>
              <a:t>scrip</a:t>
            </a:r>
            <a:r>
              <a:rPr lang="it-IT" dirty="0">
                <a:solidFill>
                  <a:schemeClr val="bg1"/>
                </a:solidFill>
              </a:rPr>
              <a:t>.</a:t>
            </a:r>
          </a:p>
        </p:txBody>
      </p:sp>
      <p:pic>
        <p:nvPicPr>
          <p:cNvPr id="22" name="Immagine 21" descr="Immagine che contiene testo, Carattere, Elementi grafici, schermata&#10;&#10;Descrizione generata automaticamente">
            <a:extLst>
              <a:ext uri="{FF2B5EF4-FFF2-40B4-BE49-F238E27FC236}">
                <a16:creationId xmlns:a16="http://schemas.microsoft.com/office/drawing/2014/main" id="{71CE9D0F-04EA-E07D-17D8-198C017E3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020868"/>
            <a:ext cx="1461718" cy="475604"/>
          </a:xfrm>
          <a:prstGeom prst="rect">
            <a:avLst/>
          </a:prstGeom>
        </p:spPr>
      </p:pic>
      <p:sp>
        <p:nvSpPr>
          <p:cNvPr id="2" name="CasellaDiTesto 1">
            <a:extLst>
              <a:ext uri="{FF2B5EF4-FFF2-40B4-BE49-F238E27FC236}">
                <a16:creationId xmlns:a16="http://schemas.microsoft.com/office/drawing/2014/main" id="{B925413A-F9CA-22EC-874B-5ADF4F6AA763}"/>
              </a:ext>
            </a:extLst>
          </p:cNvPr>
          <p:cNvSpPr txBox="1"/>
          <p:nvPr/>
        </p:nvSpPr>
        <p:spPr>
          <a:xfrm>
            <a:off x="0" y="2146636"/>
            <a:ext cx="6095995" cy="369332"/>
          </a:xfrm>
          <a:prstGeom prst="rect">
            <a:avLst/>
          </a:prstGeom>
          <a:noFill/>
        </p:spPr>
        <p:txBody>
          <a:bodyPr wrap="square">
            <a:spAutoFit/>
          </a:bodyPr>
          <a:lstStyle/>
          <a:p>
            <a:pPr marL="742950" lvl="1" indent="-285750" algn="ctr">
              <a:buFont typeface="Arial" panose="020B0604020202020204" pitchFamily="34" charset="0"/>
              <a:buChar char="•"/>
            </a:pPr>
            <a:r>
              <a:rPr lang="it-IT" b="1" dirty="0">
                <a:latin typeface="+mj-lt"/>
              </a:rPr>
              <a:t>host: </a:t>
            </a:r>
            <a:r>
              <a:rPr lang="it-IT" dirty="0">
                <a:latin typeface="+mj-lt"/>
              </a:rPr>
              <a:t>Specifica l’indirizzo Ip del server da attaccare.</a:t>
            </a:r>
            <a:endParaRPr lang="it-IT" b="1" dirty="0">
              <a:latin typeface="+mj-lt"/>
            </a:endParaRPr>
          </a:p>
        </p:txBody>
      </p:sp>
      <p:sp>
        <p:nvSpPr>
          <p:cNvPr id="7" name="CasellaDiTesto 6">
            <a:extLst>
              <a:ext uri="{FF2B5EF4-FFF2-40B4-BE49-F238E27FC236}">
                <a16:creationId xmlns:a16="http://schemas.microsoft.com/office/drawing/2014/main" id="{E063A5FF-DDF0-2A46-7961-0D4D900F913E}"/>
              </a:ext>
            </a:extLst>
          </p:cNvPr>
          <p:cNvSpPr txBox="1"/>
          <p:nvPr/>
        </p:nvSpPr>
        <p:spPr>
          <a:xfrm>
            <a:off x="-1" y="3519223"/>
            <a:ext cx="6095995" cy="369332"/>
          </a:xfrm>
          <a:prstGeom prst="rect">
            <a:avLst/>
          </a:prstGeom>
          <a:noFill/>
        </p:spPr>
        <p:txBody>
          <a:bodyPr wrap="square">
            <a:spAutoFit/>
          </a:bodyPr>
          <a:lstStyle/>
          <a:p>
            <a:pPr marL="742950" lvl="1" indent="-285750" algn="ctr">
              <a:buFont typeface="Arial" panose="020B0604020202020204" pitchFamily="34" charset="0"/>
              <a:buChar char="•"/>
            </a:pPr>
            <a:r>
              <a:rPr lang="it-IT" b="1" dirty="0">
                <a:latin typeface="+mj-lt"/>
              </a:rPr>
              <a:t>port: </a:t>
            </a:r>
            <a:r>
              <a:rPr lang="it-IT" dirty="0">
                <a:latin typeface="+mj-lt"/>
              </a:rPr>
              <a:t>Specifica l’indirizzo IP del server da attaccare.</a:t>
            </a:r>
            <a:endParaRPr lang="it-IT" b="1" dirty="0">
              <a:latin typeface="+mj-lt"/>
            </a:endParaRPr>
          </a:p>
        </p:txBody>
      </p:sp>
      <p:pic>
        <p:nvPicPr>
          <p:cNvPr id="9" name="Immagine 8">
            <a:extLst>
              <a:ext uri="{FF2B5EF4-FFF2-40B4-BE49-F238E27FC236}">
                <a16:creationId xmlns:a16="http://schemas.microsoft.com/office/drawing/2014/main" id="{AA6311E2-373B-3144-EB89-10321BA5F1E8}"/>
              </a:ext>
            </a:extLst>
          </p:cNvPr>
          <p:cNvPicPr>
            <a:picLocks noChangeAspect="1"/>
          </p:cNvPicPr>
          <p:nvPr/>
        </p:nvPicPr>
        <p:blipFill>
          <a:blip r:embed="rId4"/>
          <a:stretch>
            <a:fillRect/>
          </a:stretch>
        </p:blipFill>
        <p:spPr>
          <a:xfrm>
            <a:off x="814385" y="2805377"/>
            <a:ext cx="4467225" cy="533400"/>
          </a:xfrm>
          <a:prstGeom prst="rect">
            <a:avLst/>
          </a:prstGeom>
        </p:spPr>
      </p:pic>
      <p:pic>
        <p:nvPicPr>
          <p:cNvPr id="11" name="Immagine 10">
            <a:extLst>
              <a:ext uri="{FF2B5EF4-FFF2-40B4-BE49-F238E27FC236}">
                <a16:creationId xmlns:a16="http://schemas.microsoft.com/office/drawing/2014/main" id="{B21BFEAF-653A-2B86-18CC-C78FD20984F0}"/>
              </a:ext>
            </a:extLst>
          </p:cNvPr>
          <p:cNvPicPr>
            <a:picLocks noChangeAspect="1"/>
          </p:cNvPicPr>
          <p:nvPr/>
        </p:nvPicPr>
        <p:blipFill>
          <a:blip r:embed="rId5"/>
          <a:stretch>
            <a:fillRect/>
          </a:stretch>
        </p:blipFill>
        <p:spPr>
          <a:xfrm>
            <a:off x="166686" y="4205415"/>
            <a:ext cx="5762625" cy="542925"/>
          </a:xfrm>
          <a:prstGeom prst="rect">
            <a:avLst/>
          </a:prstGeom>
        </p:spPr>
      </p:pic>
      <p:sp>
        <p:nvSpPr>
          <p:cNvPr id="12" name="CasellaDiTesto 11">
            <a:extLst>
              <a:ext uri="{FF2B5EF4-FFF2-40B4-BE49-F238E27FC236}">
                <a16:creationId xmlns:a16="http://schemas.microsoft.com/office/drawing/2014/main" id="{B51D33EB-2400-96F9-AB69-DB9DA4D4507F}"/>
              </a:ext>
            </a:extLst>
          </p:cNvPr>
          <p:cNvSpPr txBox="1"/>
          <p:nvPr/>
        </p:nvSpPr>
        <p:spPr>
          <a:xfrm>
            <a:off x="-1" y="4901335"/>
            <a:ext cx="6095995" cy="369332"/>
          </a:xfrm>
          <a:prstGeom prst="rect">
            <a:avLst/>
          </a:prstGeom>
          <a:noFill/>
        </p:spPr>
        <p:txBody>
          <a:bodyPr wrap="square">
            <a:spAutoFit/>
          </a:bodyPr>
          <a:lstStyle/>
          <a:p>
            <a:pPr marL="742950" lvl="1" indent="-285750" algn="ctr">
              <a:buFont typeface="Arial" panose="020B0604020202020204" pitchFamily="34" charset="0"/>
              <a:buChar char="•"/>
            </a:pPr>
            <a:r>
              <a:rPr lang="it-IT" b="1" dirty="0">
                <a:latin typeface="+mj-lt"/>
              </a:rPr>
              <a:t>sockets: </a:t>
            </a:r>
            <a:r>
              <a:rPr lang="it-IT" dirty="0">
                <a:latin typeface="+mj-lt"/>
              </a:rPr>
              <a:t>Indica il numero di connessioni da aprire.</a:t>
            </a:r>
            <a:endParaRPr lang="it-IT" b="1" dirty="0">
              <a:latin typeface="+mj-lt"/>
            </a:endParaRPr>
          </a:p>
        </p:txBody>
      </p:sp>
      <p:pic>
        <p:nvPicPr>
          <p:cNvPr id="16" name="Immagine 15">
            <a:extLst>
              <a:ext uri="{FF2B5EF4-FFF2-40B4-BE49-F238E27FC236}">
                <a16:creationId xmlns:a16="http://schemas.microsoft.com/office/drawing/2014/main" id="{68D33300-BB69-8830-433B-F4CFDD07E9FD}"/>
              </a:ext>
            </a:extLst>
          </p:cNvPr>
          <p:cNvPicPr>
            <a:picLocks noChangeAspect="1"/>
          </p:cNvPicPr>
          <p:nvPr/>
        </p:nvPicPr>
        <p:blipFill>
          <a:blip r:embed="rId6"/>
          <a:srcRect/>
          <a:stretch/>
        </p:blipFill>
        <p:spPr>
          <a:xfrm>
            <a:off x="1356558" y="5461534"/>
            <a:ext cx="3382876" cy="1205599"/>
          </a:xfrm>
          <a:prstGeom prst="rect">
            <a:avLst/>
          </a:prstGeom>
        </p:spPr>
      </p:pic>
      <p:sp>
        <p:nvSpPr>
          <p:cNvPr id="17" name="CasellaDiTesto 16">
            <a:extLst>
              <a:ext uri="{FF2B5EF4-FFF2-40B4-BE49-F238E27FC236}">
                <a16:creationId xmlns:a16="http://schemas.microsoft.com/office/drawing/2014/main" id="{69F9DE5E-9462-25E4-ED22-D6E93F7EEE0A}"/>
              </a:ext>
            </a:extLst>
          </p:cNvPr>
          <p:cNvSpPr txBox="1"/>
          <p:nvPr/>
        </p:nvSpPr>
        <p:spPr>
          <a:xfrm>
            <a:off x="6660541" y="2146636"/>
            <a:ext cx="4188912" cy="646331"/>
          </a:xfrm>
          <a:prstGeom prst="rect">
            <a:avLst/>
          </a:prstGeom>
          <a:noFill/>
        </p:spPr>
        <p:txBody>
          <a:bodyPr wrap="square">
            <a:spAutoFit/>
          </a:bodyPr>
          <a:lstStyle/>
          <a:p>
            <a:pPr marL="742950" lvl="1" indent="-285750" algn="ctr">
              <a:buFont typeface="Arial" panose="020B0604020202020204" pitchFamily="34" charset="0"/>
              <a:buChar char="•"/>
            </a:pPr>
            <a:r>
              <a:rPr lang="it-IT" b="1" dirty="0">
                <a:solidFill>
                  <a:schemeClr val="bg1"/>
                </a:solidFill>
                <a:latin typeface="+mj-lt"/>
              </a:rPr>
              <a:t>randuseragent</a:t>
            </a:r>
            <a:r>
              <a:rPr lang="it-IT" dirty="0">
                <a:solidFill>
                  <a:schemeClr val="bg1"/>
                </a:solidFill>
                <a:latin typeface="+mj-lt"/>
              </a:rPr>
              <a:t>: Per rendere randomica la scelta dello user agent.</a:t>
            </a:r>
          </a:p>
        </p:txBody>
      </p:sp>
      <p:sp>
        <p:nvSpPr>
          <p:cNvPr id="20" name="CasellaDiTesto 19">
            <a:extLst>
              <a:ext uri="{FF2B5EF4-FFF2-40B4-BE49-F238E27FC236}">
                <a16:creationId xmlns:a16="http://schemas.microsoft.com/office/drawing/2014/main" id="{7161F6F6-A0AF-3F1A-96AD-4A94FAC5F60E}"/>
              </a:ext>
            </a:extLst>
          </p:cNvPr>
          <p:cNvSpPr txBox="1"/>
          <p:nvPr/>
        </p:nvSpPr>
        <p:spPr>
          <a:xfrm>
            <a:off x="6660541" y="3262822"/>
            <a:ext cx="4188912" cy="369332"/>
          </a:xfrm>
          <a:prstGeom prst="rect">
            <a:avLst/>
          </a:prstGeom>
          <a:noFill/>
        </p:spPr>
        <p:txBody>
          <a:bodyPr wrap="square">
            <a:spAutoFit/>
          </a:bodyPr>
          <a:lstStyle/>
          <a:p>
            <a:pPr marL="742950" lvl="1" indent="-285750" algn="ctr">
              <a:buFont typeface="Arial" panose="020B0604020202020204" pitchFamily="34" charset="0"/>
              <a:buChar char="•"/>
            </a:pPr>
            <a:r>
              <a:rPr lang="it-IT" b="1" dirty="0">
                <a:solidFill>
                  <a:schemeClr val="bg1"/>
                </a:solidFill>
                <a:latin typeface="+mj-lt"/>
              </a:rPr>
              <a:t>useproxy: </a:t>
            </a:r>
            <a:r>
              <a:rPr lang="it-IT" dirty="0">
                <a:solidFill>
                  <a:schemeClr val="bg1"/>
                </a:solidFill>
                <a:latin typeface="+mj-lt"/>
              </a:rPr>
              <a:t>Specifica se utilizzare il proxy. </a:t>
            </a:r>
            <a:endParaRPr lang="it-IT" b="1" dirty="0">
              <a:solidFill>
                <a:schemeClr val="bg1"/>
              </a:solidFill>
              <a:latin typeface="+mj-lt"/>
            </a:endParaRPr>
          </a:p>
        </p:txBody>
      </p:sp>
      <p:sp>
        <p:nvSpPr>
          <p:cNvPr id="21" name="CasellaDiTesto 20">
            <a:extLst>
              <a:ext uri="{FF2B5EF4-FFF2-40B4-BE49-F238E27FC236}">
                <a16:creationId xmlns:a16="http://schemas.microsoft.com/office/drawing/2014/main" id="{28BC94A0-0CDD-E62D-D0B2-5A2CE4DCD293}"/>
              </a:ext>
            </a:extLst>
          </p:cNvPr>
          <p:cNvSpPr txBox="1"/>
          <p:nvPr/>
        </p:nvSpPr>
        <p:spPr>
          <a:xfrm>
            <a:off x="6660541" y="4102009"/>
            <a:ext cx="4188912" cy="646331"/>
          </a:xfrm>
          <a:prstGeom prst="rect">
            <a:avLst/>
          </a:prstGeom>
          <a:noFill/>
        </p:spPr>
        <p:txBody>
          <a:bodyPr wrap="square">
            <a:spAutoFit/>
          </a:bodyPr>
          <a:lstStyle/>
          <a:p>
            <a:pPr marL="742950" lvl="1" indent="-285750" algn="ctr">
              <a:buFont typeface="Arial" panose="020B0604020202020204" pitchFamily="34" charset="0"/>
              <a:buChar char="•"/>
            </a:pPr>
            <a:r>
              <a:rPr lang="it-IT" b="1" dirty="0">
                <a:solidFill>
                  <a:schemeClr val="bg1"/>
                </a:solidFill>
                <a:latin typeface="+mj-lt"/>
              </a:rPr>
              <a:t>https: </a:t>
            </a:r>
            <a:r>
              <a:rPr lang="it-IT" dirty="0">
                <a:solidFill>
                  <a:schemeClr val="bg1"/>
                </a:solidFill>
                <a:latin typeface="+mj-lt"/>
              </a:rPr>
              <a:t>Specifica se utilizzare https per l’inoltro dei pacchetti.</a:t>
            </a:r>
            <a:endParaRPr lang="it-IT" b="1" dirty="0">
              <a:solidFill>
                <a:schemeClr val="bg1"/>
              </a:solidFill>
              <a:latin typeface="+mj-lt"/>
            </a:endParaRPr>
          </a:p>
        </p:txBody>
      </p:sp>
      <p:sp>
        <p:nvSpPr>
          <p:cNvPr id="4" name="CasellaDiTesto 3">
            <a:extLst>
              <a:ext uri="{FF2B5EF4-FFF2-40B4-BE49-F238E27FC236}">
                <a16:creationId xmlns:a16="http://schemas.microsoft.com/office/drawing/2014/main" id="{1C28B529-D7AB-3FBD-8A4F-FD3461B3DC50}"/>
              </a:ext>
            </a:extLst>
          </p:cNvPr>
          <p:cNvSpPr txBox="1"/>
          <p:nvPr/>
        </p:nvSpPr>
        <p:spPr>
          <a:xfrm>
            <a:off x="6660541" y="5218195"/>
            <a:ext cx="4188912" cy="646331"/>
          </a:xfrm>
          <a:prstGeom prst="rect">
            <a:avLst/>
          </a:prstGeom>
          <a:noFill/>
        </p:spPr>
        <p:txBody>
          <a:bodyPr wrap="square">
            <a:spAutoFit/>
          </a:bodyPr>
          <a:lstStyle/>
          <a:p>
            <a:pPr marL="742950" lvl="1" indent="-285750" algn="ctr">
              <a:buFont typeface="Arial" panose="020B0604020202020204" pitchFamily="34" charset="0"/>
              <a:buChar char="•"/>
            </a:pPr>
            <a:r>
              <a:rPr lang="it-IT" b="1" dirty="0">
                <a:solidFill>
                  <a:schemeClr val="bg1"/>
                </a:solidFill>
                <a:latin typeface="+mj-lt"/>
              </a:rPr>
              <a:t>sleeptime: </a:t>
            </a:r>
            <a:r>
              <a:rPr lang="it-IT" dirty="0">
                <a:solidFill>
                  <a:schemeClr val="bg1"/>
                </a:solidFill>
                <a:latin typeface="+mj-lt"/>
              </a:rPr>
              <a:t>Definisce il tempo che passa prima di ogni iterazione.</a:t>
            </a:r>
            <a:endParaRPr lang="it-IT" b="1" dirty="0">
              <a:solidFill>
                <a:schemeClr val="bg1"/>
              </a:solidFill>
              <a:latin typeface="+mj-lt"/>
            </a:endParaRPr>
          </a:p>
        </p:txBody>
      </p:sp>
    </p:spTree>
    <p:extLst>
      <p:ext uri="{BB962C8B-B14F-4D97-AF65-F5344CB8AC3E}">
        <p14:creationId xmlns:p14="http://schemas.microsoft.com/office/powerpoint/2010/main" val="393449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B90508-F4B8-B1F6-A7FF-4959DF892D37}"/>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DC1CA6B3-2EFE-A028-3B35-DAB467B122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17BECF02-6754-9209-3124-4017B53C8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46479D7A-3BA9-2C67-EF62-C6192461E7D7}"/>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02.1.5 – logging e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configurazione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 proxy</a:t>
            </a:r>
          </a:p>
        </p:txBody>
      </p:sp>
      <p:cxnSp>
        <p:nvCxnSpPr>
          <p:cNvPr id="32" name="Straight Connector 25">
            <a:extLst>
              <a:ext uri="{FF2B5EF4-FFF2-40B4-BE49-F238E27FC236}">
                <a16:creationId xmlns:a16="http://schemas.microsoft.com/office/drawing/2014/main" id="{F991E569-9FA6-12D7-3DF6-5371D9EE35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2" name="Immagine 21" descr="Immagine che contiene testo, Carattere, Elementi grafici, schermata&#10;&#10;Descrizione generata automaticamente">
            <a:extLst>
              <a:ext uri="{FF2B5EF4-FFF2-40B4-BE49-F238E27FC236}">
                <a16:creationId xmlns:a16="http://schemas.microsoft.com/office/drawing/2014/main" id="{63329EA7-3FE4-6C6B-3F0C-079905BF2E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672" y="6031676"/>
            <a:ext cx="1461718" cy="475604"/>
          </a:xfrm>
          <a:prstGeom prst="rect">
            <a:avLst/>
          </a:prstGeom>
        </p:spPr>
      </p:pic>
      <p:sp>
        <p:nvSpPr>
          <p:cNvPr id="5" name="CasellaDiTesto 4">
            <a:extLst>
              <a:ext uri="{FF2B5EF4-FFF2-40B4-BE49-F238E27FC236}">
                <a16:creationId xmlns:a16="http://schemas.microsoft.com/office/drawing/2014/main" id="{F21F5FF7-A79B-B99D-A2D1-7D3171E96D16}"/>
              </a:ext>
            </a:extLst>
          </p:cNvPr>
          <p:cNvSpPr txBox="1"/>
          <p:nvPr/>
        </p:nvSpPr>
        <p:spPr>
          <a:xfrm>
            <a:off x="5886275" y="566536"/>
            <a:ext cx="6106160" cy="923330"/>
          </a:xfrm>
          <a:prstGeom prst="rect">
            <a:avLst/>
          </a:prstGeom>
          <a:noFill/>
        </p:spPr>
        <p:txBody>
          <a:bodyPr wrap="square">
            <a:spAutoFit/>
          </a:bodyPr>
          <a:lstStyle/>
          <a:p>
            <a:pPr lvl="1" algn="ctr"/>
            <a:r>
              <a:rPr lang="it-IT" dirty="0">
                <a:solidFill>
                  <a:schemeClr val="bg1"/>
                </a:solidFill>
                <a:latin typeface="+mj-lt"/>
              </a:rPr>
              <a:t>La prima funzione permette di mostrare messaggi di LOG. La seconda, invece, viene eseguita solo nel caso in cui venga utilizzato il «--</a:t>
            </a:r>
            <a:r>
              <a:rPr lang="it-IT" dirty="0" err="1">
                <a:solidFill>
                  <a:schemeClr val="bg1"/>
                </a:solidFill>
                <a:latin typeface="+mj-lt"/>
              </a:rPr>
              <a:t>useproxy</a:t>
            </a:r>
            <a:r>
              <a:rPr lang="it-IT" dirty="0">
                <a:solidFill>
                  <a:schemeClr val="bg1"/>
                </a:solidFill>
                <a:latin typeface="+mj-lt"/>
              </a:rPr>
              <a:t>» o «-x» come parametro. </a:t>
            </a:r>
          </a:p>
        </p:txBody>
      </p:sp>
      <p:sp>
        <p:nvSpPr>
          <p:cNvPr id="6" name="CasellaDiTesto 5">
            <a:extLst>
              <a:ext uri="{FF2B5EF4-FFF2-40B4-BE49-F238E27FC236}">
                <a16:creationId xmlns:a16="http://schemas.microsoft.com/office/drawing/2014/main" id="{87F8899C-D81C-9530-9A88-C4F83B15F068}"/>
              </a:ext>
            </a:extLst>
          </p:cNvPr>
          <p:cNvSpPr txBox="1"/>
          <p:nvPr/>
        </p:nvSpPr>
        <p:spPr>
          <a:xfrm>
            <a:off x="-1" y="2317442"/>
            <a:ext cx="6095999" cy="1200329"/>
          </a:xfrm>
          <a:prstGeom prst="rect">
            <a:avLst/>
          </a:prstGeom>
          <a:noFill/>
        </p:spPr>
        <p:txBody>
          <a:bodyPr wrap="square">
            <a:spAutoFit/>
          </a:bodyPr>
          <a:lstStyle/>
          <a:p>
            <a:pPr lvl="1" algn="ctr"/>
            <a:r>
              <a:rPr lang="it-IT" b="1" dirty="0">
                <a:latin typeface="+mj-lt"/>
              </a:rPr>
              <a:t>LOG:</a:t>
            </a:r>
            <a:br>
              <a:rPr lang="it-IT" b="1" dirty="0">
                <a:latin typeface="+mj-lt"/>
              </a:rPr>
            </a:br>
            <a:r>
              <a:rPr lang="it-IT" dirty="0">
                <a:latin typeface="+mj-lt"/>
              </a:rPr>
              <a:t>Il Logging può essere eseguito in due modalità. Questa viene specificata attraverso l’argomento «-verbose». Se questo non viene utilizzato allora sarà utilizzata la modalità INFO, altrimenti la modalità DEBUG.</a:t>
            </a:r>
            <a:endParaRPr lang="it-IT" b="1" dirty="0">
              <a:latin typeface="+mj-lt"/>
            </a:endParaRPr>
          </a:p>
        </p:txBody>
      </p:sp>
      <p:pic>
        <p:nvPicPr>
          <p:cNvPr id="7" name="Immagine 6">
            <a:extLst>
              <a:ext uri="{FF2B5EF4-FFF2-40B4-BE49-F238E27FC236}">
                <a16:creationId xmlns:a16="http://schemas.microsoft.com/office/drawing/2014/main" id="{63D23304-6E48-7E23-94C5-5FF14D173C6C}"/>
              </a:ext>
            </a:extLst>
          </p:cNvPr>
          <p:cNvPicPr>
            <a:picLocks noChangeAspect="1"/>
          </p:cNvPicPr>
          <p:nvPr/>
        </p:nvPicPr>
        <p:blipFill>
          <a:blip r:embed="rId4"/>
          <a:stretch>
            <a:fillRect/>
          </a:stretch>
        </p:blipFill>
        <p:spPr>
          <a:xfrm>
            <a:off x="572672" y="3654663"/>
            <a:ext cx="4314825" cy="981075"/>
          </a:xfrm>
          <a:prstGeom prst="rect">
            <a:avLst/>
          </a:prstGeom>
        </p:spPr>
      </p:pic>
      <p:pic>
        <p:nvPicPr>
          <p:cNvPr id="9" name="Immagine 8">
            <a:extLst>
              <a:ext uri="{FF2B5EF4-FFF2-40B4-BE49-F238E27FC236}">
                <a16:creationId xmlns:a16="http://schemas.microsoft.com/office/drawing/2014/main" id="{C1F2B8E1-123E-0FCA-5167-2BAB945487A5}"/>
              </a:ext>
            </a:extLst>
          </p:cNvPr>
          <p:cNvPicPr>
            <a:picLocks noChangeAspect="1"/>
          </p:cNvPicPr>
          <p:nvPr/>
        </p:nvPicPr>
        <p:blipFill>
          <a:blip r:embed="rId5"/>
          <a:stretch>
            <a:fillRect/>
          </a:stretch>
        </p:blipFill>
        <p:spPr>
          <a:xfrm>
            <a:off x="572672" y="4775622"/>
            <a:ext cx="4000500" cy="419100"/>
          </a:xfrm>
          <a:prstGeom prst="rect">
            <a:avLst/>
          </a:prstGeom>
        </p:spPr>
      </p:pic>
      <p:pic>
        <p:nvPicPr>
          <p:cNvPr id="11" name="Immagine 10">
            <a:extLst>
              <a:ext uri="{FF2B5EF4-FFF2-40B4-BE49-F238E27FC236}">
                <a16:creationId xmlns:a16="http://schemas.microsoft.com/office/drawing/2014/main" id="{39C1E791-CF95-577F-A214-706F6613D880}"/>
              </a:ext>
            </a:extLst>
          </p:cNvPr>
          <p:cNvPicPr>
            <a:picLocks noChangeAspect="1"/>
          </p:cNvPicPr>
          <p:nvPr/>
        </p:nvPicPr>
        <p:blipFill>
          <a:blip r:embed="rId6"/>
          <a:stretch>
            <a:fillRect/>
          </a:stretch>
        </p:blipFill>
        <p:spPr>
          <a:xfrm>
            <a:off x="572672" y="5334606"/>
            <a:ext cx="3581400" cy="219075"/>
          </a:xfrm>
          <a:prstGeom prst="rect">
            <a:avLst/>
          </a:prstGeom>
        </p:spPr>
      </p:pic>
      <p:sp>
        <p:nvSpPr>
          <p:cNvPr id="12" name="CasellaDiTesto 11">
            <a:extLst>
              <a:ext uri="{FF2B5EF4-FFF2-40B4-BE49-F238E27FC236}">
                <a16:creationId xmlns:a16="http://schemas.microsoft.com/office/drawing/2014/main" id="{AE4356B8-66AF-1983-6E44-4E1C861CBF58}"/>
              </a:ext>
            </a:extLst>
          </p:cNvPr>
          <p:cNvSpPr txBox="1"/>
          <p:nvPr/>
        </p:nvSpPr>
        <p:spPr>
          <a:xfrm>
            <a:off x="5774498" y="2260455"/>
            <a:ext cx="5774499" cy="1200329"/>
          </a:xfrm>
          <a:prstGeom prst="rect">
            <a:avLst/>
          </a:prstGeom>
          <a:noFill/>
        </p:spPr>
        <p:txBody>
          <a:bodyPr wrap="square">
            <a:spAutoFit/>
          </a:bodyPr>
          <a:lstStyle/>
          <a:p>
            <a:pPr lvl="1" algn="ctr"/>
            <a:r>
              <a:rPr lang="it-IT" b="1" dirty="0">
                <a:solidFill>
                  <a:schemeClr val="bg1"/>
                </a:solidFill>
                <a:latin typeface="+mj-lt"/>
              </a:rPr>
              <a:t>PROXY:</a:t>
            </a:r>
            <a:br>
              <a:rPr lang="it-IT" b="1" dirty="0">
                <a:solidFill>
                  <a:schemeClr val="bg1"/>
                </a:solidFill>
                <a:latin typeface="+mj-lt"/>
              </a:rPr>
            </a:br>
            <a:r>
              <a:rPr lang="it-IT" dirty="0">
                <a:solidFill>
                  <a:schemeClr val="bg1"/>
                </a:solidFill>
                <a:latin typeface="+mj-lt"/>
              </a:rPr>
              <a:t>Come suggeriscono i commenti nel codice, si prova a stabilire una connessione con il server proxy specificato negli argomenti attraverso i metodi della libreria </a:t>
            </a:r>
            <a:r>
              <a:rPr lang="it-IT" b="1" dirty="0">
                <a:solidFill>
                  <a:schemeClr val="bg1"/>
                </a:solidFill>
                <a:latin typeface="+mj-lt"/>
              </a:rPr>
              <a:t>socks.</a:t>
            </a:r>
          </a:p>
        </p:txBody>
      </p:sp>
      <p:pic>
        <p:nvPicPr>
          <p:cNvPr id="14" name="Immagine 13">
            <a:extLst>
              <a:ext uri="{FF2B5EF4-FFF2-40B4-BE49-F238E27FC236}">
                <a16:creationId xmlns:a16="http://schemas.microsoft.com/office/drawing/2014/main" id="{69A494BA-0F2F-5003-C69D-E9C8AF676E97}"/>
              </a:ext>
            </a:extLst>
          </p:cNvPr>
          <p:cNvPicPr>
            <a:picLocks noChangeAspect="1"/>
          </p:cNvPicPr>
          <p:nvPr/>
        </p:nvPicPr>
        <p:blipFill>
          <a:blip r:embed="rId7"/>
          <a:stretch>
            <a:fillRect/>
          </a:stretch>
        </p:blipFill>
        <p:spPr>
          <a:xfrm>
            <a:off x="6372367" y="3654663"/>
            <a:ext cx="5133975" cy="2743200"/>
          </a:xfrm>
          <a:prstGeom prst="rect">
            <a:avLst/>
          </a:prstGeom>
        </p:spPr>
      </p:pic>
    </p:spTree>
    <p:extLst>
      <p:ext uri="{BB962C8B-B14F-4D97-AF65-F5344CB8AC3E}">
        <p14:creationId xmlns:p14="http://schemas.microsoft.com/office/powerpoint/2010/main" val="3598310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BFBBEE-7A0B-DA50-4FE1-CC76B0DE7B27}"/>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B8A03410-0403-ABE9-169E-E1748098C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55EA447B-EF00-70E6-276D-1A04841ED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FE9D63B1-438B-6297-6CA2-5B8815D08A3F}"/>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02.1.5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inizializzazione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dei</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socket</a:t>
            </a:r>
          </a:p>
        </p:txBody>
      </p:sp>
      <p:cxnSp>
        <p:nvCxnSpPr>
          <p:cNvPr id="32" name="Straight Connector 25">
            <a:extLst>
              <a:ext uri="{FF2B5EF4-FFF2-40B4-BE49-F238E27FC236}">
                <a16:creationId xmlns:a16="http://schemas.microsoft.com/office/drawing/2014/main" id="{856A01BB-D776-5343-8987-9D8BF5A9D2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Immagine 5">
            <a:extLst>
              <a:ext uri="{FF2B5EF4-FFF2-40B4-BE49-F238E27FC236}">
                <a16:creationId xmlns:a16="http://schemas.microsoft.com/office/drawing/2014/main" id="{781FB0E4-2D5F-7A39-7AF3-7AC2519088BF}"/>
              </a:ext>
            </a:extLst>
          </p:cNvPr>
          <p:cNvPicPr/>
          <p:nvPr/>
        </p:nvPicPr>
        <p:blipFill>
          <a:blip r:embed="rId3"/>
          <a:stretch>
            <a:fillRect/>
          </a:stretch>
        </p:blipFill>
        <p:spPr>
          <a:xfrm>
            <a:off x="3630557" y="2315164"/>
            <a:ext cx="4930884" cy="4226472"/>
          </a:xfrm>
          <a:prstGeom prst="rect">
            <a:avLst/>
          </a:prstGeom>
        </p:spPr>
      </p:pic>
      <p:sp>
        <p:nvSpPr>
          <p:cNvPr id="10" name="CasellaDiTesto 9">
            <a:extLst>
              <a:ext uri="{FF2B5EF4-FFF2-40B4-BE49-F238E27FC236}">
                <a16:creationId xmlns:a16="http://schemas.microsoft.com/office/drawing/2014/main" id="{999AB00E-F31C-FDBA-F633-1D0D4A29372C}"/>
              </a:ext>
            </a:extLst>
          </p:cNvPr>
          <p:cNvSpPr txBox="1"/>
          <p:nvPr/>
        </p:nvSpPr>
        <p:spPr>
          <a:xfrm>
            <a:off x="-117315" y="3056413"/>
            <a:ext cx="3119977" cy="1200329"/>
          </a:xfrm>
          <a:prstGeom prst="rect">
            <a:avLst/>
          </a:prstGeom>
          <a:noFill/>
        </p:spPr>
        <p:txBody>
          <a:bodyPr wrap="square">
            <a:spAutoFit/>
          </a:bodyPr>
          <a:lstStyle/>
          <a:p>
            <a:pPr lvl="1" algn="ctr"/>
            <a:r>
              <a:rPr lang="it-IT" dirty="0">
                <a:latin typeface="+mj-lt"/>
              </a:rPr>
              <a:t>Se viene utilizzato l’argomento «-https» viene utilizzato </a:t>
            </a:r>
            <a:r>
              <a:rPr lang="it-IT" b="1" dirty="0">
                <a:latin typeface="+mj-lt"/>
              </a:rPr>
              <a:t>ssl</a:t>
            </a:r>
            <a:r>
              <a:rPr lang="it-IT" dirty="0">
                <a:latin typeface="+mj-lt"/>
              </a:rPr>
              <a:t> per creare una connessione crittografata.</a:t>
            </a:r>
          </a:p>
        </p:txBody>
      </p:sp>
      <p:sp>
        <p:nvSpPr>
          <p:cNvPr id="11" name="CasellaDiTesto 10">
            <a:extLst>
              <a:ext uri="{FF2B5EF4-FFF2-40B4-BE49-F238E27FC236}">
                <a16:creationId xmlns:a16="http://schemas.microsoft.com/office/drawing/2014/main" id="{49B45F53-EA7D-1034-CB25-7C862DF085B7}"/>
              </a:ext>
            </a:extLst>
          </p:cNvPr>
          <p:cNvSpPr txBox="1"/>
          <p:nvPr/>
        </p:nvSpPr>
        <p:spPr>
          <a:xfrm>
            <a:off x="98712" y="5076075"/>
            <a:ext cx="3119976" cy="646331"/>
          </a:xfrm>
          <a:prstGeom prst="rect">
            <a:avLst/>
          </a:prstGeom>
          <a:noFill/>
        </p:spPr>
        <p:txBody>
          <a:bodyPr wrap="square">
            <a:spAutoFit/>
          </a:bodyPr>
          <a:lstStyle/>
          <a:p>
            <a:pPr lvl="1" algn="ctr"/>
            <a:r>
              <a:rPr lang="it-IT" dirty="0">
                <a:latin typeface="+mj-lt"/>
              </a:rPr>
              <a:t>Altrimenti viene creata una normale connessione con handshake TCP.</a:t>
            </a:r>
          </a:p>
        </p:txBody>
      </p:sp>
      <p:sp>
        <p:nvSpPr>
          <p:cNvPr id="18" name="CasellaDiTesto 17">
            <a:extLst>
              <a:ext uri="{FF2B5EF4-FFF2-40B4-BE49-F238E27FC236}">
                <a16:creationId xmlns:a16="http://schemas.microsoft.com/office/drawing/2014/main" id="{23DF40B1-9348-492D-4758-2E1725DAFF8A}"/>
              </a:ext>
            </a:extLst>
          </p:cNvPr>
          <p:cNvSpPr txBox="1"/>
          <p:nvPr/>
        </p:nvSpPr>
        <p:spPr>
          <a:xfrm>
            <a:off x="8283881" y="3194913"/>
            <a:ext cx="3444657" cy="923330"/>
          </a:xfrm>
          <a:prstGeom prst="rect">
            <a:avLst/>
          </a:prstGeom>
          <a:noFill/>
        </p:spPr>
        <p:txBody>
          <a:bodyPr wrap="square">
            <a:spAutoFit/>
          </a:bodyPr>
          <a:lstStyle/>
          <a:p>
            <a:pPr lvl="1" algn="ctr"/>
            <a:r>
              <a:rPr lang="it-IT" dirty="0">
                <a:solidFill>
                  <a:schemeClr val="bg1"/>
                </a:solidFill>
                <a:latin typeface="+mj-lt"/>
              </a:rPr>
              <a:t>Esegue una richiesta HTTP con </a:t>
            </a:r>
            <a:r>
              <a:rPr lang="it-IT" b="1" dirty="0">
                <a:solidFill>
                  <a:schemeClr val="bg1"/>
                </a:solidFill>
                <a:latin typeface="+mj-lt"/>
              </a:rPr>
              <a:t>GET </a:t>
            </a:r>
            <a:r>
              <a:rPr lang="it-IT" dirty="0">
                <a:solidFill>
                  <a:schemeClr val="bg1"/>
                </a:solidFill>
                <a:latin typeface="+mj-lt"/>
              </a:rPr>
              <a:t>con un parametro casuale per far si che il server non riconosca richieste duplicate. </a:t>
            </a:r>
            <a:r>
              <a:rPr lang="it-IT" b="1" dirty="0">
                <a:solidFill>
                  <a:schemeClr val="bg1"/>
                </a:solidFill>
                <a:latin typeface="+mj-lt"/>
              </a:rPr>
              <a:t> </a:t>
            </a:r>
            <a:endParaRPr lang="it-IT" dirty="0">
              <a:solidFill>
                <a:schemeClr val="bg1"/>
              </a:solidFill>
              <a:latin typeface="+mj-lt"/>
            </a:endParaRPr>
          </a:p>
        </p:txBody>
      </p:sp>
      <p:sp>
        <p:nvSpPr>
          <p:cNvPr id="19" name="CasellaDiTesto 18">
            <a:extLst>
              <a:ext uri="{FF2B5EF4-FFF2-40B4-BE49-F238E27FC236}">
                <a16:creationId xmlns:a16="http://schemas.microsoft.com/office/drawing/2014/main" id="{4630F465-C389-6C5B-4F18-53200D947C44}"/>
              </a:ext>
            </a:extLst>
          </p:cNvPr>
          <p:cNvSpPr txBox="1"/>
          <p:nvPr/>
        </p:nvSpPr>
        <p:spPr>
          <a:xfrm>
            <a:off x="8422661" y="5079569"/>
            <a:ext cx="3444657" cy="646331"/>
          </a:xfrm>
          <a:prstGeom prst="rect">
            <a:avLst/>
          </a:prstGeom>
          <a:noFill/>
        </p:spPr>
        <p:txBody>
          <a:bodyPr wrap="square">
            <a:spAutoFit/>
          </a:bodyPr>
          <a:lstStyle/>
          <a:p>
            <a:pPr lvl="1" algn="ctr"/>
            <a:r>
              <a:rPr lang="it-IT" dirty="0">
                <a:solidFill>
                  <a:schemeClr val="bg1"/>
                </a:solidFill>
                <a:latin typeface="+mj-lt"/>
              </a:rPr>
              <a:t>Aggiunge header comuni come User Agent e Accept Lenaguage. </a:t>
            </a:r>
          </a:p>
        </p:txBody>
      </p:sp>
      <p:cxnSp>
        <p:nvCxnSpPr>
          <p:cNvPr id="23" name="Connettore curvo 22">
            <a:extLst>
              <a:ext uri="{FF2B5EF4-FFF2-40B4-BE49-F238E27FC236}">
                <a16:creationId xmlns:a16="http://schemas.microsoft.com/office/drawing/2014/main" id="{43FDF20D-8A79-33DC-A858-F0F952F76A47}"/>
              </a:ext>
            </a:extLst>
          </p:cNvPr>
          <p:cNvCxnSpPr>
            <a:cxnSpLocks/>
            <a:stCxn id="18" idx="2"/>
          </p:cNvCxnSpPr>
          <p:nvPr/>
        </p:nvCxnSpPr>
        <p:spPr>
          <a:xfrm rot="5400000">
            <a:off x="8919426" y="3732123"/>
            <a:ext cx="700665" cy="1472904"/>
          </a:xfrm>
          <a:prstGeom prst="curvedConnector2">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27" name="Connettore curvo 26">
            <a:extLst>
              <a:ext uri="{FF2B5EF4-FFF2-40B4-BE49-F238E27FC236}">
                <a16:creationId xmlns:a16="http://schemas.microsoft.com/office/drawing/2014/main" id="{17ECCCC7-9FB1-92A3-B0C4-F75A472AE659}"/>
              </a:ext>
            </a:extLst>
          </p:cNvPr>
          <p:cNvCxnSpPr>
            <a:cxnSpLocks/>
            <a:stCxn id="19" idx="2"/>
          </p:cNvCxnSpPr>
          <p:nvPr/>
        </p:nvCxnSpPr>
        <p:spPr>
          <a:xfrm rot="5400000">
            <a:off x="8865084" y="4968496"/>
            <a:ext cx="522503" cy="2037310"/>
          </a:xfrm>
          <a:prstGeom prst="curvedConnector2">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39" name="Connettore curvo 38">
            <a:extLst>
              <a:ext uri="{FF2B5EF4-FFF2-40B4-BE49-F238E27FC236}">
                <a16:creationId xmlns:a16="http://schemas.microsoft.com/office/drawing/2014/main" id="{80884E57-F0AA-C893-45C1-ED33571AA2BB}"/>
              </a:ext>
            </a:extLst>
          </p:cNvPr>
          <p:cNvCxnSpPr>
            <a:cxnSpLocks/>
            <a:stCxn id="11" idx="0"/>
          </p:cNvCxnSpPr>
          <p:nvPr/>
        </p:nvCxnSpPr>
        <p:spPr>
          <a:xfrm rot="5400000" flipH="1" flipV="1">
            <a:off x="2438071" y="3640230"/>
            <a:ext cx="656474" cy="2215216"/>
          </a:xfrm>
          <a:prstGeom prst="curvedConnector2">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41" name="Connettore curvo 40">
            <a:extLst>
              <a:ext uri="{FF2B5EF4-FFF2-40B4-BE49-F238E27FC236}">
                <a16:creationId xmlns:a16="http://schemas.microsoft.com/office/drawing/2014/main" id="{DF70262B-295B-4948-417E-D7B48E38EA23}"/>
              </a:ext>
            </a:extLst>
          </p:cNvPr>
          <p:cNvCxnSpPr>
            <a:cxnSpLocks/>
            <a:stCxn id="10" idx="3"/>
          </p:cNvCxnSpPr>
          <p:nvPr/>
        </p:nvCxnSpPr>
        <p:spPr>
          <a:xfrm flipV="1">
            <a:off x="3002662" y="3194913"/>
            <a:ext cx="871254" cy="461665"/>
          </a:xfrm>
          <a:prstGeom prst="curvedConnector3">
            <a:avLst>
              <a:gd name="adj1" fmla="val 50000"/>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48" name="CasellaDiTesto 47">
            <a:extLst>
              <a:ext uri="{FF2B5EF4-FFF2-40B4-BE49-F238E27FC236}">
                <a16:creationId xmlns:a16="http://schemas.microsoft.com/office/drawing/2014/main" id="{70A5E0AE-7D08-A344-846A-698410B942AD}"/>
              </a:ext>
            </a:extLst>
          </p:cNvPr>
          <p:cNvSpPr txBox="1"/>
          <p:nvPr/>
        </p:nvSpPr>
        <p:spPr>
          <a:xfrm>
            <a:off x="5705278" y="1010927"/>
            <a:ext cx="6162040" cy="646331"/>
          </a:xfrm>
          <a:prstGeom prst="rect">
            <a:avLst/>
          </a:prstGeom>
          <a:noFill/>
        </p:spPr>
        <p:txBody>
          <a:bodyPr wrap="square">
            <a:spAutoFit/>
          </a:bodyPr>
          <a:lstStyle/>
          <a:p>
            <a:pPr lvl="1" algn="ctr"/>
            <a:r>
              <a:rPr lang="it-IT" dirty="0">
                <a:solidFill>
                  <a:schemeClr val="bg1"/>
                </a:solidFill>
                <a:latin typeface="+mj-lt"/>
              </a:rPr>
              <a:t>Rappresenta la parte operativa dell’attacco in quanto stabilisce le connessioni iniziali che non verranno mai chiuse grazie all’iterazione.</a:t>
            </a:r>
          </a:p>
        </p:txBody>
      </p:sp>
    </p:spTree>
    <p:extLst>
      <p:ext uri="{BB962C8B-B14F-4D97-AF65-F5344CB8AC3E}">
        <p14:creationId xmlns:p14="http://schemas.microsoft.com/office/powerpoint/2010/main" val="518107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09451D-0377-BF46-402C-B6EFA781D8A8}"/>
            </a:ext>
          </a:extLst>
        </p:cNvPr>
        <p:cNvGrpSpPr/>
        <p:nvPr/>
      </p:nvGrpSpPr>
      <p:grpSpPr>
        <a:xfrm>
          <a:off x="0" y="0"/>
          <a:ext cx="0" cy="0"/>
          <a:chOff x="0" y="0"/>
          <a:chExt cx="0" cy="0"/>
        </a:xfrm>
      </p:grpSpPr>
      <p:cxnSp>
        <p:nvCxnSpPr>
          <p:cNvPr id="30" name="Straight Connector 21">
            <a:extLst>
              <a:ext uri="{FF2B5EF4-FFF2-40B4-BE49-F238E27FC236}">
                <a16:creationId xmlns:a16="http://schemas.microsoft.com/office/drawing/2014/main" id="{B2B3E18C-FDD6-36F2-1755-848DD2D6AA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Rectangle 23">
            <a:extLst>
              <a:ext uri="{FF2B5EF4-FFF2-40B4-BE49-F238E27FC236}">
                <a16:creationId xmlns:a16="http://schemas.microsoft.com/office/drawing/2014/main" id="{5BBFA8C0-605D-1AD2-8702-DE70613C0F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BE83FA7C-227E-427E-6B5B-177EB5D4B7AA}"/>
              </a:ext>
            </a:extLst>
          </p:cNvPr>
          <p:cNvSpPr txBox="1"/>
          <p:nvPr/>
        </p:nvSpPr>
        <p:spPr>
          <a:xfrm>
            <a:off x="1024127" y="459317"/>
            <a:ext cx="4919471"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02.1.5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iterazione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slowloris</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32" name="Straight Connector 25">
            <a:extLst>
              <a:ext uri="{FF2B5EF4-FFF2-40B4-BE49-F238E27FC236}">
                <a16:creationId xmlns:a16="http://schemas.microsoft.com/office/drawing/2014/main" id="{BE82981B-5940-B267-FC52-F82EB31C3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CasellaDiTesto 3">
            <a:extLst>
              <a:ext uri="{FF2B5EF4-FFF2-40B4-BE49-F238E27FC236}">
                <a16:creationId xmlns:a16="http://schemas.microsoft.com/office/drawing/2014/main" id="{CB431B79-2913-48D1-D68F-DAC4AA8F7AA8}"/>
              </a:ext>
            </a:extLst>
          </p:cNvPr>
          <p:cNvSpPr txBox="1"/>
          <p:nvPr/>
        </p:nvSpPr>
        <p:spPr>
          <a:xfrm>
            <a:off x="6095998" y="923730"/>
            <a:ext cx="6096002" cy="646331"/>
          </a:xfrm>
          <a:prstGeom prst="rect">
            <a:avLst/>
          </a:prstGeom>
          <a:noFill/>
        </p:spPr>
        <p:txBody>
          <a:bodyPr wrap="square">
            <a:spAutoFit/>
          </a:bodyPr>
          <a:lstStyle/>
          <a:p>
            <a:pPr lvl="1" algn="ctr"/>
            <a:r>
              <a:rPr lang="it-IT" dirty="0">
                <a:solidFill>
                  <a:schemeClr val="bg1"/>
                </a:solidFill>
                <a:latin typeface="+mj-lt"/>
              </a:rPr>
              <a:t>E’ la parte del codice che permette di mantenere aperte le connessioni eseguite in precedenza.</a:t>
            </a:r>
          </a:p>
        </p:txBody>
      </p:sp>
      <p:pic>
        <p:nvPicPr>
          <p:cNvPr id="5" name="Immagine 4">
            <a:extLst>
              <a:ext uri="{FF2B5EF4-FFF2-40B4-BE49-F238E27FC236}">
                <a16:creationId xmlns:a16="http://schemas.microsoft.com/office/drawing/2014/main" id="{7AFF4B57-8CF7-4E09-3503-2A4DAEA943F7}"/>
              </a:ext>
            </a:extLst>
          </p:cNvPr>
          <p:cNvPicPr/>
          <p:nvPr/>
        </p:nvPicPr>
        <p:blipFill>
          <a:blip r:embed="rId3"/>
          <a:stretch>
            <a:fillRect/>
          </a:stretch>
        </p:blipFill>
        <p:spPr>
          <a:xfrm>
            <a:off x="3629849" y="2216392"/>
            <a:ext cx="5074542" cy="4455899"/>
          </a:xfrm>
          <a:prstGeom prst="rect">
            <a:avLst/>
          </a:prstGeom>
        </p:spPr>
      </p:pic>
      <p:sp>
        <p:nvSpPr>
          <p:cNvPr id="7" name="CasellaDiTesto 6">
            <a:extLst>
              <a:ext uri="{FF2B5EF4-FFF2-40B4-BE49-F238E27FC236}">
                <a16:creationId xmlns:a16="http://schemas.microsoft.com/office/drawing/2014/main" id="{38F318F6-E014-5D5B-2C48-3639B379C84B}"/>
              </a:ext>
            </a:extLst>
          </p:cNvPr>
          <p:cNvSpPr txBox="1"/>
          <p:nvPr/>
        </p:nvSpPr>
        <p:spPr>
          <a:xfrm>
            <a:off x="-192872" y="2934420"/>
            <a:ext cx="3515777" cy="646331"/>
          </a:xfrm>
          <a:prstGeom prst="rect">
            <a:avLst/>
          </a:prstGeom>
          <a:noFill/>
        </p:spPr>
        <p:txBody>
          <a:bodyPr wrap="square">
            <a:spAutoFit/>
          </a:bodyPr>
          <a:lstStyle/>
          <a:p>
            <a:pPr lvl="1" algn="ctr"/>
            <a:r>
              <a:rPr lang="it-IT" dirty="0">
                <a:latin typeface="+mj-lt"/>
              </a:rPr>
              <a:t>Per ogni socket aperta manda un header con numero randomico.</a:t>
            </a:r>
          </a:p>
        </p:txBody>
      </p:sp>
      <p:cxnSp>
        <p:nvCxnSpPr>
          <p:cNvPr id="6" name="Connettore curvo 5">
            <a:extLst>
              <a:ext uri="{FF2B5EF4-FFF2-40B4-BE49-F238E27FC236}">
                <a16:creationId xmlns:a16="http://schemas.microsoft.com/office/drawing/2014/main" id="{2716ED0A-D3AE-8DD0-5F2D-F73D08545DF9}"/>
              </a:ext>
            </a:extLst>
          </p:cNvPr>
          <p:cNvCxnSpPr>
            <a:cxnSpLocks/>
            <a:stCxn id="7" idx="3"/>
          </p:cNvCxnSpPr>
          <p:nvPr/>
        </p:nvCxnSpPr>
        <p:spPr>
          <a:xfrm>
            <a:off x="3322905" y="3257586"/>
            <a:ext cx="969486" cy="152765"/>
          </a:xfrm>
          <a:prstGeom prst="curvedConnector3">
            <a:avLst>
              <a:gd name="adj1" fmla="val 50000"/>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1" name="CasellaDiTesto 10">
            <a:extLst>
              <a:ext uri="{FF2B5EF4-FFF2-40B4-BE49-F238E27FC236}">
                <a16:creationId xmlns:a16="http://schemas.microsoft.com/office/drawing/2014/main" id="{B081B544-087C-CDF4-3D80-731EBCC76871}"/>
              </a:ext>
            </a:extLst>
          </p:cNvPr>
          <p:cNvSpPr txBox="1"/>
          <p:nvPr/>
        </p:nvSpPr>
        <p:spPr>
          <a:xfrm>
            <a:off x="-192872" y="4213507"/>
            <a:ext cx="3466461" cy="646331"/>
          </a:xfrm>
          <a:prstGeom prst="rect">
            <a:avLst/>
          </a:prstGeom>
          <a:noFill/>
        </p:spPr>
        <p:txBody>
          <a:bodyPr wrap="square">
            <a:spAutoFit/>
          </a:bodyPr>
          <a:lstStyle/>
          <a:p>
            <a:pPr lvl="1" algn="ctr"/>
            <a:r>
              <a:rPr lang="it-IT" dirty="0">
                <a:latin typeface="+mj-lt"/>
              </a:rPr>
              <a:t>Se un socket fallisce viene rimosso dalla lista.</a:t>
            </a:r>
          </a:p>
        </p:txBody>
      </p:sp>
      <p:cxnSp>
        <p:nvCxnSpPr>
          <p:cNvPr id="12" name="Connettore curvo 11">
            <a:extLst>
              <a:ext uri="{FF2B5EF4-FFF2-40B4-BE49-F238E27FC236}">
                <a16:creationId xmlns:a16="http://schemas.microsoft.com/office/drawing/2014/main" id="{30316CCD-BCF1-50D1-3B4A-3659476B9CCA}"/>
              </a:ext>
            </a:extLst>
          </p:cNvPr>
          <p:cNvCxnSpPr>
            <a:cxnSpLocks/>
            <a:stCxn id="11" idx="0"/>
          </p:cNvCxnSpPr>
          <p:nvPr/>
        </p:nvCxnSpPr>
        <p:spPr>
          <a:xfrm rot="5400000" flipH="1" flipV="1">
            <a:off x="2686515" y="2607631"/>
            <a:ext cx="459720" cy="2752032"/>
          </a:xfrm>
          <a:prstGeom prst="curvedConnector2">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6" name="CasellaDiTesto 15">
            <a:extLst>
              <a:ext uri="{FF2B5EF4-FFF2-40B4-BE49-F238E27FC236}">
                <a16:creationId xmlns:a16="http://schemas.microsoft.com/office/drawing/2014/main" id="{F005561D-AB51-6480-3D76-383D7EB14761}"/>
              </a:ext>
            </a:extLst>
          </p:cNvPr>
          <p:cNvSpPr txBox="1"/>
          <p:nvPr/>
        </p:nvSpPr>
        <p:spPr>
          <a:xfrm>
            <a:off x="8704391" y="4075008"/>
            <a:ext cx="3475789" cy="923330"/>
          </a:xfrm>
          <a:prstGeom prst="rect">
            <a:avLst/>
          </a:prstGeom>
          <a:noFill/>
        </p:spPr>
        <p:txBody>
          <a:bodyPr wrap="square">
            <a:spAutoFit/>
          </a:bodyPr>
          <a:lstStyle/>
          <a:p>
            <a:pPr lvl="1" algn="ctr"/>
            <a:r>
              <a:rPr lang="it-IT" dirty="0">
                <a:solidFill>
                  <a:schemeClr val="bg1"/>
                </a:solidFill>
                <a:latin typeface="+mj-lt"/>
              </a:rPr>
              <a:t>Se il numero delle socket aperte è minore di quello richiesto tramite argomento allora se ne creano di nuove.</a:t>
            </a:r>
          </a:p>
        </p:txBody>
      </p:sp>
      <p:cxnSp>
        <p:nvCxnSpPr>
          <p:cNvPr id="17" name="Connettore curvo 16">
            <a:extLst>
              <a:ext uri="{FF2B5EF4-FFF2-40B4-BE49-F238E27FC236}">
                <a16:creationId xmlns:a16="http://schemas.microsoft.com/office/drawing/2014/main" id="{F563143F-C6AC-DE25-5A3A-DEE96603114D}"/>
              </a:ext>
            </a:extLst>
          </p:cNvPr>
          <p:cNvCxnSpPr>
            <a:cxnSpLocks/>
            <a:stCxn id="16" idx="2"/>
          </p:cNvCxnSpPr>
          <p:nvPr/>
        </p:nvCxnSpPr>
        <p:spPr>
          <a:xfrm rot="5400000">
            <a:off x="9209341" y="4217067"/>
            <a:ext cx="451674" cy="2014216"/>
          </a:xfrm>
          <a:prstGeom prst="curvedConnector2">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25" name="Parentesi graffa chiusa 24">
            <a:extLst>
              <a:ext uri="{FF2B5EF4-FFF2-40B4-BE49-F238E27FC236}">
                <a16:creationId xmlns:a16="http://schemas.microsoft.com/office/drawing/2014/main" id="{6F027613-5B8B-3910-274C-2816DA92C291}"/>
              </a:ext>
            </a:extLst>
          </p:cNvPr>
          <p:cNvSpPr/>
          <p:nvPr/>
        </p:nvSpPr>
        <p:spPr>
          <a:xfrm>
            <a:off x="7849459" y="4449044"/>
            <a:ext cx="385739" cy="2001941"/>
          </a:xfrm>
          <a:prstGeom prst="rightBrace">
            <a:avLst>
              <a:gd name="adj1" fmla="val 53795"/>
              <a:gd name="adj2" fmla="val 50000"/>
            </a:avLst>
          </a:prstGeom>
          <a:ln>
            <a:solidFill>
              <a:schemeClr val="bg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it-IT"/>
          </a:p>
        </p:txBody>
      </p:sp>
    </p:spTree>
    <p:extLst>
      <p:ext uri="{BB962C8B-B14F-4D97-AF65-F5344CB8AC3E}">
        <p14:creationId xmlns:p14="http://schemas.microsoft.com/office/powerpoint/2010/main" val="2208738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6EAB00-5D44-8173-6794-FBEF6B4B44B3}"/>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A8366817-7A9B-0279-77F2-E0FB094D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EEEBAE17-D39E-886B-A615-A4FC548EB97D}"/>
              </a:ext>
            </a:extLst>
          </p:cNvPr>
          <p:cNvSpPr txBox="1"/>
          <p:nvPr/>
        </p:nvSpPr>
        <p:spPr>
          <a:xfrm>
            <a:off x="1024127" y="459317"/>
            <a:ext cx="4919471"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02.1.5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funzione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main</a:t>
            </a:r>
          </a:p>
        </p:txBody>
      </p:sp>
      <p:sp>
        <p:nvSpPr>
          <p:cNvPr id="4" name="CasellaDiTesto 3">
            <a:extLst>
              <a:ext uri="{FF2B5EF4-FFF2-40B4-BE49-F238E27FC236}">
                <a16:creationId xmlns:a16="http://schemas.microsoft.com/office/drawing/2014/main" id="{CEB0A69F-EFCD-C45C-5AFC-F8A8875EDCBE}"/>
              </a:ext>
            </a:extLst>
          </p:cNvPr>
          <p:cNvSpPr txBox="1"/>
          <p:nvPr/>
        </p:nvSpPr>
        <p:spPr>
          <a:xfrm>
            <a:off x="6095998" y="923730"/>
            <a:ext cx="6096002" cy="646331"/>
          </a:xfrm>
          <a:prstGeom prst="rect">
            <a:avLst/>
          </a:prstGeom>
          <a:noFill/>
        </p:spPr>
        <p:txBody>
          <a:bodyPr wrap="square">
            <a:spAutoFit/>
          </a:bodyPr>
          <a:lstStyle/>
          <a:p>
            <a:pPr lvl="1" algn="ctr"/>
            <a:r>
              <a:rPr lang="it-IT" dirty="0">
                <a:solidFill>
                  <a:schemeClr val="bg1"/>
                </a:solidFill>
                <a:latin typeface="+mj-lt"/>
              </a:rPr>
              <a:t>E’ la parte di codice che viene eseguita nel momento in cui viene fatto partire lo script.</a:t>
            </a:r>
          </a:p>
        </p:txBody>
      </p:sp>
      <p:pic>
        <p:nvPicPr>
          <p:cNvPr id="2" name="Immagine 1">
            <a:extLst>
              <a:ext uri="{FF2B5EF4-FFF2-40B4-BE49-F238E27FC236}">
                <a16:creationId xmlns:a16="http://schemas.microsoft.com/office/drawing/2014/main" id="{0EC0CF46-5C17-811E-D27E-FF6838ACC334}"/>
              </a:ext>
            </a:extLst>
          </p:cNvPr>
          <p:cNvPicPr/>
          <p:nvPr/>
        </p:nvPicPr>
        <p:blipFill>
          <a:blip r:embed="rId3"/>
          <a:stretch>
            <a:fillRect/>
          </a:stretch>
        </p:blipFill>
        <p:spPr>
          <a:xfrm>
            <a:off x="3609975" y="1852221"/>
            <a:ext cx="4972050" cy="4581525"/>
          </a:xfrm>
          <a:prstGeom prst="rect">
            <a:avLst/>
          </a:prstGeom>
        </p:spPr>
      </p:pic>
      <p:sp>
        <p:nvSpPr>
          <p:cNvPr id="8" name="Parentesi graffa chiusa 7">
            <a:extLst>
              <a:ext uri="{FF2B5EF4-FFF2-40B4-BE49-F238E27FC236}">
                <a16:creationId xmlns:a16="http://schemas.microsoft.com/office/drawing/2014/main" id="{2BCAD8D9-989E-F0D2-6BD7-68ED7D3BABA7}"/>
              </a:ext>
            </a:extLst>
          </p:cNvPr>
          <p:cNvSpPr/>
          <p:nvPr/>
        </p:nvSpPr>
        <p:spPr>
          <a:xfrm rot="10800000">
            <a:off x="3517313" y="2768251"/>
            <a:ext cx="385739" cy="1565754"/>
          </a:xfrm>
          <a:prstGeom prst="rightBrace">
            <a:avLst>
              <a:gd name="adj1" fmla="val 53795"/>
              <a:gd name="adj2" fmla="val 50000"/>
            </a:avLst>
          </a:prstGeom>
          <a:ln>
            <a:solidFill>
              <a:schemeClr val="bg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it-IT"/>
          </a:p>
        </p:txBody>
      </p:sp>
      <p:sp>
        <p:nvSpPr>
          <p:cNvPr id="9" name="Parentesi graffa chiusa 8">
            <a:extLst>
              <a:ext uri="{FF2B5EF4-FFF2-40B4-BE49-F238E27FC236}">
                <a16:creationId xmlns:a16="http://schemas.microsoft.com/office/drawing/2014/main" id="{4DB0C459-EACB-B4F9-ECC2-CB17609E4BEF}"/>
              </a:ext>
            </a:extLst>
          </p:cNvPr>
          <p:cNvSpPr/>
          <p:nvPr/>
        </p:nvSpPr>
        <p:spPr>
          <a:xfrm>
            <a:off x="8288949" y="4684734"/>
            <a:ext cx="385739" cy="1749012"/>
          </a:xfrm>
          <a:prstGeom prst="rightBrace">
            <a:avLst>
              <a:gd name="adj1" fmla="val 53795"/>
              <a:gd name="adj2" fmla="val 50000"/>
            </a:avLst>
          </a:prstGeom>
          <a:ln>
            <a:solidFill>
              <a:schemeClr val="bg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it-IT"/>
          </a:p>
        </p:txBody>
      </p:sp>
      <p:sp>
        <p:nvSpPr>
          <p:cNvPr id="10" name="CasellaDiTesto 9">
            <a:extLst>
              <a:ext uri="{FF2B5EF4-FFF2-40B4-BE49-F238E27FC236}">
                <a16:creationId xmlns:a16="http://schemas.microsoft.com/office/drawing/2014/main" id="{9EB19BF5-BE12-C504-80DC-5A7D1EB7687F}"/>
              </a:ext>
            </a:extLst>
          </p:cNvPr>
          <p:cNvSpPr txBox="1"/>
          <p:nvPr/>
        </p:nvSpPr>
        <p:spPr>
          <a:xfrm>
            <a:off x="403514" y="3227962"/>
            <a:ext cx="3021135" cy="646331"/>
          </a:xfrm>
          <a:prstGeom prst="rect">
            <a:avLst/>
          </a:prstGeom>
          <a:noFill/>
        </p:spPr>
        <p:txBody>
          <a:bodyPr wrap="square">
            <a:spAutoFit/>
          </a:bodyPr>
          <a:lstStyle/>
          <a:p>
            <a:pPr lvl="1" algn="ctr"/>
            <a:r>
              <a:rPr lang="it-IT" dirty="0">
                <a:latin typeface="+mj-lt"/>
              </a:rPr>
              <a:t>Crea un numero di socket pari al numero indicato come argomento.</a:t>
            </a:r>
          </a:p>
        </p:txBody>
      </p:sp>
      <p:sp>
        <p:nvSpPr>
          <p:cNvPr id="13" name="CasellaDiTesto 12">
            <a:extLst>
              <a:ext uri="{FF2B5EF4-FFF2-40B4-BE49-F238E27FC236}">
                <a16:creationId xmlns:a16="http://schemas.microsoft.com/office/drawing/2014/main" id="{26066B99-BEC0-746D-F2AB-1D3234FC8717}"/>
              </a:ext>
            </a:extLst>
          </p:cNvPr>
          <p:cNvSpPr txBox="1"/>
          <p:nvPr/>
        </p:nvSpPr>
        <p:spPr>
          <a:xfrm>
            <a:off x="8288949" y="4959075"/>
            <a:ext cx="3444657" cy="1200329"/>
          </a:xfrm>
          <a:prstGeom prst="rect">
            <a:avLst/>
          </a:prstGeom>
          <a:noFill/>
        </p:spPr>
        <p:txBody>
          <a:bodyPr wrap="square">
            <a:spAutoFit/>
          </a:bodyPr>
          <a:lstStyle/>
          <a:p>
            <a:pPr lvl="1" algn="ctr"/>
            <a:r>
              <a:rPr lang="it-IT" dirty="0">
                <a:solidFill>
                  <a:schemeClr val="bg1"/>
                </a:solidFill>
                <a:latin typeface="+mj-lt"/>
              </a:rPr>
              <a:t>Ripete il ciclo di iterazione all’infinito finché non arriva un interazione con la tastiera </a:t>
            </a:r>
            <a:br>
              <a:rPr lang="it-IT" dirty="0">
                <a:solidFill>
                  <a:schemeClr val="bg1"/>
                </a:solidFill>
                <a:latin typeface="+mj-lt"/>
              </a:rPr>
            </a:br>
            <a:r>
              <a:rPr lang="it-IT" dirty="0">
                <a:solidFill>
                  <a:schemeClr val="bg1"/>
                </a:solidFill>
                <a:latin typeface="+mj-lt"/>
              </a:rPr>
              <a:t>(ad esempio un </a:t>
            </a:r>
            <a:r>
              <a:rPr lang="it-IT" b="1" dirty="0">
                <a:solidFill>
                  <a:schemeClr val="bg1"/>
                </a:solidFill>
                <a:latin typeface="+mj-lt"/>
              </a:rPr>
              <a:t>ctrl+C</a:t>
            </a:r>
            <a:r>
              <a:rPr lang="it-IT" dirty="0">
                <a:solidFill>
                  <a:schemeClr val="bg1"/>
                </a:solidFill>
                <a:latin typeface="+mj-lt"/>
              </a:rPr>
              <a:t>).</a:t>
            </a:r>
          </a:p>
        </p:txBody>
      </p:sp>
    </p:spTree>
    <p:extLst>
      <p:ext uri="{BB962C8B-B14F-4D97-AF65-F5344CB8AC3E}">
        <p14:creationId xmlns:p14="http://schemas.microsoft.com/office/powerpoint/2010/main" val="876462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72D9DA-6DE6-8DCA-D3E6-A39B89780E3B}"/>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6D6B863C-B825-255C-131C-80EEEE14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76C38E9C-B6AF-CC1D-470A-3906B4F734DC}"/>
              </a:ext>
            </a:extLst>
          </p:cNvPr>
          <p:cNvSpPr txBox="1"/>
          <p:nvPr/>
        </p:nvSpPr>
        <p:spPr>
          <a:xfrm>
            <a:off x="1024127" y="459317"/>
            <a:ext cx="4868671"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02.2.1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identificazione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 target</a:t>
            </a:r>
          </a:p>
        </p:txBody>
      </p:sp>
      <p:sp>
        <p:nvSpPr>
          <p:cNvPr id="14" name="CasellaDiTesto 13">
            <a:extLst>
              <a:ext uri="{FF2B5EF4-FFF2-40B4-BE49-F238E27FC236}">
                <a16:creationId xmlns:a16="http://schemas.microsoft.com/office/drawing/2014/main" id="{096DF6A7-9E43-7EB5-6FD2-68AB3232811D}"/>
              </a:ext>
            </a:extLst>
          </p:cNvPr>
          <p:cNvSpPr txBox="1"/>
          <p:nvPr/>
        </p:nvSpPr>
        <p:spPr>
          <a:xfrm>
            <a:off x="6096000" y="1035284"/>
            <a:ext cx="6095998" cy="369332"/>
          </a:xfrm>
          <a:prstGeom prst="rect">
            <a:avLst/>
          </a:prstGeom>
          <a:noFill/>
        </p:spPr>
        <p:txBody>
          <a:bodyPr wrap="square" rtlCol="0">
            <a:spAutoFit/>
          </a:bodyPr>
          <a:lstStyle/>
          <a:p>
            <a:pPr algn="ctr"/>
            <a:r>
              <a:rPr lang="it-IT" dirty="0">
                <a:solidFill>
                  <a:schemeClr val="bg1"/>
                </a:solidFill>
                <a:latin typeface="+mj-lt"/>
              </a:rPr>
              <a:t> Il momento in cui l’attaccante, tramite un</a:t>
            </a:r>
            <a:r>
              <a:rPr lang="it-IT" b="1" dirty="0">
                <a:solidFill>
                  <a:schemeClr val="bg1"/>
                </a:solidFill>
                <a:latin typeface="+mj-lt"/>
              </a:rPr>
              <a:t> mapping</a:t>
            </a:r>
            <a:r>
              <a:rPr lang="it-IT" dirty="0">
                <a:solidFill>
                  <a:schemeClr val="bg1"/>
                </a:solidFill>
                <a:latin typeface="+mj-lt"/>
              </a:rPr>
              <a:t> della rete, riconosce il target.</a:t>
            </a:r>
          </a:p>
        </p:txBody>
      </p:sp>
      <p:sp>
        <p:nvSpPr>
          <p:cNvPr id="15" name="CasellaDiTesto 14">
            <a:extLst>
              <a:ext uri="{FF2B5EF4-FFF2-40B4-BE49-F238E27FC236}">
                <a16:creationId xmlns:a16="http://schemas.microsoft.com/office/drawing/2014/main" id="{4B59A587-0EF9-4460-325F-116A8334EF62}"/>
              </a:ext>
            </a:extLst>
          </p:cNvPr>
          <p:cNvSpPr txBox="1"/>
          <p:nvPr/>
        </p:nvSpPr>
        <p:spPr>
          <a:xfrm>
            <a:off x="0" y="2342403"/>
            <a:ext cx="6096000" cy="369332"/>
          </a:xfrm>
          <a:prstGeom prst="rect">
            <a:avLst/>
          </a:prstGeom>
          <a:noFill/>
        </p:spPr>
        <p:txBody>
          <a:bodyPr wrap="square" rtlCol="0">
            <a:spAutoFit/>
          </a:bodyPr>
          <a:lstStyle/>
          <a:p>
            <a:pPr algn="ctr"/>
            <a:r>
              <a:rPr lang="it-IT" dirty="0">
                <a:latin typeface="+mj-lt"/>
              </a:rPr>
              <a:t>Tramite </a:t>
            </a:r>
            <a:r>
              <a:rPr lang="it-IT" b="1" dirty="0">
                <a:latin typeface="+mj-lt"/>
              </a:rPr>
              <a:t>ifconfig </a:t>
            </a:r>
            <a:r>
              <a:rPr lang="it-IT" dirty="0">
                <a:latin typeface="+mj-lt"/>
              </a:rPr>
              <a:t>l’attaccante riconosce l’indirizzo della propria rete: </a:t>
            </a:r>
          </a:p>
        </p:txBody>
      </p:sp>
      <p:sp>
        <p:nvSpPr>
          <p:cNvPr id="18" name="CasellaDiTesto 17">
            <a:extLst>
              <a:ext uri="{FF2B5EF4-FFF2-40B4-BE49-F238E27FC236}">
                <a16:creationId xmlns:a16="http://schemas.microsoft.com/office/drawing/2014/main" id="{EC549482-023B-EAEF-E3BE-7157EA82B7EB}"/>
              </a:ext>
            </a:extLst>
          </p:cNvPr>
          <p:cNvSpPr txBox="1"/>
          <p:nvPr/>
        </p:nvSpPr>
        <p:spPr>
          <a:xfrm>
            <a:off x="6272517" y="2342403"/>
            <a:ext cx="5808343" cy="369332"/>
          </a:xfrm>
          <a:prstGeom prst="rect">
            <a:avLst/>
          </a:prstGeom>
          <a:noFill/>
        </p:spPr>
        <p:txBody>
          <a:bodyPr wrap="square" rtlCol="0">
            <a:spAutoFit/>
          </a:bodyPr>
          <a:lstStyle/>
          <a:p>
            <a:pPr algn="ctr"/>
            <a:r>
              <a:rPr lang="it-IT" dirty="0">
                <a:solidFill>
                  <a:schemeClr val="bg1"/>
                </a:solidFill>
                <a:latin typeface="+mj-lt"/>
              </a:rPr>
              <a:t>Si esegue un </a:t>
            </a:r>
            <a:r>
              <a:rPr lang="it-IT" b="1" dirty="0">
                <a:solidFill>
                  <a:schemeClr val="bg1"/>
                </a:solidFill>
                <a:latin typeface="+mj-lt"/>
              </a:rPr>
              <a:t>mapping </a:t>
            </a:r>
            <a:r>
              <a:rPr lang="it-IT" dirty="0">
                <a:solidFill>
                  <a:schemeClr val="bg1"/>
                </a:solidFill>
                <a:latin typeface="+mj-lt"/>
              </a:rPr>
              <a:t>sulla propria rete per visualizzare gli host attivi: </a:t>
            </a:r>
          </a:p>
        </p:txBody>
      </p:sp>
      <p:sp>
        <p:nvSpPr>
          <p:cNvPr id="21" name="CasellaDiTesto 20">
            <a:extLst>
              <a:ext uri="{FF2B5EF4-FFF2-40B4-BE49-F238E27FC236}">
                <a16:creationId xmlns:a16="http://schemas.microsoft.com/office/drawing/2014/main" id="{1B5D4EA5-9212-F135-2FBC-0EE712590E28}"/>
              </a:ext>
            </a:extLst>
          </p:cNvPr>
          <p:cNvSpPr txBox="1"/>
          <p:nvPr/>
        </p:nvSpPr>
        <p:spPr>
          <a:xfrm>
            <a:off x="1024127" y="4390822"/>
            <a:ext cx="4108704" cy="369332"/>
          </a:xfrm>
          <a:prstGeom prst="rect">
            <a:avLst/>
          </a:prstGeom>
          <a:noFill/>
        </p:spPr>
        <p:txBody>
          <a:bodyPr wrap="square" rtlCol="0">
            <a:spAutoFit/>
          </a:bodyPr>
          <a:lstStyle/>
          <a:p>
            <a:pPr marL="285750" indent="-285750" algn="ctr">
              <a:buFont typeface="Arial" panose="020B0604020202020204" pitchFamily="34" charset="0"/>
              <a:buChar char="•"/>
            </a:pPr>
            <a:r>
              <a:rPr lang="it-IT" dirty="0">
                <a:latin typeface="+mj-lt"/>
              </a:rPr>
              <a:t>Host delle macchine virtuali che funge da gateway.</a:t>
            </a:r>
          </a:p>
        </p:txBody>
      </p:sp>
      <p:sp>
        <p:nvSpPr>
          <p:cNvPr id="2" name="CasellaDiTesto 1">
            <a:extLst>
              <a:ext uri="{FF2B5EF4-FFF2-40B4-BE49-F238E27FC236}">
                <a16:creationId xmlns:a16="http://schemas.microsoft.com/office/drawing/2014/main" id="{510F6E9B-DF0D-BB02-1749-0FAE25C0FD56}"/>
              </a:ext>
            </a:extLst>
          </p:cNvPr>
          <p:cNvSpPr txBox="1"/>
          <p:nvPr/>
        </p:nvSpPr>
        <p:spPr>
          <a:xfrm>
            <a:off x="1024127" y="5037153"/>
            <a:ext cx="4376928" cy="369332"/>
          </a:xfrm>
          <a:prstGeom prst="rect">
            <a:avLst/>
          </a:prstGeom>
          <a:noFill/>
        </p:spPr>
        <p:txBody>
          <a:bodyPr wrap="square" rtlCol="0">
            <a:spAutoFit/>
          </a:bodyPr>
          <a:lstStyle/>
          <a:p>
            <a:pPr marL="285750" indent="-285750" algn="ctr">
              <a:buFont typeface="Arial" panose="020B0604020202020204" pitchFamily="34" charset="0"/>
              <a:buChar char="•"/>
            </a:pPr>
            <a:r>
              <a:rPr lang="it-IT" dirty="0">
                <a:latin typeface="+mj-lt"/>
              </a:rPr>
              <a:t>Scheda virtuale di Oracle VirtualBox.</a:t>
            </a:r>
          </a:p>
        </p:txBody>
      </p:sp>
      <p:sp>
        <p:nvSpPr>
          <p:cNvPr id="23" name="CasellaDiTesto 22">
            <a:extLst>
              <a:ext uri="{FF2B5EF4-FFF2-40B4-BE49-F238E27FC236}">
                <a16:creationId xmlns:a16="http://schemas.microsoft.com/office/drawing/2014/main" id="{B25B5D20-106B-8AE1-2D79-D2D4415A28A0}"/>
              </a:ext>
            </a:extLst>
          </p:cNvPr>
          <p:cNvSpPr txBox="1"/>
          <p:nvPr/>
        </p:nvSpPr>
        <p:spPr>
          <a:xfrm>
            <a:off x="1025539" y="5628708"/>
            <a:ext cx="4108704" cy="369332"/>
          </a:xfrm>
          <a:prstGeom prst="rect">
            <a:avLst/>
          </a:prstGeom>
          <a:noFill/>
        </p:spPr>
        <p:txBody>
          <a:bodyPr wrap="square" rtlCol="0">
            <a:spAutoFit/>
          </a:bodyPr>
          <a:lstStyle/>
          <a:p>
            <a:pPr marL="285750" indent="-285750" algn="ctr">
              <a:buFont typeface="Arial" panose="020B0604020202020204" pitchFamily="34" charset="0"/>
              <a:buChar char="•"/>
            </a:pPr>
            <a:r>
              <a:rPr lang="it-IT" dirty="0">
                <a:latin typeface="+mj-lt"/>
              </a:rPr>
              <a:t>Possibile target.</a:t>
            </a:r>
          </a:p>
        </p:txBody>
      </p:sp>
      <p:sp>
        <p:nvSpPr>
          <p:cNvPr id="24" name="CasellaDiTesto 23">
            <a:extLst>
              <a:ext uri="{FF2B5EF4-FFF2-40B4-BE49-F238E27FC236}">
                <a16:creationId xmlns:a16="http://schemas.microsoft.com/office/drawing/2014/main" id="{AF353C99-6C67-6B80-5C86-B69A907AD5A0}"/>
              </a:ext>
            </a:extLst>
          </p:cNvPr>
          <p:cNvSpPr txBox="1"/>
          <p:nvPr/>
        </p:nvSpPr>
        <p:spPr>
          <a:xfrm>
            <a:off x="1024127" y="6007436"/>
            <a:ext cx="4108704" cy="369332"/>
          </a:xfrm>
          <a:prstGeom prst="rect">
            <a:avLst/>
          </a:prstGeom>
          <a:noFill/>
        </p:spPr>
        <p:txBody>
          <a:bodyPr wrap="square" rtlCol="0">
            <a:spAutoFit/>
          </a:bodyPr>
          <a:lstStyle/>
          <a:p>
            <a:pPr marL="285750" indent="-285750" algn="ctr">
              <a:buFont typeface="Arial" panose="020B0604020202020204" pitchFamily="34" charset="0"/>
              <a:buChar char="•"/>
            </a:pPr>
            <a:r>
              <a:rPr lang="it-IT" dirty="0">
                <a:latin typeface="+mj-lt"/>
              </a:rPr>
              <a:t>Nmap rileva anche l’ host che esegue il comando.</a:t>
            </a:r>
          </a:p>
        </p:txBody>
      </p:sp>
      <p:sp>
        <p:nvSpPr>
          <p:cNvPr id="26" name="CasellaDiTesto 25">
            <a:extLst>
              <a:ext uri="{FF2B5EF4-FFF2-40B4-BE49-F238E27FC236}">
                <a16:creationId xmlns:a16="http://schemas.microsoft.com/office/drawing/2014/main" id="{E3345A70-FF32-E803-A538-EF1A205F7825}"/>
              </a:ext>
            </a:extLst>
          </p:cNvPr>
          <p:cNvSpPr txBox="1"/>
          <p:nvPr/>
        </p:nvSpPr>
        <p:spPr>
          <a:xfrm>
            <a:off x="6096000" y="5796973"/>
            <a:ext cx="5808343" cy="646331"/>
          </a:xfrm>
          <a:prstGeom prst="rect">
            <a:avLst/>
          </a:prstGeom>
          <a:noFill/>
        </p:spPr>
        <p:txBody>
          <a:bodyPr wrap="square" rtlCol="0">
            <a:spAutoFit/>
          </a:bodyPr>
          <a:lstStyle/>
          <a:p>
            <a:pPr algn="ctr"/>
            <a:r>
              <a:rPr lang="it-IT" dirty="0">
                <a:solidFill>
                  <a:schemeClr val="bg1"/>
                </a:solidFill>
                <a:latin typeface="+mj-lt"/>
              </a:rPr>
              <a:t>Da notare che il mapping è avvenuto utilizzato il protocollo </a:t>
            </a:r>
            <a:r>
              <a:rPr lang="it-IT" b="1" dirty="0">
                <a:solidFill>
                  <a:schemeClr val="bg1"/>
                </a:solidFill>
                <a:latin typeface="+mj-lt"/>
              </a:rPr>
              <a:t>ARP</a:t>
            </a:r>
            <a:r>
              <a:rPr lang="it-IT" dirty="0">
                <a:solidFill>
                  <a:schemeClr val="bg1"/>
                </a:solidFill>
                <a:latin typeface="+mj-lt"/>
              </a:rPr>
              <a:t> e senza richiedere lo scanning delle porte: </a:t>
            </a:r>
            <a:r>
              <a:rPr lang="it-IT" b="1" dirty="0">
                <a:solidFill>
                  <a:schemeClr val="bg1"/>
                </a:solidFill>
                <a:latin typeface="+mj-lt"/>
              </a:rPr>
              <a:t>-sn –PR.</a:t>
            </a:r>
          </a:p>
        </p:txBody>
      </p:sp>
      <p:cxnSp>
        <p:nvCxnSpPr>
          <p:cNvPr id="29" name="Connettore curvo 28">
            <a:extLst>
              <a:ext uri="{FF2B5EF4-FFF2-40B4-BE49-F238E27FC236}">
                <a16:creationId xmlns:a16="http://schemas.microsoft.com/office/drawing/2014/main" id="{DF08AE89-5A6C-2D0C-4C93-751A0FF4260F}"/>
              </a:ext>
            </a:extLst>
          </p:cNvPr>
          <p:cNvCxnSpPr>
            <a:cxnSpLocks/>
          </p:cNvCxnSpPr>
          <p:nvPr/>
        </p:nvCxnSpPr>
        <p:spPr>
          <a:xfrm flipV="1">
            <a:off x="4730496" y="4194048"/>
            <a:ext cx="1772744" cy="1027771"/>
          </a:xfrm>
          <a:prstGeom prst="curvedConnector3">
            <a:avLst>
              <a:gd name="adj1" fmla="val 45874"/>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44" name="Connettore curvo 43">
            <a:extLst>
              <a:ext uri="{FF2B5EF4-FFF2-40B4-BE49-F238E27FC236}">
                <a16:creationId xmlns:a16="http://schemas.microsoft.com/office/drawing/2014/main" id="{5A6F447D-2DF9-9E40-72EC-DAE55DF1E176}"/>
              </a:ext>
            </a:extLst>
          </p:cNvPr>
          <p:cNvCxnSpPr>
            <a:cxnSpLocks/>
          </p:cNvCxnSpPr>
          <p:nvPr/>
        </p:nvCxnSpPr>
        <p:spPr>
          <a:xfrm flipV="1">
            <a:off x="3944112" y="4803648"/>
            <a:ext cx="2559128" cy="1019068"/>
          </a:xfrm>
          <a:prstGeom prst="curvedConnector3">
            <a:avLst>
              <a:gd name="adj1" fmla="val 68104"/>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50" name="Connettore curvo 49">
            <a:extLst>
              <a:ext uri="{FF2B5EF4-FFF2-40B4-BE49-F238E27FC236}">
                <a16:creationId xmlns:a16="http://schemas.microsoft.com/office/drawing/2014/main" id="{D5958DA6-7529-8521-60E8-A7FB8904402B}"/>
              </a:ext>
            </a:extLst>
          </p:cNvPr>
          <p:cNvCxnSpPr>
            <a:cxnSpLocks/>
            <a:stCxn id="24" idx="3"/>
          </p:cNvCxnSpPr>
          <p:nvPr/>
        </p:nvCxnSpPr>
        <p:spPr>
          <a:xfrm flipV="1">
            <a:off x="5132831" y="5221819"/>
            <a:ext cx="1370408" cy="970283"/>
          </a:xfrm>
          <a:prstGeom prst="curvedConnector3">
            <a:avLst>
              <a:gd name="adj1" fmla="val 50000"/>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pic>
        <p:nvPicPr>
          <p:cNvPr id="9" name="Immagine 8" descr="Immagine che contiene testo, Carattere, schermata&#10;&#10;Il contenuto generato dall'IA potrebbe non essere corretto.">
            <a:extLst>
              <a:ext uri="{FF2B5EF4-FFF2-40B4-BE49-F238E27FC236}">
                <a16:creationId xmlns:a16="http://schemas.microsoft.com/office/drawing/2014/main" id="{FA52A758-9C67-4E86-9B05-EC20552D9FF3}"/>
              </a:ext>
            </a:extLst>
          </p:cNvPr>
          <p:cNvPicPr>
            <a:picLocks noChangeAspect="1"/>
          </p:cNvPicPr>
          <p:nvPr/>
        </p:nvPicPr>
        <p:blipFill>
          <a:blip r:embed="rId3"/>
          <a:stretch>
            <a:fillRect/>
          </a:stretch>
        </p:blipFill>
        <p:spPr>
          <a:xfrm>
            <a:off x="33336" y="2711065"/>
            <a:ext cx="6029325" cy="1333500"/>
          </a:xfrm>
          <a:prstGeom prst="rect">
            <a:avLst/>
          </a:prstGeom>
        </p:spPr>
      </p:pic>
      <p:cxnSp>
        <p:nvCxnSpPr>
          <p:cNvPr id="19" name="Connettore curvo 18">
            <a:extLst>
              <a:ext uri="{FF2B5EF4-FFF2-40B4-BE49-F238E27FC236}">
                <a16:creationId xmlns:a16="http://schemas.microsoft.com/office/drawing/2014/main" id="{B219B375-1AD0-0953-6D20-ACB14AD9A93E}"/>
              </a:ext>
            </a:extLst>
          </p:cNvPr>
          <p:cNvCxnSpPr>
            <a:cxnSpLocks/>
          </p:cNvCxnSpPr>
          <p:nvPr/>
        </p:nvCxnSpPr>
        <p:spPr>
          <a:xfrm rot="5400000" flipH="1" flipV="1">
            <a:off x="4435823" y="2323406"/>
            <a:ext cx="710072" cy="3424760"/>
          </a:xfrm>
          <a:prstGeom prst="curvedConnector2">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22" name="Rettangolo 21">
            <a:extLst>
              <a:ext uri="{FF2B5EF4-FFF2-40B4-BE49-F238E27FC236}">
                <a16:creationId xmlns:a16="http://schemas.microsoft.com/office/drawing/2014/main" id="{A5464B7B-3B86-8BA1-3269-6F23EE94167D}"/>
              </a:ext>
            </a:extLst>
          </p:cNvPr>
          <p:cNvSpPr/>
          <p:nvPr/>
        </p:nvSpPr>
        <p:spPr>
          <a:xfrm>
            <a:off x="7989983" y="3200400"/>
            <a:ext cx="1377537"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Rettangolo 24">
            <a:extLst>
              <a:ext uri="{FF2B5EF4-FFF2-40B4-BE49-F238E27FC236}">
                <a16:creationId xmlns:a16="http://schemas.microsoft.com/office/drawing/2014/main" id="{AAA146A2-ECC0-D821-5D55-B450C314405D}"/>
              </a:ext>
            </a:extLst>
          </p:cNvPr>
          <p:cNvSpPr/>
          <p:nvPr/>
        </p:nvSpPr>
        <p:spPr>
          <a:xfrm>
            <a:off x="827183" y="2845269"/>
            <a:ext cx="1377537"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36" name="Immagine 35" descr="Immagine che contiene testo, schermata, Carattere&#10;&#10;Il contenuto generato dall'IA potrebbe non essere corretto.">
            <a:extLst>
              <a:ext uri="{FF2B5EF4-FFF2-40B4-BE49-F238E27FC236}">
                <a16:creationId xmlns:a16="http://schemas.microsoft.com/office/drawing/2014/main" id="{28970753-96A8-A211-5B25-DB852035A3E7}"/>
              </a:ext>
            </a:extLst>
          </p:cNvPr>
          <p:cNvPicPr>
            <a:picLocks noChangeAspect="1"/>
          </p:cNvPicPr>
          <p:nvPr/>
        </p:nvPicPr>
        <p:blipFill>
          <a:blip r:embed="rId4"/>
          <a:stretch>
            <a:fillRect/>
          </a:stretch>
        </p:blipFill>
        <p:spPr>
          <a:xfrm>
            <a:off x="6498333" y="3092024"/>
            <a:ext cx="5406010" cy="2479057"/>
          </a:xfrm>
          <a:prstGeom prst="rect">
            <a:avLst/>
          </a:prstGeom>
        </p:spPr>
      </p:pic>
      <p:sp>
        <p:nvSpPr>
          <p:cNvPr id="39" name="Rettangolo 38">
            <a:extLst>
              <a:ext uri="{FF2B5EF4-FFF2-40B4-BE49-F238E27FC236}">
                <a16:creationId xmlns:a16="http://schemas.microsoft.com/office/drawing/2014/main" id="{7620401F-B1CE-CC08-1A4F-44D21D01BFF2}"/>
              </a:ext>
            </a:extLst>
          </p:cNvPr>
          <p:cNvSpPr/>
          <p:nvPr/>
        </p:nvSpPr>
        <p:spPr>
          <a:xfrm>
            <a:off x="7814931" y="3170389"/>
            <a:ext cx="1552590"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Rettangolo 46">
            <a:extLst>
              <a:ext uri="{FF2B5EF4-FFF2-40B4-BE49-F238E27FC236}">
                <a16:creationId xmlns:a16="http://schemas.microsoft.com/office/drawing/2014/main" id="{9D17BA5E-136D-7F49-E8A7-487E1D209071}"/>
              </a:ext>
            </a:extLst>
          </p:cNvPr>
          <p:cNvSpPr/>
          <p:nvPr/>
        </p:nvSpPr>
        <p:spPr>
          <a:xfrm>
            <a:off x="8155257" y="4491045"/>
            <a:ext cx="1455509"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8" name="Rettangolo 47">
            <a:extLst>
              <a:ext uri="{FF2B5EF4-FFF2-40B4-BE49-F238E27FC236}">
                <a16:creationId xmlns:a16="http://schemas.microsoft.com/office/drawing/2014/main" id="{0D0F7E39-AEF2-42AD-36A4-5F2AF0DA962B}"/>
              </a:ext>
            </a:extLst>
          </p:cNvPr>
          <p:cNvSpPr/>
          <p:nvPr/>
        </p:nvSpPr>
        <p:spPr>
          <a:xfrm>
            <a:off x="8155257" y="4006432"/>
            <a:ext cx="1455509"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 name="Rettangolo 48">
            <a:extLst>
              <a:ext uri="{FF2B5EF4-FFF2-40B4-BE49-F238E27FC236}">
                <a16:creationId xmlns:a16="http://schemas.microsoft.com/office/drawing/2014/main" id="{D5DBEEDC-C1E1-913F-CF47-9A7AA225708C}"/>
              </a:ext>
            </a:extLst>
          </p:cNvPr>
          <p:cNvSpPr/>
          <p:nvPr/>
        </p:nvSpPr>
        <p:spPr>
          <a:xfrm>
            <a:off x="8155257" y="4975658"/>
            <a:ext cx="1455509"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1" name="Rettangolo 50">
            <a:extLst>
              <a:ext uri="{FF2B5EF4-FFF2-40B4-BE49-F238E27FC236}">
                <a16:creationId xmlns:a16="http://schemas.microsoft.com/office/drawing/2014/main" id="{BE3C87C5-BDBD-0EFA-9BBB-586AB3BD7DA5}"/>
              </a:ext>
            </a:extLst>
          </p:cNvPr>
          <p:cNvSpPr/>
          <p:nvPr/>
        </p:nvSpPr>
        <p:spPr>
          <a:xfrm>
            <a:off x="8150350" y="3518190"/>
            <a:ext cx="1455509" cy="32512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3505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C529-8A43-D136-4972-09A5F39F2D79}"/>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6F5D36AF-E619-4ABF-7C5F-1491B39A00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1D1A9D75-43E3-367B-25E8-A186CF5010E1}"/>
              </a:ext>
            </a:extLst>
          </p:cNvPr>
          <p:cNvSpPr txBox="1"/>
          <p:nvPr/>
        </p:nvSpPr>
        <p:spPr>
          <a:xfrm>
            <a:off x="1024127" y="459317"/>
            <a:ext cx="4919471"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02.2.1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identificazione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 target</a:t>
            </a:r>
          </a:p>
        </p:txBody>
      </p:sp>
      <p:sp>
        <p:nvSpPr>
          <p:cNvPr id="12" name="CasellaDiTesto 11">
            <a:extLst>
              <a:ext uri="{FF2B5EF4-FFF2-40B4-BE49-F238E27FC236}">
                <a16:creationId xmlns:a16="http://schemas.microsoft.com/office/drawing/2014/main" id="{17D5CA24-E0DF-B719-E5F0-1747DFE9FC07}"/>
              </a:ext>
            </a:extLst>
          </p:cNvPr>
          <p:cNvSpPr txBox="1"/>
          <p:nvPr/>
        </p:nvSpPr>
        <p:spPr>
          <a:xfrm>
            <a:off x="6835081" y="1175204"/>
            <a:ext cx="4332792" cy="646331"/>
          </a:xfrm>
          <a:prstGeom prst="rect">
            <a:avLst/>
          </a:prstGeom>
          <a:noFill/>
        </p:spPr>
        <p:txBody>
          <a:bodyPr wrap="square" rtlCol="0">
            <a:spAutoFit/>
          </a:bodyPr>
          <a:lstStyle/>
          <a:p>
            <a:pPr algn="ctr"/>
            <a:r>
              <a:rPr lang="it-IT" dirty="0">
                <a:solidFill>
                  <a:schemeClr val="bg1"/>
                </a:solidFill>
                <a:latin typeface="+mj-lt"/>
              </a:rPr>
              <a:t>Individuato il possibile target, gli si chiedono informazioni riguardanti i servizi attivi tramite </a:t>
            </a:r>
            <a:r>
              <a:rPr lang="it-IT" b="1" dirty="0">
                <a:solidFill>
                  <a:schemeClr val="bg1"/>
                </a:solidFill>
                <a:latin typeface="+mj-lt"/>
              </a:rPr>
              <a:t>nmap –A.</a:t>
            </a:r>
            <a:endParaRPr lang="it-IT" dirty="0">
              <a:solidFill>
                <a:schemeClr val="bg1"/>
              </a:solidFill>
              <a:latin typeface="+mj-lt"/>
            </a:endParaRPr>
          </a:p>
        </p:txBody>
      </p:sp>
      <p:sp>
        <p:nvSpPr>
          <p:cNvPr id="16" name="CasellaDiTesto 15">
            <a:extLst>
              <a:ext uri="{FF2B5EF4-FFF2-40B4-BE49-F238E27FC236}">
                <a16:creationId xmlns:a16="http://schemas.microsoft.com/office/drawing/2014/main" id="{8F6B4791-07ED-DE8A-B9C1-51104B0D445B}"/>
              </a:ext>
            </a:extLst>
          </p:cNvPr>
          <p:cNvSpPr txBox="1"/>
          <p:nvPr/>
        </p:nvSpPr>
        <p:spPr>
          <a:xfrm>
            <a:off x="324468" y="2468920"/>
            <a:ext cx="1572210" cy="923330"/>
          </a:xfrm>
          <a:prstGeom prst="rect">
            <a:avLst/>
          </a:prstGeom>
          <a:noFill/>
        </p:spPr>
        <p:txBody>
          <a:bodyPr wrap="square" rtlCol="0">
            <a:spAutoFit/>
          </a:bodyPr>
          <a:lstStyle/>
          <a:p>
            <a:pPr algn="ctr"/>
            <a:r>
              <a:rPr lang="it-IT" dirty="0">
                <a:latin typeface="+mj-lt"/>
              </a:rPr>
              <a:t>Porta 22 aperta con un servizio SSH in esecuzione.</a:t>
            </a:r>
          </a:p>
        </p:txBody>
      </p:sp>
      <p:cxnSp>
        <p:nvCxnSpPr>
          <p:cNvPr id="17" name="Connettore curvo 16">
            <a:extLst>
              <a:ext uri="{FF2B5EF4-FFF2-40B4-BE49-F238E27FC236}">
                <a16:creationId xmlns:a16="http://schemas.microsoft.com/office/drawing/2014/main" id="{F2E6E117-7C36-0F67-8712-10293B908F06}"/>
              </a:ext>
            </a:extLst>
          </p:cNvPr>
          <p:cNvCxnSpPr>
            <a:cxnSpLocks/>
            <a:stCxn id="16" idx="2"/>
          </p:cNvCxnSpPr>
          <p:nvPr/>
        </p:nvCxnSpPr>
        <p:spPr>
          <a:xfrm rot="16200000" flipH="1">
            <a:off x="1898055" y="2604767"/>
            <a:ext cx="171964" cy="1746927"/>
          </a:xfrm>
          <a:prstGeom prst="curvedConnector2">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sp>
        <p:nvSpPr>
          <p:cNvPr id="20" name="CasellaDiTesto 19">
            <a:extLst>
              <a:ext uri="{FF2B5EF4-FFF2-40B4-BE49-F238E27FC236}">
                <a16:creationId xmlns:a16="http://schemas.microsoft.com/office/drawing/2014/main" id="{92A3C2B9-F239-C1BD-0C3B-B1E3372A95E0}"/>
              </a:ext>
            </a:extLst>
          </p:cNvPr>
          <p:cNvSpPr txBox="1"/>
          <p:nvPr/>
        </p:nvSpPr>
        <p:spPr>
          <a:xfrm>
            <a:off x="324465" y="3685011"/>
            <a:ext cx="1572213" cy="923330"/>
          </a:xfrm>
          <a:prstGeom prst="rect">
            <a:avLst/>
          </a:prstGeom>
          <a:noFill/>
        </p:spPr>
        <p:txBody>
          <a:bodyPr wrap="square" rtlCol="0">
            <a:spAutoFit/>
          </a:bodyPr>
          <a:lstStyle/>
          <a:p>
            <a:pPr algn="ctr"/>
            <a:r>
              <a:rPr lang="it-IT" dirty="0">
                <a:latin typeface="+mj-lt"/>
              </a:rPr>
              <a:t>Porta 80 aperta con un servizio apache2 in esecuzione.</a:t>
            </a:r>
          </a:p>
        </p:txBody>
      </p:sp>
      <p:cxnSp>
        <p:nvCxnSpPr>
          <p:cNvPr id="21" name="Connettore curvo 20">
            <a:extLst>
              <a:ext uri="{FF2B5EF4-FFF2-40B4-BE49-F238E27FC236}">
                <a16:creationId xmlns:a16="http://schemas.microsoft.com/office/drawing/2014/main" id="{4C280068-5FE5-F027-4E7F-61F099E7C8EA}"/>
              </a:ext>
            </a:extLst>
          </p:cNvPr>
          <p:cNvCxnSpPr>
            <a:cxnSpLocks/>
            <a:stCxn id="20" idx="2"/>
          </p:cNvCxnSpPr>
          <p:nvPr/>
        </p:nvCxnSpPr>
        <p:spPr>
          <a:xfrm rot="5400000" flipH="1" flipV="1">
            <a:off x="1795269" y="3474678"/>
            <a:ext cx="448965" cy="1818361"/>
          </a:xfrm>
          <a:prstGeom prst="curvedConnector4">
            <a:avLst>
              <a:gd name="adj1" fmla="val -50917"/>
              <a:gd name="adj2" fmla="val 71616"/>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sp>
        <p:nvSpPr>
          <p:cNvPr id="39" name="CasellaDiTesto 38">
            <a:extLst>
              <a:ext uri="{FF2B5EF4-FFF2-40B4-BE49-F238E27FC236}">
                <a16:creationId xmlns:a16="http://schemas.microsoft.com/office/drawing/2014/main" id="{74337B44-E014-37AA-F75D-5C796636BFFF}"/>
              </a:ext>
            </a:extLst>
          </p:cNvPr>
          <p:cNvSpPr txBox="1"/>
          <p:nvPr/>
        </p:nvSpPr>
        <p:spPr>
          <a:xfrm>
            <a:off x="9334503" y="3877716"/>
            <a:ext cx="2645664" cy="369332"/>
          </a:xfrm>
          <a:prstGeom prst="rect">
            <a:avLst/>
          </a:prstGeom>
          <a:noFill/>
        </p:spPr>
        <p:txBody>
          <a:bodyPr wrap="square" rtlCol="0">
            <a:spAutoFit/>
          </a:bodyPr>
          <a:lstStyle/>
          <a:p>
            <a:pPr algn="ctr"/>
            <a:r>
              <a:rPr lang="it-IT" dirty="0">
                <a:solidFill>
                  <a:schemeClr val="bg1"/>
                </a:solidFill>
                <a:latin typeface="+mj-lt"/>
              </a:rPr>
              <a:t>Titolo della Web Application.</a:t>
            </a:r>
          </a:p>
        </p:txBody>
      </p:sp>
      <p:sp>
        <p:nvSpPr>
          <p:cNvPr id="47" name="CasellaDiTesto 46">
            <a:extLst>
              <a:ext uri="{FF2B5EF4-FFF2-40B4-BE49-F238E27FC236}">
                <a16:creationId xmlns:a16="http://schemas.microsoft.com/office/drawing/2014/main" id="{A86E9FE3-3DB3-19D8-E1E6-378B87ECD2A7}"/>
              </a:ext>
            </a:extLst>
          </p:cNvPr>
          <p:cNvSpPr txBox="1"/>
          <p:nvPr/>
        </p:nvSpPr>
        <p:spPr>
          <a:xfrm>
            <a:off x="6525655" y="5315172"/>
            <a:ext cx="5230363" cy="1477328"/>
          </a:xfrm>
          <a:prstGeom prst="rect">
            <a:avLst/>
          </a:prstGeom>
          <a:noFill/>
        </p:spPr>
        <p:txBody>
          <a:bodyPr wrap="square" rtlCol="0">
            <a:spAutoFit/>
          </a:bodyPr>
          <a:lstStyle/>
          <a:p>
            <a:pPr algn="ctr"/>
            <a:r>
              <a:rPr lang="it-IT" b="1" dirty="0">
                <a:solidFill>
                  <a:schemeClr val="bg1"/>
                </a:solidFill>
                <a:latin typeface="+mj-lt"/>
              </a:rPr>
              <a:t>Conclusione</a:t>
            </a:r>
            <a:r>
              <a:rPr lang="it-IT" dirty="0">
                <a:solidFill>
                  <a:schemeClr val="bg1"/>
                </a:solidFill>
                <a:latin typeface="+mj-lt"/>
              </a:rPr>
              <a:t>: l’indirizzo </a:t>
            </a:r>
            <a:r>
              <a:rPr lang="it-IT" b="1" dirty="0">
                <a:solidFill>
                  <a:schemeClr val="bg1"/>
                </a:solidFill>
                <a:latin typeface="+mj-lt"/>
              </a:rPr>
              <a:t>192.168.141.6 </a:t>
            </a:r>
            <a:r>
              <a:rPr lang="it-IT" dirty="0">
                <a:solidFill>
                  <a:schemeClr val="bg1"/>
                </a:solidFill>
                <a:latin typeface="+mj-lt"/>
              </a:rPr>
              <a:t>è un server ubuntu che offre sevizi come SSH HTTP server con pagina di default «home» e contiene al suo interno un database che potrebbe essere utilizzato dalla web application stessa</a:t>
            </a:r>
            <a:r>
              <a:rPr lang="it-IT" b="1" dirty="0">
                <a:solidFill>
                  <a:schemeClr val="bg1"/>
                </a:solidFill>
                <a:effectLst>
                  <a:outerShdw blurRad="38100" dist="38100" dir="2700000" algn="tl">
                    <a:srgbClr val="000000">
                      <a:alpha val="43137"/>
                    </a:srgbClr>
                  </a:outerShdw>
                </a:effectLst>
                <a:latin typeface="+mj-lt"/>
              </a:rPr>
              <a:t>. </a:t>
            </a:r>
            <a:r>
              <a:rPr lang="it-IT" dirty="0">
                <a:solidFill>
                  <a:schemeClr val="bg1"/>
                </a:solidFill>
                <a:latin typeface="+mj-lt"/>
              </a:rPr>
              <a:t>Tutto ciò lo rende vulnerabile ad attacchi di tipo </a:t>
            </a:r>
            <a:r>
              <a:rPr lang="it-IT" dirty="0" err="1">
                <a:solidFill>
                  <a:schemeClr val="bg1"/>
                </a:solidFill>
                <a:latin typeface="+mj-lt"/>
              </a:rPr>
              <a:t>slowloris</a:t>
            </a:r>
            <a:r>
              <a:rPr lang="it-IT" dirty="0">
                <a:solidFill>
                  <a:schemeClr val="bg1"/>
                </a:solidFill>
                <a:latin typeface="+mj-lt"/>
              </a:rPr>
              <a:t>. </a:t>
            </a:r>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AFCADCE2-9DF5-1E12-C437-3A720686C7FD}"/>
              </a:ext>
            </a:extLst>
          </p:cNvPr>
          <p:cNvPicPr>
            <a:picLocks noChangeAspect="1"/>
          </p:cNvPicPr>
          <p:nvPr/>
        </p:nvPicPr>
        <p:blipFill>
          <a:blip r:embed="rId3"/>
          <a:stretch>
            <a:fillRect/>
          </a:stretch>
        </p:blipFill>
        <p:spPr>
          <a:xfrm>
            <a:off x="2928935" y="2405036"/>
            <a:ext cx="6334125" cy="2447925"/>
          </a:xfrm>
          <a:prstGeom prst="rect">
            <a:avLst/>
          </a:prstGeom>
        </p:spPr>
      </p:pic>
      <p:cxnSp>
        <p:nvCxnSpPr>
          <p:cNvPr id="11" name="Connettore curvo 10">
            <a:extLst>
              <a:ext uri="{FF2B5EF4-FFF2-40B4-BE49-F238E27FC236}">
                <a16:creationId xmlns:a16="http://schemas.microsoft.com/office/drawing/2014/main" id="{C51E4F85-B26D-03CE-F973-5568BCBF98C8}"/>
              </a:ext>
            </a:extLst>
          </p:cNvPr>
          <p:cNvCxnSpPr>
            <a:cxnSpLocks/>
            <a:stCxn id="39" idx="2"/>
          </p:cNvCxnSpPr>
          <p:nvPr/>
        </p:nvCxnSpPr>
        <p:spPr>
          <a:xfrm rot="5400000">
            <a:off x="8400400" y="2267111"/>
            <a:ext cx="276999" cy="4236872"/>
          </a:xfrm>
          <a:prstGeom prst="curvedConnector2">
            <a:avLst/>
          </a:prstGeom>
          <a:ln>
            <a:solidFill>
              <a:schemeClr val="bg1"/>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540375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F85B79-C8E8-23DC-3683-ED0692C93348}"/>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5B82FB23-7E1E-0721-230F-6CAD7FB8D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8BBFD43C-D2E6-AB3E-6D3B-CF8AEB19DD3D}"/>
              </a:ext>
            </a:extLst>
          </p:cNvPr>
          <p:cNvSpPr txBox="1"/>
          <p:nvPr/>
        </p:nvSpPr>
        <p:spPr>
          <a:xfrm>
            <a:off x="1024127" y="459316"/>
            <a:ext cx="5071871" cy="1954137"/>
          </a:xfrm>
          <a:prstGeom prst="rect">
            <a:avLst/>
          </a:prstGeom>
        </p:spPr>
        <p:txBody>
          <a:bodyPr vert="horz" lIns="91440" tIns="45720" rIns="91440" bIns="45720" rtlCol="0" anchor="ctr">
            <a:normAutofit fontScale="92500" lnSpcReduction="20000"/>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02.2.2 – </a:t>
            </a:r>
          </a:p>
          <a:p>
            <a:pP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verifica</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corretto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funzionamento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 server </a:t>
            </a:r>
            <a:b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br>
            <a:r>
              <a:rPr lang="en-US" sz="19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(TOOL: </a:t>
            </a:r>
            <a:r>
              <a:rPr lang="en-US" sz="19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wireshark</a:t>
            </a:r>
            <a:r>
              <a:rPr lang="en-US" sz="19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sp>
        <p:nvSpPr>
          <p:cNvPr id="4" name="CasellaDiTesto 3">
            <a:extLst>
              <a:ext uri="{FF2B5EF4-FFF2-40B4-BE49-F238E27FC236}">
                <a16:creationId xmlns:a16="http://schemas.microsoft.com/office/drawing/2014/main" id="{D2C5741E-EFED-7451-E6C6-1DAC393B0C3F}"/>
              </a:ext>
            </a:extLst>
          </p:cNvPr>
          <p:cNvSpPr txBox="1"/>
          <p:nvPr/>
        </p:nvSpPr>
        <p:spPr>
          <a:xfrm>
            <a:off x="6826859" y="1027458"/>
            <a:ext cx="4853653" cy="923330"/>
          </a:xfrm>
          <a:prstGeom prst="rect">
            <a:avLst/>
          </a:prstGeom>
          <a:noFill/>
        </p:spPr>
        <p:txBody>
          <a:bodyPr wrap="square" rtlCol="0">
            <a:spAutoFit/>
          </a:bodyPr>
          <a:lstStyle/>
          <a:p>
            <a:pPr algn="ctr"/>
            <a:r>
              <a:rPr lang="it-IT" dirty="0">
                <a:solidFill>
                  <a:schemeClr val="bg1"/>
                </a:solidFill>
                <a:latin typeface="+mj-lt"/>
              </a:rPr>
              <a:t>Prima che lo script dell’attacco venga mandato in esecuzione il server risponde correttamente e in maniera rapida alle richieste effettuate da un client legittimo. </a:t>
            </a:r>
          </a:p>
        </p:txBody>
      </p:sp>
      <p:sp>
        <p:nvSpPr>
          <p:cNvPr id="11" name="CasellaDiTesto 10">
            <a:extLst>
              <a:ext uri="{FF2B5EF4-FFF2-40B4-BE49-F238E27FC236}">
                <a16:creationId xmlns:a16="http://schemas.microsoft.com/office/drawing/2014/main" id="{50CDF790-AB4C-58E8-CBE7-AD9084837819}"/>
              </a:ext>
            </a:extLst>
          </p:cNvPr>
          <p:cNvSpPr txBox="1"/>
          <p:nvPr/>
        </p:nvSpPr>
        <p:spPr>
          <a:xfrm>
            <a:off x="6250329" y="2793787"/>
            <a:ext cx="5209111" cy="369332"/>
          </a:xfrm>
          <a:prstGeom prst="rect">
            <a:avLst/>
          </a:prstGeom>
          <a:noFill/>
        </p:spPr>
        <p:txBody>
          <a:bodyPr wrap="square" rtlCol="0">
            <a:spAutoFit/>
          </a:bodyPr>
          <a:lstStyle/>
          <a:p>
            <a:pPr algn="ctr"/>
            <a:r>
              <a:rPr lang="it-IT" dirty="0">
                <a:solidFill>
                  <a:schemeClr val="bg1"/>
                </a:solidFill>
                <a:latin typeface="+mj-lt"/>
              </a:rPr>
              <a:t>Scambio di messaggi TCP/IP e HTTP con il client: </a:t>
            </a:r>
          </a:p>
        </p:txBody>
      </p:sp>
      <p:sp>
        <p:nvSpPr>
          <p:cNvPr id="2" name="CasellaDiTesto 1">
            <a:extLst>
              <a:ext uri="{FF2B5EF4-FFF2-40B4-BE49-F238E27FC236}">
                <a16:creationId xmlns:a16="http://schemas.microsoft.com/office/drawing/2014/main" id="{623F1677-908C-4AD4-3AA8-9A6A835106AC}"/>
              </a:ext>
            </a:extLst>
          </p:cNvPr>
          <p:cNvSpPr txBox="1"/>
          <p:nvPr/>
        </p:nvSpPr>
        <p:spPr>
          <a:xfrm>
            <a:off x="37834" y="2820011"/>
            <a:ext cx="2002536" cy="369332"/>
          </a:xfrm>
          <a:prstGeom prst="rect">
            <a:avLst/>
          </a:prstGeom>
          <a:noFill/>
        </p:spPr>
        <p:txBody>
          <a:bodyPr wrap="square" rtlCol="0">
            <a:spAutoFit/>
          </a:bodyPr>
          <a:lstStyle/>
          <a:p>
            <a:pPr algn="ctr"/>
            <a:r>
              <a:rPr lang="it-IT" dirty="0">
                <a:latin typeface="+mj-lt"/>
              </a:rPr>
              <a:t>TCP handshake </a:t>
            </a:r>
          </a:p>
        </p:txBody>
      </p:sp>
      <p:cxnSp>
        <p:nvCxnSpPr>
          <p:cNvPr id="49" name="Connettore curvo 48">
            <a:extLst>
              <a:ext uri="{FF2B5EF4-FFF2-40B4-BE49-F238E27FC236}">
                <a16:creationId xmlns:a16="http://schemas.microsoft.com/office/drawing/2014/main" id="{4B281496-117B-FCA3-AC11-249036149B7C}"/>
              </a:ext>
            </a:extLst>
          </p:cNvPr>
          <p:cNvCxnSpPr>
            <a:cxnSpLocks/>
            <a:stCxn id="2" idx="2"/>
            <a:endCxn id="26" idx="1"/>
          </p:cNvCxnSpPr>
          <p:nvPr/>
        </p:nvCxnSpPr>
        <p:spPr>
          <a:xfrm rot="16200000" flipH="1">
            <a:off x="1153548" y="3074897"/>
            <a:ext cx="400108" cy="629000"/>
          </a:xfrm>
          <a:prstGeom prst="curvedConnector2">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54" name="CasellaDiTesto 53">
            <a:extLst>
              <a:ext uri="{FF2B5EF4-FFF2-40B4-BE49-F238E27FC236}">
                <a16:creationId xmlns:a16="http://schemas.microsoft.com/office/drawing/2014/main" id="{7DD0EFEB-9413-E8E8-BD2C-D75B6F686492}"/>
              </a:ext>
            </a:extLst>
          </p:cNvPr>
          <p:cNvSpPr txBox="1"/>
          <p:nvPr/>
        </p:nvSpPr>
        <p:spPr>
          <a:xfrm>
            <a:off x="-366311" y="5847910"/>
            <a:ext cx="2463886" cy="369332"/>
          </a:xfrm>
          <a:prstGeom prst="rect">
            <a:avLst/>
          </a:prstGeom>
          <a:noFill/>
        </p:spPr>
        <p:txBody>
          <a:bodyPr wrap="square" rtlCol="0">
            <a:spAutoFit/>
          </a:bodyPr>
          <a:lstStyle/>
          <a:p>
            <a:pPr algn="ctr"/>
            <a:r>
              <a:rPr lang="it-IT" dirty="0">
                <a:latin typeface="+mj-lt"/>
              </a:rPr>
              <a:t>HTTP GET request </a:t>
            </a:r>
          </a:p>
        </p:txBody>
      </p:sp>
      <p:cxnSp>
        <p:nvCxnSpPr>
          <p:cNvPr id="55" name="Connettore curvo 54">
            <a:extLst>
              <a:ext uri="{FF2B5EF4-FFF2-40B4-BE49-F238E27FC236}">
                <a16:creationId xmlns:a16="http://schemas.microsoft.com/office/drawing/2014/main" id="{F2D48838-061E-3D72-5C87-5F2C541D773D}"/>
              </a:ext>
            </a:extLst>
          </p:cNvPr>
          <p:cNvCxnSpPr>
            <a:cxnSpLocks/>
          </p:cNvCxnSpPr>
          <p:nvPr/>
        </p:nvCxnSpPr>
        <p:spPr>
          <a:xfrm rot="5400000" flipH="1" flipV="1">
            <a:off x="-17794" y="4247263"/>
            <a:ext cx="1865254" cy="1313666"/>
          </a:xfrm>
          <a:prstGeom prst="curvedConnector3">
            <a:avLst>
              <a:gd name="adj1" fmla="val 99676"/>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62" name="CasellaDiTesto 61">
            <a:extLst>
              <a:ext uri="{FF2B5EF4-FFF2-40B4-BE49-F238E27FC236}">
                <a16:creationId xmlns:a16="http://schemas.microsoft.com/office/drawing/2014/main" id="{E3AB37EE-C837-D9D6-5412-59E8EC23578C}"/>
              </a:ext>
            </a:extLst>
          </p:cNvPr>
          <p:cNvSpPr txBox="1"/>
          <p:nvPr/>
        </p:nvSpPr>
        <p:spPr>
          <a:xfrm>
            <a:off x="688732" y="5042595"/>
            <a:ext cx="4049268" cy="369332"/>
          </a:xfrm>
          <a:prstGeom prst="rect">
            <a:avLst/>
          </a:prstGeom>
          <a:noFill/>
        </p:spPr>
        <p:txBody>
          <a:bodyPr wrap="square" rtlCol="0">
            <a:spAutoFit/>
          </a:bodyPr>
          <a:lstStyle/>
          <a:p>
            <a:pPr algn="ctr"/>
            <a:r>
              <a:rPr lang="it-IT" dirty="0">
                <a:latin typeface="+mj-lt"/>
              </a:rPr>
              <a:t>HTTP GET responce: 200 OK (richiesta esaudita) </a:t>
            </a:r>
          </a:p>
        </p:txBody>
      </p:sp>
      <p:cxnSp>
        <p:nvCxnSpPr>
          <p:cNvPr id="65" name="Connettore curvo 64">
            <a:extLst>
              <a:ext uri="{FF2B5EF4-FFF2-40B4-BE49-F238E27FC236}">
                <a16:creationId xmlns:a16="http://schemas.microsoft.com/office/drawing/2014/main" id="{6ECC98C0-3B32-D20F-FCFB-F0351582BA58}"/>
              </a:ext>
            </a:extLst>
          </p:cNvPr>
          <p:cNvCxnSpPr>
            <a:cxnSpLocks/>
          </p:cNvCxnSpPr>
          <p:nvPr/>
        </p:nvCxnSpPr>
        <p:spPr>
          <a:xfrm rot="5400000" flipH="1" flipV="1">
            <a:off x="972642" y="4463232"/>
            <a:ext cx="759580" cy="464585"/>
          </a:xfrm>
          <a:prstGeom prst="curvedConnector3">
            <a:avLst>
              <a:gd name="adj1" fmla="val 99758"/>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70" name="CasellaDiTesto 69">
            <a:extLst>
              <a:ext uri="{FF2B5EF4-FFF2-40B4-BE49-F238E27FC236}">
                <a16:creationId xmlns:a16="http://schemas.microsoft.com/office/drawing/2014/main" id="{11619397-99FC-6E7E-B734-89D4DB9916FC}"/>
              </a:ext>
            </a:extLst>
          </p:cNvPr>
          <p:cNvSpPr txBox="1"/>
          <p:nvPr/>
        </p:nvSpPr>
        <p:spPr>
          <a:xfrm>
            <a:off x="5590032" y="4904096"/>
            <a:ext cx="5736336" cy="923330"/>
          </a:xfrm>
          <a:prstGeom prst="rect">
            <a:avLst/>
          </a:prstGeom>
          <a:noFill/>
        </p:spPr>
        <p:txBody>
          <a:bodyPr wrap="square" rtlCol="0">
            <a:spAutoFit/>
          </a:bodyPr>
          <a:lstStyle/>
          <a:p>
            <a:pPr algn="ctr"/>
            <a:r>
              <a:rPr lang="it-IT" dirty="0">
                <a:solidFill>
                  <a:schemeClr val="bg1"/>
                </a:solidFill>
                <a:latin typeface="+mj-lt"/>
              </a:rPr>
              <a:t>TCP ACK:</a:t>
            </a:r>
            <a:br>
              <a:rPr lang="it-IT" dirty="0">
                <a:solidFill>
                  <a:schemeClr val="bg1"/>
                </a:solidFill>
                <a:latin typeface="+mj-lt"/>
              </a:rPr>
            </a:br>
            <a:r>
              <a:rPr lang="it-IT" dirty="0">
                <a:solidFill>
                  <a:schemeClr val="bg1"/>
                </a:solidFill>
                <a:latin typeface="+mj-lt"/>
              </a:rPr>
              <a:t>Avvenuta corretta ricezione della richiesta</a:t>
            </a:r>
            <a:br>
              <a:rPr lang="it-IT" dirty="0">
                <a:solidFill>
                  <a:schemeClr val="bg1"/>
                </a:solidFill>
                <a:latin typeface="+mj-lt"/>
              </a:rPr>
            </a:br>
            <a:r>
              <a:rPr lang="it-IT" dirty="0">
                <a:solidFill>
                  <a:schemeClr val="bg1"/>
                </a:solidFill>
                <a:latin typeface="+mj-lt"/>
              </a:rPr>
              <a:t>Avvenuta corretta ricezione della risposta</a:t>
            </a:r>
          </a:p>
        </p:txBody>
      </p:sp>
      <p:pic>
        <p:nvPicPr>
          <p:cNvPr id="5" name="Immagine 4" descr="Immagine che contiene testo, Carattere, Elementi grafici, schermata&#10;&#10;Descrizione generata automaticamente">
            <a:extLst>
              <a:ext uri="{FF2B5EF4-FFF2-40B4-BE49-F238E27FC236}">
                <a16:creationId xmlns:a16="http://schemas.microsoft.com/office/drawing/2014/main" id="{FC680D06-7A02-69F2-569B-D48E9DCFF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172573"/>
            <a:ext cx="1461718" cy="475604"/>
          </a:xfrm>
          <a:prstGeom prst="rect">
            <a:avLst/>
          </a:prstGeom>
        </p:spPr>
      </p:pic>
      <p:pic>
        <p:nvPicPr>
          <p:cNvPr id="12" name="Immagine 11" descr="Immagine che contiene testo, Carattere, numero, schermata&#10;&#10;Il contenuto generato dall'IA potrebbe non essere corretto.">
            <a:extLst>
              <a:ext uri="{FF2B5EF4-FFF2-40B4-BE49-F238E27FC236}">
                <a16:creationId xmlns:a16="http://schemas.microsoft.com/office/drawing/2014/main" id="{0178F7B4-6F2A-8A27-1E1C-54D1EF8171FC}"/>
              </a:ext>
            </a:extLst>
          </p:cNvPr>
          <p:cNvPicPr>
            <a:picLocks noChangeAspect="1"/>
          </p:cNvPicPr>
          <p:nvPr/>
        </p:nvPicPr>
        <p:blipFill>
          <a:blip r:embed="rId4"/>
          <a:srcRect r="18695" b="1776"/>
          <a:stretch>
            <a:fillRect/>
          </a:stretch>
        </p:blipFill>
        <p:spPr>
          <a:xfrm>
            <a:off x="1739056" y="3101220"/>
            <a:ext cx="8829675" cy="1525218"/>
          </a:xfrm>
          <a:prstGeom prst="rect">
            <a:avLst/>
          </a:prstGeom>
        </p:spPr>
      </p:pic>
      <p:cxnSp>
        <p:nvCxnSpPr>
          <p:cNvPr id="17" name="Connettore curvo 16">
            <a:extLst>
              <a:ext uri="{FF2B5EF4-FFF2-40B4-BE49-F238E27FC236}">
                <a16:creationId xmlns:a16="http://schemas.microsoft.com/office/drawing/2014/main" id="{00F4D16E-8EC0-CE3D-DAC5-1A148B97AC7A}"/>
              </a:ext>
            </a:extLst>
          </p:cNvPr>
          <p:cNvCxnSpPr>
            <a:cxnSpLocks/>
          </p:cNvCxnSpPr>
          <p:nvPr/>
        </p:nvCxnSpPr>
        <p:spPr>
          <a:xfrm rot="10800000">
            <a:off x="4683255" y="4614144"/>
            <a:ext cx="2287817" cy="1025421"/>
          </a:xfrm>
          <a:prstGeom prst="curvedConnector3">
            <a:avLst>
              <a:gd name="adj1" fmla="val 62463"/>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cxnSp>
        <p:nvCxnSpPr>
          <p:cNvPr id="20" name="Connettore curvo 19">
            <a:extLst>
              <a:ext uri="{FF2B5EF4-FFF2-40B4-BE49-F238E27FC236}">
                <a16:creationId xmlns:a16="http://schemas.microsoft.com/office/drawing/2014/main" id="{ABFCC682-AA0C-5CFE-DB2F-08E69EB5907D}"/>
              </a:ext>
            </a:extLst>
          </p:cNvPr>
          <p:cNvCxnSpPr>
            <a:cxnSpLocks/>
          </p:cNvCxnSpPr>
          <p:nvPr/>
        </p:nvCxnSpPr>
        <p:spPr>
          <a:xfrm rot="10800000">
            <a:off x="4792749" y="4146964"/>
            <a:ext cx="2178322" cy="1218797"/>
          </a:xfrm>
          <a:prstGeom prst="curvedConnector3">
            <a:avLst>
              <a:gd name="adj1" fmla="val 50000"/>
            </a:avLst>
          </a:prstGeom>
          <a:ln>
            <a:solidFill>
              <a:schemeClr val="tx1"/>
            </a:solidFill>
            <a:tailEnd type="triangle"/>
          </a:ln>
        </p:spPr>
        <p:style>
          <a:lnRef idx="3">
            <a:schemeClr val="accent3"/>
          </a:lnRef>
          <a:fillRef idx="0">
            <a:schemeClr val="accent3"/>
          </a:fillRef>
          <a:effectRef idx="2">
            <a:schemeClr val="accent3"/>
          </a:effectRef>
          <a:fontRef idx="minor">
            <a:schemeClr val="tx1"/>
          </a:fontRef>
        </p:style>
      </p:cxnSp>
      <p:sp>
        <p:nvSpPr>
          <p:cNvPr id="26" name="Rettangolo 25">
            <a:extLst>
              <a:ext uri="{FF2B5EF4-FFF2-40B4-BE49-F238E27FC236}">
                <a16:creationId xmlns:a16="http://schemas.microsoft.com/office/drawing/2014/main" id="{90C96311-E43D-6669-0F4D-164F21AD705E}"/>
              </a:ext>
            </a:extLst>
          </p:cNvPr>
          <p:cNvSpPr/>
          <p:nvPr/>
        </p:nvSpPr>
        <p:spPr>
          <a:xfrm>
            <a:off x="1668102" y="3343538"/>
            <a:ext cx="4498850" cy="491826"/>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 name="Rettangolo 29">
            <a:extLst>
              <a:ext uri="{FF2B5EF4-FFF2-40B4-BE49-F238E27FC236}">
                <a16:creationId xmlns:a16="http://schemas.microsoft.com/office/drawing/2014/main" id="{22C84445-592E-E381-88D1-A0206EBAF59F}"/>
              </a:ext>
            </a:extLst>
          </p:cNvPr>
          <p:cNvSpPr/>
          <p:nvPr/>
        </p:nvSpPr>
        <p:spPr>
          <a:xfrm>
            <a:off x="1739056" y="3864477"/>
            <a:ext cx="4537390" cy="522027"/>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63912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37BEAF-6C0C-04D5-CC74-E1242342EDDE}"/>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D5C2D0C1-A8B0-881A-7FB5-8AF841ADA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67A3C220-656D-7B82-15CE-3658FF6CE398}"/>
              </a:ext>
            </a:extLst>
          </p:cNvPr>
          <p:cNvSpPr txBox="1"/>
          <p:nvPr/>
        </p:nvSpPr>
        <p:spPr>
          <a:xfrm>
            <a:off x="1024127" y="459316"/>
            <a:ext cx="5071871" cy="1954137"/>
          </a:xfrm>
          <a:prstGeom prst="rect">
            <a:avLst/>
          </a:prstGeom>
        </p:spPr>
        <p:txBody>
          <a:bodyPr vert="horz" lIns="91440" tIns="45720" rIns="91440" bIns="45720" rtlCol="0" anchor="ctr">
            <a:normAutofit fontScale="92500" lnSpcReduction="10000"/>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02.2.2 – </a:t>
            </a:r>
          </a:p>
          <a:p>
            <a:pPr defTabSz="914400">
              <a:lnSpc>
                <a:spcPct val="80000"/>
              </a:lnSpc>
              <a:spcBef>
                <a:spcPct val="0"/>
              </a:spcBef>
              <a:spcAft>
                <a:spcPts val="600"/>
              </a:spcAft>
            </a:pP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verifica</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corretto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funzionamento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 server</a:t>
            </a:r>
          </a:p>
        </p:txBody>
      </p:sp>
      <p:sp>
        <p:nvSpPr>
          <p:cNvPr id="12" name="CasellaDiTesto 11">
            <a:extLst>
              <a:ext uri="{FF2B5EF4-FFF2-40B4-BE49-F238E27FC236}">
                <a16:creationId xmlns:a16="http://schemas.microsoft.com/office/drawing/2014/main" id="{C7FC5811-2CED-DECC-CAD6-63E14CEFF892}"/>
              </a:ext>
            </a:extLst>
          </p:cNvPr>
          <p:cNvSpPr txBox="1"/>
          <p:nvPr/>
        </p:nvSpPr>
        <p:spPr>
          <a:xfrm>
            <a:off x="7058485" y="877474"/>
            <a:ext cx="4363052" cy="646331"/>
          </a:xfrm>
          <a:prstGeom prst="rect">
            <a:avLst/>
          </a:prstGeom>
          <a:noFill/>
        </p:spPr>
        <p:txBody>
          <a:bodyPr wrap="square" rtlCol="0">
            <a:spAutoFit/>
          </a:bodyPr>
          <a:lstStyle/>
          <a:p>
            <a:pPr algn="ctr"/>
            <a:r>
              <a:rPr lang="it-IT" dirty="0">
                <a:solidFill>
                  <a:schemeClr val="bg1"/>
                </a:solidFill>
                <a:latin typeface="+mj-lt"/>
              </a:rPr>
              <a:t>Oltre allo scambio di pacchetti standard è opportuno notare anche:</a:t>
            </a:r>
          </a:p>
        </p:txBody>
      </p:sp>
      <p:sp>
        <p:nvSpPr>
          <p:cNvPr id="6" name="CasellaDiTesto 5">
            <a:extLst>
              <a:ext uri="{FF2B5EF4-FFF2-40B4-BE49-F238E27FC236}">
                <a16:creationId xmlns:a16="http://schemas.microsoft.com/office/drawing/2014/main" id="{B992D9B4-DF2F-DC66-7DFC-C522E4A91730}"/>
              </a:ext>
            </a:extLst>
          </p:cNvPr>
          <p:cNvSpPr txBox="1"/>
          <p:nvPr/>
        </p:nvSpPr>
        <p:spPr>
          <a:xfrm>
            <a:off x="1452802" y="2645940"/>
            <a:ext cx="3285744" cy="369332"/>
          </a:xfrm>
          <a:prstGeom prst="rect">
            <a:avLst/>
          </a:prstGeom>
          <a:noFill/>
        </p:spPr>
        <p:txBody>
          <a:bodyPr wrap="square" rtlCol="0">
            <a:spAutoFit/>
          </a:bodyPr>
          <a:lstStyle/>
          <a:p>
            <a:pPr algn="ctr"/>
            <a:r>
              <a:rPr lang="it-IT" dirty="0">
                <a:latin typeface="+mj-lt"/>
              </a:rPr>
              <a:t>Caricamento risorse WEB: </a:t>
            </a:r>
          </a:p>
        </p:txBody>
      </p:sp>
      <p:sp>
        <p:nvSpPr>
          <p:cNvPr id="7" name="CasellaDiTesto 6">
            <a:extLst>
              <a:ext uri="{FF2B5EF4-FFF2-40B4-BE49-F238E27FC236}">
                <a16:creationId xmlns:a16="http://schemas.microsoft.com/office/drawing/2014/main" id="{322D94D4-D220-132F-9990-1EBC92A70B89}"/>
              </a:ext>
            </a:extLst>
          </p:cNvPr>
          <p:cNvSpPr txBox="1"/>
          <p:nvPr/>
        </p:nvSpPr>
        <p:spPr>
          <a:xfrm>
            <a:off x="6095998" y="2149287"/>
            <a:ext cx="6095998" cy="369332"/>
          </a:xfrm>
          <a:prstGeom prst="rect">
            <a:avLst/>
          </a:prstGeom>
          <a:noFill/>
        </p:spPr>
        <p:txBody>
          <a:bodyPr wrap="square" rtlCol="0">
            <a:spAutoFit/>
          </a:bodyPr>
          <a:lstStyle/>
          <a:p>
            <a:pPr algn="ctr"/>
            <a:r>
              <a:rPr lang="it-IT" dirty="0">
                <a:solidFill>
                  <a:schemeClr val="bg1"/>
                </a:solidFill>
                <a:latin typeface="+mj-lt"/>
              </a:rPr>
              <a:t>Utilizzo banda di rete nella norma: </a:t>
            </a:r>
          </a:p>
        </p:txBody>
      </p:sp>
      <p:sp>
        <p:nvSpPr>
          <p:cNvPr id="15" name="CasellaDiTesto 14">
            <a:extLst>
              <a:ext uri="{FF2B5EF4-FFF2-40B4-BE49-F238E27FC236}">
                <a16:creationId xmlns:a16="http://schemas.microsoft.com/office/drawing/2014/main" id="{9E3DFED8-A802-5253-1BA1-644E2D036B03}"/>
              </a:ext>
            </a:extLst>
          </p:cNvPr>
          <p:cNvSpPr txBox="1"/>
          <p:nvPr/>
        </p:nvSpPr>
        <p:spPr>
          <a:xfrm>
            <a:off x="6743604" y="2645940"/>
            <a:ext cx="2125022" cy="369332"/>
          </a:xfrm>
          <a:prstGeom prst="rect">
            <a:avLst/>
          </a:prstGeom>
          <a:noFill/>
        </p:spPr>
        <p:txBody>
          <a:bodyPr wrap="square" rtlCol="0">
            <a:spAutoFit/>
          </a:bodyPr>
          <a:lstStyle/>
          <a:p>
            <a:pPr algn="ctr"/>
            <a:r>
              <a:rPr lang="it-IT" dirty="0">
                <a:solidFill>
                  <a:schemeClr val="bg1"/>
                </a:solidFill>
                <a:latin typeface="+mj-lt"/>
              </a:rPr>
              <a:t>In entrata </a:t>
            </a:r>
          </a:p>
        </p:txBody>
      </p:sp>
      <p:sp>
        <p:nvSpPr>
          <p:cNvPr id="18" name="CasellaDiTesto 17">
            <a:extLst>
              <a:ext uri="{FF2B5EF4-FFF2-40B4-BE49-F238E27FC236}">
                <a16:creationId xmlns:a16="http://schemas.microsoft.com/office/drawing/2014/main" id="{FA6A4E3E-DA53-1046-A9F8-D29095F59603}"/>
              </a:ext>
            </a:extLst>
          </p:cNvPr>
          <p:cNvSpPr txBox="1"/>
          <p:nvPr/>
        </p:nvSpPr>
        <p:spPr>
          <a:xfrm>
            <a:off x="9143997" y="2645940"/>
            <a:ext cx="2125021" cy="369332"/>
          </a:xfrm>
          <a:prstGeom prst="rect">
            <a:avLst/>
          </a:prstGeom>
          <a:noFill/>
        </p:spPr>
        <p:txBody>
          <a:bodyPr wrap="square" rtlCol="0">
            <a:spAutoFit/>
          </a:bodyPr>
          <a:lstStyle/>
          <a:p>
            <a:pPr algn="ctr"/>
            <a:r>
              <a:rPr lang="it-IT" dirty="0">
                <a:solidFill>
                  <a:schemeClr val="bg1"/>
                </a:solidFill>
                <a:latin typeface="+mj-lt"/>
              </a:rPr>
              <a:t>In uscita </a:t>
            </a:r>
          </a:p>
        </p:txBody>
      </p:sp>
      <p:sp>
        <p:nvSpPr>
          <p:cNvPr id="23" name="CasellaDiTesto 22">
            <a:extLst>
              <a:ext uri="{FF2B5EF4-FFF2-40B4-BE49-F238E27FC236}">
                <a16:creationId xmlns:a16="http://schemas.microsoft.com/office/drawing/2014/main" id="{843254A0-7736-7018-5788-73F262720352}"/>
              </a:ext>
            </a:extLst>
          </p:cNvPr>
          <p:cNvSpPr txBox="1"/>
          <p:nvPr/>
        </p:nvSpPr>
        <p:spPr>
          <a:xfrm>
            <a:off x="0" y="6067247"/>
            <a:ext cx="6095998" cy="369332"/>
          </a:xfrm>
          <a:prstGeom prst="rect">
            <a:avLst/>
          </a:prstGeom>
          <a:noFill/>
        </p:spPr>
        <p:txBody>
          <a:bodyPr wrap="square" rtlCol="0">
            <a:spAutoFit/>
          </a:bodyPr>
          <a:lstStyle/>
          <a:p>
            <a:pPr algn="ctr"/>
            <a:r>
              <a:rPr lang="it-IT" dirty="0">
                <a:latin typeface="+mj-lt"/>
              </a:rPr>
              <a:t>CLIENT</a:t>
            </a:r>
          </a:p>
        </p:txBody>
      </p:sp>
      <p:sp>
        <p:nvSpPr>
          <p:cNvPr id="24" name="CasellaDiTesto 23">
            <a:extLst>
              <a:ext uri="{FF2B5EF4-FFF2-40B4-BE49-F238E27FC236}">
                <a16:creationId xmlns:a16="http://schemas.microsoft.com/office/drawing/2014/main" id="{5F5A7C78-845E-F16C-A08A-1FA8884CB9DB}"/>
              </a:ext>
            </a:extLst>
          </p:cNvPr>
          <p:cNvSpPr txBox="1"/>
          <p:nvPr/>
        </p:nvSpPr>
        <p:spPr>
          <a:xfrm>
            <a:off x="6095998" y="6102438"/>
            <a:ext cx="6095998" cy="369332"/>
          </a:xfrm>
          <a:prstGeom prst="rect">
            <a:avLst/>
          </a:prstGeom>
          <a:noFill/>
        </p:spPr>
        <p:txBody>
          <a:bodyPr wrap="square" rtlCol="0">
            <a:spAutoFit/>
          </a:bodyPr>
          <a:lstStyle/>
          <a:p>
            <a:pPr algn="ctr"/>
            <a:r>
              <a:rPr lang="it-IT" dirty="0">
                <a:solidFill>
                  <a:schemeClr val="bg1"/>
                </a:solidFill>
                <a:latin typeface="+mj-lt"/>
              </a:rPr>
              <a:t>SERVER</a:t>
            </a:r>
          </a:p>
        </p:txBody>
      </p:sp>
      <p:sp>
        <p:nvSpPr>
          <p:cNvPr id="8" name="CasellaDiTesto 7">
            <a:extLst>
              <a:ext uri="{FF2B5EF4-FFF2-40B4-BE49-F238E27FC236}">
                <a16:creationId xmlns:a16="http://schemas.microsoft.com/office/drawing/2014/main" id="{089D2F4A-E23F-98E1-FC14-C8CEE216D6D5}"/>
              </a:ext>
            </a:extLst>
          </p:cNvPr>
          <p:cNvSpPr txBox="1"/>
          <p:nvPr/>
        </p:nvSpPr>
        <p:spPr>
          <a:xfrm>
            <a:off x="6095998" y="5059451"/>
            <a:ext cx="6095998" cy="369332"/>
          </a:xfrm>
          <a:prstGeom prst="rect">
            <a:avLst/>
          </a:prstGeom>
          <a:noFill/>
        </p:spPr>
        <p:txBody>
          <a:bodyPr wrap="square" rtlCol="0">
            <a:spAutoFit/>
          </a:bodyPr>
          <a:lstStyle/>
          <a:p>
            <a:pPr algn="ctr"/>
            <a:r>
              <a:rPr lang="it-IT" dirty="0">
                <a:solidFill>
                  <a:schemeClr val="bg1"/>
                </a:solidFill>
                <a:latin typeface="+mj-lt"/>
              </a:rPr>
              <a:t>Poche porte di connessione TCP occupate: </a:t>
            </a:r>
          </a:p>
        </p:txBody>
      </p:sp>
      <p:pic>
        <p:nvPicPr>
          <p:cNvPr id="10" name="Immagine 9" descr="Immagine che contiene testo, Carattere, Elementi grafici, schermata&#10;&#10;Descrizione generata automaticamente">
            <a:extLst>
              <a:ext uri="{FF2B5EF4-FFF2-40B4-BE49-F238E27FC236}">
                <a16:creationId xmlns:a16="http://schemas.microsoft.com/office/drawing/2014/main" id="{94679D0B-B3A7-168F-F903-9F89683E32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102438"/>
            <a:ext cx="1461718" cy="475604"/>
          </a:xfrm>
          <a:prstGeom prst="rect">
            <a:avLst/>
          </a:prstGeom>
        </p:spPr>
      </p:pic>
      <p:pic>
        <p:nvPicPr>
          <p:cNvPr id="4" name="Immagine 3" descr="Immagine che contiene testo, schermata, software, Software multimediale&#10;&#10;Il contenuto generato dall'IA potrebbe non essere corretto.">
            <a:extLst>
              <a:ext uri="{FF2B5EF4-FFF2-40B4-BE49-F238E27FC236}">
                <a16:creationId xmlns:a16="http://schemas.microsoft.com/office/drawing/2014/main" id="{6DB9B1F6-DE94-2679-6ED4-7D76038F432F}"/>
              </a:ext>
            </a:extLst>
          </p:cNvPr>
          <p:cNvPicPr>
            <a:picLocks noChangeAspect="1"/>
          </p:cNvPicPr>
          <p:nvPr/>
        </p:nvPicPr>
        <p:blipFill>
          <a:blip r:embed="rId4"/>
          <a:stretch>
            <a:fillRect/>
          </a:stretch>
        </p:blipFill>
        <p:spPr>
          <a:xfrm>
            <a:off x="74428" y="3053745"/>
            <a:ext cx="5942013" cy="2921439"/>
          </a:xfrm>
          <a:prstGeom prst="rect">
            <a:avLst/>
          </a:prstGeom>
        </p:spPr>
      </p:pic>
      <p:pic>
        <p:nvPicPr>
          <p:cNvPr id="16" name="Immagine 15">
            <a:extLst>
              <a:ext uri="{FF2B5EF4-FFF2-40B4-BE49-F238E27FC236}">
                <a16:creationId xmlns:a16="http://schemas.microsoft.com/office/drawing/2014/main" id="{0F8CFD25-1E37-C50A-B878-AE06D10B3E18}"/>
              </a:ext>
            </a:extLst>
          </p:cNvPr>
          <p:cNvPicPr>
            <a:picLocks noChangeAspect="1"/>
          </p:cNvPicPr>
          <p:nvPr/>
        </p:nvPicPr>
        <p:blipFill>
          <a:blip r:embed="rId5"/>
          <a:stretch>
            <a:fillRect/>
          </a:stretch>
        </p:blipFill>
        <p:spPr>
          <a:xfrm>
            <a:off x="6297067" y="5428783"/>
            <a:ext cx="5693860" cy="427932"/>
          </a:xfrm>
          <a:prstGeom prst="rect">
            <a:avLst/>
          </a:prstGeom>
        </p:spPr>
      </p:pic>
      <p:pic>
        <p:nvPicPr>
          <p:cNvPr id="19" name="Immagine 18" descr="Immagine che contiene testo, Carattere, tipografia, design&#10;&#10;Il contenuto generato dall'IA potrebbe non essere corretto.">
            <a:extLst>
              <a:ext uri="{FF2B5EF4-FFF2-40B4-BE49-F238E27FC236}">
                <a16:creationId xmlns:a16="http://schemas.microsoft.com/office/drawing/2014/main" id="{B3F940CC-A8F0-3E09-264A-F88064352D1F}"/>
              </a:ext>
            </a:extLst>
          </p:cNvPr>
          <p:cNvPicPr>
            <a:picLocks noChangeAspect="1"/>
          </p:cNvPicPr>
          <p:nvPr/>
        </p:nvPicPr>
        <p:blipFill>
          <a:blip r:embed="rId6"/>
          <a:stretch>
            <a:fillRect/>
          </a:stretch>
        </p:blipFill>
        <p:spPr>
          <a:xfrm>
            <a:off x="6677402" y="3080091"/>
            <a:ext cx="2257425" cy="1276350"/>
          </a:xfrm>
          <a:prstGeom prst="rect">
            <a:avLst/>
          </a:prstGeom>
        </p:spPr>
      </p:pic>
      <p:sp>
        <p:nvSpPr>
          <p:cNvPr id="25" name="Rettangolo 24">
            <a:extLst>
              <a:ext uri="{FF2B5EF4-FFF2-40B4-BE49-F238E27FC236}">
                <a16:creationId xmlns:a16="http://schemas.microsoft.com/office/drawing/2014/main" id="{0959525D-C484-BF35-7072-AAED8954807C}"/>
              </a:ext>
            </a:extLst>
          </p:cNvPr>
          <p:cNvSpPr/>
          <p:nvPr/>
        </p:nvSpPr>
        <p:spPr>
          <a:xfrm>
            <a:off x="6677402" y="3361190"/>
            <a:ext cx="2017018" cy="266675"/>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pic>
        <p:nvPicPr>
          <p:cNvPr id="29" name="Immagine 28" descr="Immagine che contiene testo, Carattere, tipografia, design&#10;&#10;Il contenuto generato dall'IA potrebbe non essere corretto.">
            <a:extLst>
              <a:ext uri="{FF2B5EF4-FFF2-40B4-BE49-F238E27FC236}">
                <a16:creationId xmlns:a16="http://schemas.microsoft.com/office/drawing/2014/main" id="{C9095D19-19CF-D776-31EC-80A8EC1CBB92}"/>
              </a:ext>
            </a:extLst>
          </p:cNvPr>
          <p:cNvPicPr>
            <a:picLocks noChangeAspect="1"/>
          </p:cNvPicPr>
          <p:nvPr/>
        </p:nvPicPr>
        <p:blipFill>
          <a:blip r:embed="rId7"/>
          <a:srcRect l="6131" t="12833"/>
          <a:stretch>
            <a:fillRect/>
          </a:stretch>
        </p:blipFill>
        <p:spPr>
          <a:xfrm>
            <a:off x="9275824" y="3080091"/>
            <a:ext cx="2181604" cy="1228796"/>
          </a:xfrm>
          <a:prstGeom prst="rect">
            <a:avLst/>
          </a:prstGeom>
        </p:spPr>
      </p:pic>
      <p:sp>
        <p:nvSpPr>
          <p:cNvPr id="32" name="Rettangolo 31">
            <a:extLst>
              <a:ext uri="{FF2B5EF4-FFF2-40B4-BE49-F238E27FC236}">
                <a16:creationId xmlns:a16="http://schemas.microsoft.com/office/drawing/2014/main" id="{AB72F1B4-109A-4CB7-540C-21A489FCEB74}"/>
              </a:ext>
            </a:extLst>
          </p:cNvPr>
          <p:cNvSpPr/>
          <p:nvPr/>
        </p:nvSpPr>
        <p:spPr>
          <a:xfrm>
            <a:off x="9240011" y="3301309"/>
            <a:ext cx="2017018" cy="266675"/>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pic>
        <p:nvPicPr>
          <p:cNvPr id="34" name="Immagine 33">
            <a:extLst>
              <a:ext uri="{FF2B5EF4-FFF2-40B4-BE49-F238E27FC236}">
                <a16:creationId xmlns:a16="http://schemas.microsoft.com/office/drawing/2014/main" id="{843DA976-DAD9-CBD0-F80D-326A3549C380}"/>
              </a:ext>
            </a:extLst>
          </p:cNvPr>
          <p:cNvPicPr>
            <a:picLocks noChangeAspect="1"/>
          </p:cNvPicPr>
          <p:nvPr/>
        </p:nvPicPr>
        <p:blipFill>
          <a:blip r:embed="rId8"/>
          <a:stretch>
            <a:fillRect/>
          </a:stretch>
        </p:blipFill>
        <p:spPr>
          <a:xfrm>
            <a:off x="6826859" y="1942930"/>
            <a:ext cx="4533900" cy="228600"/>
          </a:xfrm>
          <a:prstGeom prst="rect">
            <a:avLst/>
          </a:prstGeom>
        </p:spPr>
      </p:pic>
    </p:spTree>
    <p:extLst>
      <p:ext uri="{BB962C8B-B14F-4D97-AF65-F5344CB8AC3E}">
        <p14:creationId xmlns:p14="http://schemas.microsoft.com/office/powerpoint/2010/main" val="534499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AD1E8C-2106-8392-6955-EC5EC55779E7}"/>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05704CB4-DA52-EFDC-A104-4B418FE15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40187552-4475-FB6A-F436-13CF2AE8FB94}"/>
              </a:ext>
            </a:extLst>
          </p:cNvPr>
          <p:cNvSpPr txBox="1"/>
          <p:nvPr/>
        </p:nvSpPr>
        <p:spPr>
          <a:xfrm>
            <a:off x="1024127" y="459316"/>
            <a:ext cx="5071871" cy="1954137"/>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02.2.3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Inoltro</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dell’attacco</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pic>
        <p:nvPicPr>
          <p:cNvPr id="10" name="Immagine 9" descr="Immagine che contiene testo, Carattere, Elementi grafici, schermata&#10;&#10;Descrizione generata automaticamente">
            <a:extLst>
              <a:ext uri="{FF2B5EF4-FFF2-40B4-BE49-F238E27FC236}">
                <a16:creationId xmlns:a16="http://schemas.microsoft.com/office/drawing/2014/main" id="{EA54F10B-DEF2-3F7D-7F86-60C6C315A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102438"/>
            <a:ext cx="1461718" cy="475604"/>
          </a:xfrm>
          <a:prstGeom prst="rect">
            <a:avLst/>
          </a:prstGeom>
        </p:spPr>
      </p:pic>
      <p:sp>
        <p:nvSpPr>
          <p:cNvPr id="2" name="CasellaDiTesto 1">
            <a:extLst>
              <a:ext uri="{FF2B5EF4-FFF2-40B4-BE49-F238E27FC236}">
                <a16:creationId xmlns:a16="http://schemas.microsoft.com/office/drawing/2014/main" id="{3656DE61-C85C-ADE5-7B88-58D06D5D1159}"/>
              </a:ext>
            </a:extLst>
          </p:cNvPr>
          <p:cNvSpPr txBox="1"/>
          <p:nvPr/>
        </p:nvSpPr>
        <p:spPr>
          <a:xfrm>
            <a:off x="6985352" y="1018738"/>
            <a:ext cx="4341015" cy="646331"/>
          </a:xfrm>
          <a:prstGeom prst="rect">
            <a:avLst/>
          </a:prstGeom>
          <a:noFill/>
        </p:spPr>
        <p:txBody>
          <a:bodyPr wrap="square" rtlCol="0">
            <a:spAutoFit/>
          </a:bodyPr>
          <a:lstStyle/>
          <a:p>
            <a:pPr algn="ctr"/>
            <a:r>
              <a:rPr lang="it-IT" dirty="0">
                <a:solidFill>
                  <a:schemeClr val="bg1"/>
                </a:solidFill>
                <a:latin typeface="+mj-lt"/>
              </a:rPr>
              <a:t>Mentre il server funziona normalmente l’attaccante inizia l’attacco utilizzando il tool descritto nelle slides precedenti. </a:t>
            </a:r>
          </a:p>
        </p:txBody>
      </p:sp>
      <p:sp>
        <p:nvSpPr>
          <p:cNvPr id="14" name="CasellaDiTesto 13">
            <a:extLst>
              <a:ext uri="{FF2B5EF4-FFF2-40B4-BE49-F238E27FC236}">
                <a16:creationId xmlns:a16="http://schemas.microsoft.com/office/drawing/2014/main" id="{67DF1511-9A1B-6084-DC91-7862FE1D73E9}"/>
              </a:ext>
            </a:extLst>
          </p:cNvPr>
          <p:cNvSpPr txBox="1"/>
          <p:nvPr/>
        </p:nvSpPr>
        <p:spPr>
          <a:xfrm>
            <a:off x="522271" y="5016404"/>
            <a:ext cx="4499510" cy="1477328"/>
          </a:xfrm>
          <a:prstGeom prst="rect">
            <a:avLst/>
          </a:prstGeom>
          <a:noFill/>
        </p:spPr>
        <p:txBody>
          <a:bodyPr wrap="square" rtlCol="0">
            <a:spAutoFit/>
          </a:bodyPr>
          <a:lstStyle/>
          <a:p>
            <a:pPr algn="ctr"/>
            <a:r>
              <a:rPr lang="it-IT" dirty="0">
                <a:latin typeface="+mj-lt"/>
              </a:rPr>
              <a:t>In questo esempio lo script è stato lanciato inserendo come parametro per il sockets count 500. Come si nota dai messaggi di log lo script continua a inviare intestazioni di tipo «keep alive» per mantenere occupate la banda di connessione del server.</a:t>
            </a:r>
          </a:p>
        </p:txBody>
      </p:sp>
      <p:pic>
        <p:nvPicPr>
          <p:cNvPr id="6" name="Immagine 5" descr="Immagine che contiene testo, Carattere, schermata&#10;&#10;Il contenuto generato dall'IA potrebbe non essere corretto.">
            <a:extLst>
              <a:ext uri="{FF2B5EF4-FFF2-40B4-BE49-F238E27FC236}">
                <a16:creationId xmlns:a16="http://schemas.microsoft.com/office/drawing/2014/main" id="{31416FC9-F1E4-ED21-B3E4-CC7BF576711A}"/>
              </a:ext>
            </a:extLst>
          </p:cNvPr>
          <p:cNvPicPr>
            <a:picLocks noChangeAspect="1"/>
          </p:cNvPicPr>
          <p:nvPr/>
        </p:nvPicPr>
        <p:blipFill>
          <a:blip r:embed="rId4"/>
          <a:stretch>
            <a:fillRect/>
          </a:stretch>
        </p:blipFill>
        <p:spPr>
          <a:xfrm>
            <a:off x="1834890" y="2872769"/>
            <a:ext cx="8522216" cy="1674599"/>
          </a:xfrm>
          <a:prstGeom prst="rect">
            <a:avLst/>
          </a:prstGeom>
        </p:spPr>
      </p:pic>
    </p:spTree>
    <p:extLst>
      <p:ext uri="{BB962C8B-B14F-4D97-AF65-F5344CB8AC3E}">
        <p14:creationId xmlns:p14="http://schemas.microsoft.com/office/powerpoint/2010/main" val="25300036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B83050-FCDC-F383-77FE-182BFB0331CE}"/>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E3625B0E-CD06-C753-C2CD-02BF247F8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7D753C8F-4234-877D-3E66-A173168EA773}"/>
              </a:ext>
            </a:extLst>
          </p:cNvPr>
          <p:cNvSpPr txBox="1"/>
          <p:nvPr/>
        </p:nvSpPr>
        <p:spPr>
          <a:xfrm>
            <a:off x="1024127" y="459316"/>
            <a:ext cx="5071871" cy="1954137"/>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02.2.4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analisi</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delle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richieste</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inoltrate</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pic>
        <p:nvPicPr>
          <p:cNvPr id="10" name="Immagine 9" descr="Immagine che contiene testo, Carattere, Elementi grafici, schermata&#10;&#10;Descrizione generata automaticamente">
            <a:extLst>
              <a:ext uri="{FF2B5EF4-FFF2-40B4-BE49-F238E27FC236}">
                <a16:creationId xmlns:a16="http://schemas.microsoft.com/office/drawing/2014/main" id="{2C406CE1-EEF4-BDDC-D98A-1E799DAAA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141" y="6102438"/>
            <a:ext cx="1461718" cy="475604"/>
          </a:xfrm>
          <a:prstGeom prst="rect">
            <a:avLst/>
          </a:prstGeom>
        </p:spPr>
      </p:pic>
      <p:sp>
        <p:nvSpPr>
          <p:cNvPr id="6" name="CasellaDiTesto 5">
            <a:extLst>
              <a:ext uri="{FF2B5EF4-FFF2-40B4-BE49-F238E27FC236}">
                <a16:creationId xmlns:a16="http://schemas.microsoft.com/office/drawing/2014/main" id="{7232A220-F5FA-B903-B609-D695BB6861DA}"/>
              </a:ext>
            </a:extLst>
          </p:cNvPr>
          <p:cNvSpPr txBox="1"/>
          <p:nvPr/>
        </p:nvSpPr>
        <p:spPr>
          <a:xfrm>
            <a:off x="6826859" y="934617"/>
            <a:ext cx="4689987" cy="923330"/>
          </a:xfrm>
          <a:prstGeom prst="rect">
            <a:avLst/>
          </a:prstGeom>
          <a:noFill/>
        </p:spPr>
        <p:txBody>
          <a:bodyPr wrap="square">
            <a:spAutoFit/>
          </a:bodyPr>
          <a:lstStyle/>
          <a:p>
            <a:pPr algn="ctr"/>
            <a:r>
              <a:rPr lang="it-IT" dirty="0">
                <a:solidFill>
                  <a:schemeClr val="bg1"/>
                </a:solidFill>
                <a:latin typeface="+mj-lt"/>
              </a:rPr>
              <a:t>Tramite </a:t>
            </a:r>
            <a:r>
              <a:rPr lang="it-IT" dirty="0" err="1">
                <a:solidFill>
                  <a:schemeClr val="bg1"/>
                </a:solidFill>
                <a:latin typeface="+mj-lt"/>
              </a:rPr>
              <a:t>Wireshark</a:t>
            </a:r>
            <a:r>
              <a:rPr lang="it-IT" dirty="0">
                <a:solidFill>
                  <a:schemeClr val="bg1"/>
                </a:solidFill>
                <a:latin typeface="+mj-lt"/>
              </a:rPr>
              <a:t> sulla macchina attaccante si posso analizzare nella sostanza i pacchetti che vengono inviati al server e come questo risponda accettando le richieste incomplete.</a:t>
            </a:r>
          </a:p>
        </p:txBody>
      </p:sp>
      <p:sp>
        <p:nvSpPr>
          <p:cNvPr id="12" name="CasellaDiTesto 11">
            <a:extLst>
              <a:ext uri="{FF2B5EF4-FFF2-40B4-BE49-F238E27FC236}">
                <a16:creationId xmlns:a16="http://schemas.microsoft.com/office/drawing/2014/main" id="{C6E40519-AE04-3013-5256-1E8B987CC1E0}"/>
              </a:ext>
            </a:extLst>
          </p:cNvPr>
          <p:cNvSpPr txBox="1"/>
          <p:nvPr/>
        </p:nvSpPr>
        <p:spPr>
          <a:xfrm>
            <a:off x="8707119" y="4030652"/>
            <a:ext cx="2969343" cy="369332"/>
          </a:xfrm>
          <a:prstGeom prst="rect">
            <a:avLst/>
          </a:prstGeom>
          <a:noFill/>
        </p:spPr>
        <p:txBody>
          <a:bodyPr wrap="square" rtlCol="0">
            <a:spAutoFit/>
          </a:bodyPr>
          <a:lstStyle/>
          <a:p>
            <a:pPr algn="ctr"/>
            <a:r>
              <a:rPr lang="it-IT" dirty="0">
                <a:solidFill>
                  <a:schemeClr val="bg1"/>
                </a:solidFill>
                <a:latin typeface="+mj-lt"/>
              </a:rPr>
              <a:t>Richiesta malevola priva di corpo </a:t>
            </a:r>
          </a:p>
        </p:txBody>
      </p:sp>
      <p:cxnSp>
        <p:nvCxnSpPr>
          <p:cNvPr id="19" name="Connettore curvo 18">
            <a:extLst>
              <a:ext uri="{FF2B5EF4-FFF2-40B4-BE49-F238E27FC236}">
                <a16:creationId xmlns:a16="http://schemas.microsoft.com/office/drawing/2014/main" id="{0269A84C-C78B-421D-673D-319479AB9FB8}"/>
              </a:ext>
            </a:extLst>
          </p:cNvPr>
          <p:cNvCxnSpPr>
            <a:cxnSpLocks/>
            <a:stCxn id="12" idx="1"/>
          </p:cNvCxnSpPr>
          <p:nvPr/>
        </p:nvCxnSpPr>
        <p:spPr>
          <a:xfrm rot="10800000">
            <a:off x="6274265" y="4215318"/>
            <a:ext cx="2432855" cy="12700"/>
          </a:xfrm>
          <a:prstGeom prst="curvedConnector3">
            <a:avLst>
              <a:gd name="adj1" fmla="val 50000"/>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pic>
        <p:nvPicPr>
          <p:cNvPr id="13" name="Immagine 12" descr="Immagine che contiene testo, schermata, Carattere, numero&#10;&#10;Il contenuto generato dall'IA potrebbe non essere corretto.">
            <a:extLst>
              <a:ext uri="{FF2B5EF4-FFF2-40B4-BE49-F238E27FC236}">
                <a16:creationId xmlns:a16="http://schemas.microsoft.com/office/drawing/2014/main" id="{4B20D2EA-1896-AEDD-2642-8B3E3FBB37EB}"/>
              </a:ext>
            </a:extLst>
          </p:cNvPr>
          <p:cNvPicPr>
            <a:picLocks noChangeAspect="1"/>
          </p:cNvPicPr>
          <p:nvPr/>
        </p:nvPicPr>
        <p:blipFill>
          <a:blip r:embed="rId4"/>
          <a:stretch>
            <a:fillRect/>
          </a:stretch>
        </p:blipFill>
        <p:spPr>
          <a:xfrm>
            <a:off x="147788" y="2282564"/>
            <a:ext cx="5800422" cy="1417335"/>
          </a:xfrm>
          <a:prstGeom prst="rect">
            <a:avLst/>
          </a:prstGeom>
        </p:spPr>
      </p:pic>
      <p:pic>
        <p:nvPicPr>
          <p:cNvPr id="15" name="Immagine 14" descr="Immagine che contiene testo, schermata, Carattere, numero&#10;&#10;Il contenuto generato dall'IA potrebbe non essere corretto.">
            <a:extLst>
              <a:ext uri="{FF2B5EF4-FFF2-40B4-BE49-F238E27FC236}">
                <a16:creationId xmlns:a16="http://schemas.microsoft.com/office/drawing/2014/main" id="{94094D87-B76B-B271-10BD-0F8151B7F353}"/>
              </a:ext>
            </a:extLst>
          </p:cNvPr>
          <p:cNvPicPr>
            <a:picLocks noChangeAspect="1"/>
          </p:cNvPicPr>
          <p:nvPr/>
        </p:nvPicPr>
        <p:blipFill>
          <a:blip r:embed="rId5"/>
          <a:stretch>
            <a:fillRect/>
          </a:stretch>
        </p:blipFill>
        <p:spPr>
          <a:xfrm>
            <a:off x="6624320" y="2560203"/>
            <a:ext cx="3995420" cy="889091"/>
          </a:xfrm>
          <a:prstGeom prst="rect">
            <a:avLst/>
          </a:prstGeom>
        </p:spPr>
      </p:pic>
      <p:pic>
        <p:nvPicPr>
          <p:cNvPr id="23" name="Immagine 22" descr="Immagine che contiene testo, schermata, software, Carattere&#10;&#10;Il contenuto generato dall'IA potrebbe non essere corretto.">
            <a:extLst>
              <a:ext uri="{FF2B5EF4-FFF2-40B4-BE49-F238E27FC236}">
                <a16:creationId xmlns:a16="http://schemas.microsoft.com/office/drawing/2014/main" id="{1BF0AE21-B93B-6A13-2B45-A99F5BD87F10}"/>
              </a:ext>
            </a:extLst>
          </p:cNvPr>
          <p:cNvPicPr>
            <a:picLocks noChangeAspect="1"/>
          </p:cNvPicPr>
          <p:nvPr/>
        </p:nvPicPr>
        <p:blipFill>
          <a:blip r:embed="rId6"/>
          <a:srcRect r="16924" b="3810"/>
          <a:stretch>
            <a:fillRect/>
          </a:stretch>
        </p:blipFill>
        <p:spPr>
          <a:xfrm>
            <a:off x="178266" y="3891261"/>
            <a:ext cx="5800423" cy="2507424"/>
          </a:xfrm>
          <a:prstGeom prst="rect">
            <a:avLst/>
          </a:prstGeom>
        </p:spPr>
      </p:pic>
      <p:sp>
        <p:nvSpPr>
          <p:cNvPr id="28" name="CasellaDiTesto 27">
            <a:extLst>
              <a:ext uri="{FF2B5EF4-FFF2-40B4-BE49-F238E27FC236}">
                <a16:creationId xmlns:a16="http://schemas.microsoft.com/office/drawing/2014/main" id="{5DEE8665-F13C-DA92-F3C0-74DBB836C1E9}"/>
              </a:ext>
            </a:extLst>
          </p:cNvPr>
          <p:cNvSpPr txBox="1"/>
          <p:nvPr/>
        </p:nvSpPr>
        <p:spPr>
          <a:xfrm>
            <a:off x="8707120" y="4704774"/>
            <a:ext cx="2969343" cy="646331"/>
          </a:xfrm>
          <a:prstGeom prst="rect">
            <a:avLst/>
          </a:prstGeom>
          <a:noFill/>
        </p:spPr>
        <p:txBody>
          <a:bodyPr wrap="square" rtlCol="0">
            <a:spAutoFit/>
          </a:bodyPr>
          <a:lstStyle/>
          <a:p>
            <a:pPr algn="ctr"/>
            <a:r>
              <a:rPr lang="it-IT" dirty="0" err="1">
                <a:solidFill>
                  <a:schemeClr val="bg1"/>
                </a:solidFill>
                <a:latin typeface="+mj-lt"/>
              </a:rPr>
              <a:t>Timeout</a:t>
            </a:r>
            <a:r>
              <a:rPr lang="it-IT" dirty="0">
                <a:solidFill>
                  <a:schemeClr val="bg1"/>
                </a:solidFill>
                <a:latin typeface="+mj-lt"/>
              </a:rPr>
              <a:t> alle richieste aperte ma lo script le riapre eseguendole di nuovo</a:t>
            </a:r>
          </a:p>
        </p:txBody>
      </p:sp>
      <p:cxnSp>
        <p:nvCxnSpPr>
          <p:cNvPr id="29" name="Connettore curvo 28">
            <a:extLst>
              <a:ext uri="{FF2B5EF4-FFF2-40B4-BE49-F238E27FC236}">
                <a16:creationId xmlns:a16="http://schemas.microsoft.com/office/drawing/2014/main" id="{9C6AE179-B342-37D6-99A2-14DE75E6AC57}"/>
              </a:ext>
            </a:extLst>
          </p:cNvPr>
          <p:cNvCxnSpPr>
            <a:cxnSpLocks/>
            <a:stCxn id="28" idx="1"/>
          </p:cNvCxnSpPr>
          <p:nvPr/>
        </p:nvCxnSpPr>
        <p:spPr>
          <a:xfrm rot="10800000">
            <a:off x="1727200" y="4763426"/>
            <a:ext cx="6979920" cy="264514"/>
          </a:xfrm>
          <a:prstGeom prst="curvedConnector3">
            <a:avLst>
              <a:gd name="adj1" fmla="val 50000"/>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30" name="CasellaDiTesto 29">
            <a:extLst>
              <a:ext uri="{FF2B5EF4-FFF2-40B4-BE49-F238E27FC236}">
                <a16:creationId xmlns:a16="http://schemas.microsoft.com/office/drawing/2014/main" id="{BB077AEB-9640-CFAE-3193-55A8831FF1E7}"/>
              </a:ext>
            </a:extLst>
          </p:cNvPr>
          <p:cNvSpPr txBox="1"/>
          <p:nvPr/>
        </p:nvSpPr>
        <p:spPr>
          <a:xfrm>
            <a:off x="8818882" y="6128669"/>
            <a:ext cx="2969343" cy="369332"/>
          </a:xfrm>
          <a:prstGeom prst="rect">
            <a:avLst/>
          </a:prstGeom>
          <a:noFill/>
        </p:spPr>
        <p:txBody>
          <a:bodyPr wrap="square" rtlCol="0">
            <a:spAutoFit/>
          </a:bodyPr>
          <a:lstStyle/>
          <a:p>
            <a:pPr algn="ctr"/>
            <a:r>
              <a:rPr lang="it-IT" dirty="0">
                <a:solidFill>
                  <a:schemeClr val="bg1"/>
                </a:solidFill>
                <a:latin typeface="+mj-lt"/>
              </a:rPr>
              <a:t>NB: </a:t>
            </a:r>
            <a:r>
              <a:rPr lang="it-IT" dirty="0" err="1">
                <a:solidFill>
                  <a:schemeClr val="bg1"/>
                </a:solidFill>
                <a:latin typeface="+mj-lt"/>
              </a:rPr>
              <a:t>keep</a:t>
            </a:r>
            <a:r>
              <a:rPr lang="it-IT" dirty="0">
                <a:solidFill>
                  <a:schemeClr val="bg1"/>
                </a:solidFill>
                <a:latin typeface="+mj-lt"/>
              </a:rPr>
              <a:t> </a:t>
            </a:r>
            <a:r>
              <a:rPr lang="it-IT" dirty="0" err="1">
                <a:solidFill>
                  <a:schemeClr val="bg1"/>
                </a:solidFill>
                <a:latin typeface="+mj-lt"/>
              </a:rPr>
              <a:t>alive</a:t>
            </a:r>
            <a:r>
              <a:rPr lang="it-IT" dirty="0">
                <a:solidFill>
                  <a:schemeClr val="bg1"/>
                </a:solidFill>
                <a:latin typeface="+mj-lt"/>
              </a:rPr>
              <a:t> vuoti</a:t>
            </a:r>
          </a:p>
        </p:txBody>
      </p:sp>
    </p:spTree>
    <p:extLst>
      <p:ext uri="{BB962C8B-B14F-4D97-AF65-F5344CB8AC3E}">
        <p14:creationId xmlns:p14="http://schemas.microsoft.com/office/powerpoint/2010/main" val="3110179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4D35A3-AFA2-00DD-650A-FDF8865CD075}"/>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B97CF628-3556-6D2C-169B-748D0311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559AECE7-204A-12DB-61CE-9109FA664716}"/>
              </a:ext>
            </a:extLst>
          </p:cNvPr>
          <p:cNvSpPr txBox="1"/>
          <p:nvPr/>
        </p:nvSpPr>
        <p:spPr>
          <a:xfrm>
            <a:off x="806245" y="459316"/>
            <a:ext cx="5289753" cy="1954137"/>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02.2.5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analisi</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banda</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di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connessione</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sp>
        <p:nvSpPr>
          <p:cNvPr id="4" name="CasellaDiTesto 3">
            <a:extLst>
              <a:ext uri="{FF2B5EF4-FFF2-40B4-BE49-F238E27FC236}">
                <a16:creationId xmlns:a16="http://schemas.microsoft.com/office/drawing/2014/main" id="{812908F5-1F3C-06B5-691A-4BE7E8EE36CA}"/>
              </a:ext>
            </a:extLst>
          </p:cNvPr>
          <p:cNvSpPr txBox="1"/>
          <p:nvPr/>
        </p:nvSpPr>
        <p:spPr>
          <a:xfrm>
            <a:off x="6541722" y="946548"/>
            <a:ext cx="5289753" cy="923330"/>
          </a:xfrm>
          <a:prstGeom prst="rect">
            <a:avLst/>
          </a:prstGeom>
          <a:noFill/>
        </p:spPr>
        <p:txBody>
          <a:bodyPr wrap="square">
            <a:spAutoFit/>
          </a:bodyPr>
          <a:lstStyle/>
          <a:p>
            <a:pPr algn="ctr"/>
            <a:r>
              <a:rPr lang="it-IT" dirty="0">
                <a:solidFill>
                  <a:schemeClr val="bg1"/>
                </a:solidFill>
                <a:latin typeface="+mj-lt"/>
              </a:rPr>
              <a:t>L’attacco </a:t>
            </a:r>
            <a:r>
              <a:rPr lang="it-IT" dirty="0" err="1">
                <a:solidFill>
                  <a:schemeClr val="bg1"/>
                </a:solidFill>
                <a:latin typeface="+mj-lt"/>
              </a:rPr>
              <a:t>Slowloris</a:t>
            </a:r>
            <a:r>
              <a:rPr lang="it-IT" dirty="0">
                <a:solidFill>
                  <a:schemeClr val="bg1"/>
                </a:solidFill>
                <a:latin typeface="+mj-lt"/>
              </a:rPr>
              <a:t> punta ad occupare le risorse di rete del server attacco ma lasciando libere quelle dell’attaccante. Le risorse di cui stiamo parlando sono il numero di connessioni simultanee possibili sulla porta 80.</a:t>
            </a:r>
          </a:p>
        </p:txBody>
      </p:sp>
      <p:pic>
        <p:nvPicPr>
          <p:cNvPr id="12" name="Immagine 11">
            <a:extLst>
              <a:ext uri="{FF2B5EF4-FFF2-40B4-BE49-F238E27FC236}">
                <a16:creationId xmlns:a16="http://schemas.microsoft.com/office/drawing/2014/main" id="{BB493B73-9B85-F0EC-7F22-3DEF40D7B035}"/>
              </a:ext>
            </a:extLst>
          </p:cNvPr>
          <p:cNvPicPr>
            <a:picLocks noChangeAspect="1"/>
          </p:cNvPicPr>
          <p:nvPr/>
        </p:nvPicPr>
        <p:blipFill>
          <a:blip r:embed="rId3"/>
          <a:stretch>
            <a:fillRect/>
          </a:stretch>
        </p:blipFill>
        <p:spPr>
          <a:xfrm>
            <a:off x="1773323" y="4551586"/>
            <a:ext cx="1756054" cy="1032973"/>
          </a:xfrm>
          <a:prstGeom prst="rect">
            <a:avLst/>
          </a:prstGeom>
        </p:spPr>
      </p:pic>
      <p:pic>
        <p:nvPicPr>
          <p:cNvPr id="13" name="Immagine 12">
            <a:extLst>
              <a:ext uri="{FF2B5EF4-FFF2-40B4-BE49-F238E27FC236}">
                <a16:creationId xmlns:a16="http://schemas.microsoft.com/office/drawing/2014/main" id="{1E9BD46F-0415-6E57-B5CA-66C2BCB1962F}"/>
              </a:ext>
            </a:extLst>
          </p:cNvPr>
          <p:cNvPicPr>
            <a:picLocks noChangeAspect="1"/>
          </p:cNvPicPr>
          <p:nvPr/>
        </p:nvPicPr>
        <p:blipFill>
          <a:blip r:embed="rId4"/>
          <a:stretch>
            <a:fillRect/>
          </a:stretch>
        </p:blipFill>
        <p:spPr>
          <a:xfrm>
            <a:off x="3682277" y="4551587"/>
            <a:ext cx="1703304" cy="1032972"/>
          </a:xfrm>
          <a:prstGeom prst="rect">
            <a:avLst/>
          </a:prstGeom>
        </p:spPr>
      </p:pic>
      <p:sp>
        <p:nvSpPr>
          <p:cNvPr id="14" name="CasellaDiTesto 13">
            <a:extLst>
              <a:ext uri="{FF2B5EF4-FFF2-40B4-BE49-F238E27FC236}">
                <a16:creationId xmlns:a16="http://schemas.microsoft.com/office/drawing/2014/main" id="{BF5775D3-5DA7-2E45-0EE8-67260941DFBA}"/>
              </a:ext>
            </a:extLst>
          </p:cNvPr>
          <p:cNvSpPr txBox="1"/>
          <p:nvPr/>
        </p:nvSpPr>
        <p:spPr>
          <a:xfrm>
            <a:off x="0" y="2383043"/>
            <a:ext cx="6095997" cy="369332"/>
          </a:xfrm>
          <a:prstGeom prst="rect">
            <a:avLst/>
          </a:prstGeom>
          <a:noFill/>
        </p:spPr>
        <p:txBody>
          <a:bodyPr wrap="square" rtlCol="0">
            <a:spAutoFit/>
          </a:bodyPr>
          <a:lstStyle/>
          <a:p>
            <a:pPr algn="ctr"/>
            <a:r>
              <a:rPr lang="it-IT" dirty="0">
                <a:latin typeface="+mj-lt"/>
              </a:rPr>
              <a:t>I parametri sul consumo della rete sono simili tra server e attaccante </a:t>
            </a:r>
          </a:p>
        </p:txBody>
      </p:sp>
      <p:sp>
        <p:nvSpPr>
          <p:cNvPr id="15" name="CasellaDiTesto 14">
            <a:extLst>
              <a:ext uri="{FF2B5EF4-FFF2-40B4-BE49-F238E27FC236}">
                <a16:creationId xmlns:a16="http://schemas.microsoft.com/office/drawing/2014/main" id="{404CEFFD-4F89-EC2F-F227-CC291A88FF55}"/>
              </a:ext>
            </a:extLst>
          </p:cNvPr>
          <p:cNvSpPr txBox="1"/>
          <p:nvPr/>
        </p:nvSpPr>
        <p:spPr>
          <a:xfrm>
            <a:off x="311527" y="4865622"/>
            <a:ext cx="1476375" cy="369332"/>
          </a:xfrm>
          <a:prstGeom prst="rect">
            <a:avLst/>
          </a:prstGeom>
          <a:noFill/>
        </p:spPr>
        <p:txBody>
          <a:bodyPr wrap="square" rtlCol="0">
            <a:spAutoFit/>
          </a:bodyPr>
          <a:lstStyle/>
          <a:p>
            <a:pPr algn="ctr"/>
            <a:r>
              <a:rPr lang="it-IT" dirty="0">
                <a:latin typeface="+mj-lt"/>
              </a:rPr>
              <a:t>attaccante</a:t>
            </a:r>
          </a:p>
        </p:txBody>
      </p:sp>
      <p:sp>
        <p:nvSpPr>
          <p:cNvPr id="17" name="CasellaDiTesto 16">
            <a:extLst>
              <a:ext uri="{FF2B5EF4-FFF2-40B4-BE49-F238E27FC236}">
                <a16:creationId xmlns:a16="http://schemas.microsoft.com/office/drawing/2014/main" id="{1BDB40CE-EA58-3A17-979B-7491694C4F04}"/>
              </a:ext>
            </a:extLst>
          </p:cNvPr>
          <p:cNvSpPr txBox="1"/>
          <p:nvPr/>
        </p:nvSpPr>
        <p:spPr>
          <a:xfrm>
            <a:off x="548079" y="3711811"/>
            <a:ext cx="1003273" cy="369332"/>
          </a:xfrm>
          <a:prstGeom prst="rect">
            <a:avLst/>
          </a:prstGeom>
          <a:noFill/>
        </p:spPr>
        <p:txBody>
          <a:bodyPr wrap="square" rtlCol="0">
            <a:spAutoFit/>
          </a:bodyPr>
          <a:lstStyle/>
          <a:p>
            <a:pPr algn="ctr"/>
            <a:r>
              <a:rPr lang="it-IT" dirty="0">
                <a:latin typeface="+mj-lt"/>
              </a:rPr>
              <a:t>server</a:t>
            </a:r>
          </a:p>
        </p:txBody>
      </p:sp>
      <p:sp>
        <p:nvSpPr>
          <p:cNvPr id="18" name="CasellaDiTesto 17">
            <a:extLst>
              <a:ext uri="{FF2B5EF4-FFF2-40B4-BE49-F238E27FC236}">
                <a16:creationId xmlns:a16="http://schemas.microsoft.com/office/drawing/2014/main" id="{3DFBE33A-4097-997D-F3D0-F7A7A75B9847}"/>
              </a:ext>
            </a:extLst>
          </p:cNvPr>
          <p:cNvSpPr txBox="1"/>
          <p:nvPr/>
        </p:nvSpPr>
        <p:spPr>
          <a:xfrm>
            <a:off x="3807462" y="2960083"/>
            <a:ext cx="1476375" cy="369332"/>
          </a:xfrm>
          <a:prstGeom prst="rect">
            <a:avLst/>
          </a:prstGeom>
          <a:noFill/>
        </p:spPr>
        <p:txBody>
          <a:bodyPr wrap="square" rtlCol="0">
            <a:spAutoFit/>
          </a:bodyPr>
          <a:lstStyle/>
          <a:p>
            <a:pPr algn="ctr"/>
            <a:r>
              <a:rPr lang="it-IT" dirty="0">
                <a:latin typeface="+mj-lt"/>
              </a:rPr>
              <a:t>out</a:t>
            </a:r>
          </a:p>
        </p:txBody>
      </p:sp>
      <p:sp>
        <p:nvSpPr>
          <p:cNvPr id="19" name="CasellaDiTesto 18">
            <a:extLst>
              <a:ext uri="{FF2B5EF4-FFF2-40B4-BE49-F238E27FC236}">
                <a16:creationId xmlns:a16="http://schemas.microsoft.com/office/drawing/2014/main" id="{226198D1-A4F5-344A-7DDD-C9E25A0F7FB1}"/>
              </a:ext>
            </a:extLst>
          </p:cNvPr>
          <p:cNvSpPr txBox="1"/>
          <p:nvPr/>
        </p:nvSpPr>
        <p:spPr>
          <a:xfrm>
            <a:off x="1927814" y="2991166"/>
            <a:ext cx="1476375" cy="369332"/>
          </a:xfrm>
          <a:prstGeom prst="rect">
            <a:avLst/>
          </a:prstGeom>
          <a:noFill/>
        </p:spPr>
        <p:txBody>
          <a:bodyPr wrap="square" rtlCol="0">
            <a:spAutoFit/>
          </a:bodyPr>
          <a:lstStyle/>
          <a:p>
            <a:pPr algn="ctr"/>
            <a:r>
              <a:rPr lang="it-IT" dirty="0">
                <a:latin typeface="+mj-lt"/>
              </a:rPr>
              <a:t>in</a:t>
            </a:r>
          </a:p>
        </p:txBody>
      </p:sp>
      <p:sp>
        <p:nvSpPr>
          <p:cNvPr id="27" name="CasellaDiTesto 26">
            <a:extLst>
              <a:ext uri="{FF2B5EF4-FFF2-40B4-BE49-F238E27FC236}">
                <a16:creationId xmlns:a16="http://schemas.microsoft.com/office/drawing/2014/main" id="{8FB31D2A-461D-3BCB-4556-B2596ACC80FA}"/>
              </a:ext>
            </a:extLst>
          </p:cNvPr>
          <p:cNvSpPr txBox="1"/>
          <p:nvPr/>
        </p:nvSpPr>
        <p:spPr>
          <a:xfrm>
            <a:off x="7898628" y="3094290"/>
            <a:ext cx="2319267" cy="923330"/>
          </a:xfrm>
          <a:prstGeom prst="rect">
            <a:avLst/>
          </a:prstGeom>
          <a:noFill/>
        </p:spPr>
        <p:txBody>
          <a:bodyPr wrap="square" rtlCol="0">
            <a:spAutoFit/>
          </a:bodyPr>
          <a:lstStyle/>
          <a:p>
            <a:pPr algn="ctr"/>
            <a:r>
              <a:rPr lang="it-IT" dirty="0">
                <a:solidFill>
                  <a:schemeClr val="bg1"/>
                </a:solidFill>
                <a:latin typeface="+mj-lt"/>
              </a:rPr>
              <a:t>Numero di porte occupate del server e relativo elenco (incompleto)</a:t>
            </a:r>
          </a:p>
        </p:txBody>
      </p:sp>
      <p:cxnSp>
        <p:nvCxnSpPr>
          <p:cNvPr id="29" name="Connettore curvo 28">
            <a:extLst>
              <a:ext uri="{FF2B5EF4-FFF2-40B4-BE49-F238E27FC236}">
                <a16:creationId xmlns:a16="http://schemas.microsoft.com/office/drawing/2014/main" id="{A530211C-D262-346B-3850-79CA824FC54E}"/>
              </a:ext>
            </a:extLst>
          </p:cNvPr>
          <p:cNvCxnSpPr>
            <a:cxnSpLocks/>
            <a:stCxn id="27" idx="1"/>
            <a:endCxn id="49" idx="2"/>
          </p:cNvCxnSpPr>
          <p:nvPr/>
        </p:nvCxnSpPr>
        <p:spPr>
          <a:xfrm rot="10800000" flipH="1">
            <a:off x="7898628" y="2413453"/>
            <a:ext cx="1289738" cy="1142502"/>
          </a:xfrm>
          <a:prstGeom prst="curvedConnector4">
            <a:avLst>
              <a:gd name="adj1" fmla="val -17725"/>
              <a:gd name="adj2" fmla="val 70204"/>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30" name="Connettore curvo 29">
            <a:extLst>
              <a:ext uri="{FF2B5EF4-FFF2-40B4-BE49-F238E27FC236}">
                <a16:creationId xmlns:a16="http://schemas.microsoft.com/office/drawing/2014/main" id="{BEBC4B21-10CE-D3C8-3326-16246C61C12F}"/>
              </a:ext>
            </a:extLst>
          </p:cNvPr>
          <p:cNvCxnSpPr>
            <a:cxnSpLocks/>
            <a:stCxn id="27" idx="3"/>
            <a:endCxn id="52" idx="0"/>
          </p:cNvCxnSpPr>
          <p:nvPr/>
        </p:nvCxnSpPr>
        <p:spPr>
          <a:xfrm flipH="1">
            <a:off x="9127539" y="3555955"/>
            <a:ext cx="1090356" cy="1142503"/>
          </a:xfrm>
          <a:prstGeom prst="curvedConnector4">
            <a:avLst>
              <a:gd name="adj1" fmla="val -20966"/>
              <a:gd name="adj2" fmla="val 70204"/>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pic>
        <p:nvPicPr>
          <p:cNvPr id="5" name="Immagine 4" descr="Immagine che contiene testo, Carattere, tipografia, design&#10;&#10;Il contenuto generato dall'IA potrebbe non essere corretto.">
            <a:extLst>
              <a:ext uri="{FF2B5EF4-FFF2-40B4-BE49-F238E27FC236}">
                <a16:creationId xmlns:a16="http://schemas.microsoft.com/office/drawing/2014/main" id="{4E4CE6E0-5CB1-F8D2-0C63-02EF997391F0}"/>
              </a:ext>
            </a:extLst>
          </p:cNvPr>
          <p:cNvPicPr>
            <a:picLocks noChangeAspect="1"/>
          </p:cNvPicPr>
          <p:nvPr/>
        </p:nvPicPr>
        <p:blipFill>
          <a:blip r:embed="rId5"/>
          <a:stretch>
            <a:fillRect/>
          </a:stretch>
        </p:blipFill>
        <p:spPr>
          <a:xfrm>
            <a:off x="1802630" y="3431286"/>
            <a:ext cx="1726747" cy="978723"/>
          </a:xfrm>
          <a:prstGeom prst="rect">
            <a:avLst/>
          </a:prstGeom>
        </p:spPr>
      </p:pic>
      <p:pic>
        <p:nvPicPr>
          <p:cNvPr id="7" name="Immagine 6" descr="Immagine che contiene testo, Carattere, tipografia, design&#10;&#10;Il contenuto generato dall'IA potrebbe non essere corretto.">
            <a:extLst>
              <a:ext uri="{FF2B5EF4-FFF2-40B4-BE49-F238E27FC236}">
                <a16:creationId xmlns:a16="http://schemas.microsoft.com/office/drawing/2014/main" id="{03E72252-7E65-E4DA-7936-833C9E57A6AD}"/>
              </a:ext>
            </a:extLst>
          </p:cNvPr>
          <p:cNvPicPr>
            <a:picLocks noChangeAspect="1"/>
          </p:cNvPicPr>
          <p:nvPr/>
        </p:nvPicPr>
        <p:blipFill>
          <a:blip r:embed="rId6"/>
          <a:stretch>
            <a:fillRect/>
          </a:stretch>
        </p:blipFill>
        <p:spPr>
          <a:xfrm>
            <a:off x="3682277" y="3429000"/>
            <a:ext cx="1726747" cy="988702"/>
          </a:xfrm>
          <a:prstGeom prst="rect">
            <a:avLst/>
          </a:prstGeom>
        </p:spPr>
      </p:pic>
      <p:sp>
        <p:nvSpPr>
          <p:cNvPr id="35" name="Rettangolo 34">
            <a:extLst>
              <a:ext uri="{FF2B5EF4-FFF2-40B4-BE49-F238E27FC236}">
                <a16:creationId xmlns:a16="http://schemas.microsoft.com/office/drawing/2014/main" id="{3B37D788-F967-3677-6974-7D34BE9AA0AB}"/>
              </a:ext>
            </a:extLst>
          </p:cNvPr>
          <p:cNvSpPr/>
          <p:nvPr/>
        </p:nvSpPr>
        <p:spPr>
          <a:xfrm>
            <a:off x="1846270" y="3609220"/>
            <a:ext cx="1536192" cy="266675"/>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6" name="Rettangolo 35">
            <a:extLst>
              <a:ext uri="{FF2B5EF4-FFF2-40B4-BE49-F238E27FC236}">
                <a16:creationId xmlns:a16="http://schemas.microsoft.com/office/drawing/2014/main" id="{C5D4C7AC-FF58-DD7E-7522-3A1617172BA3}"/>
              </a:ext>
            </a:extLst>
          </p:cNvPr>
          <p:cNvSpPr/>
          <p:nvPr/>
        </p:nvSpPr>
        <p:spPr>
          <a:xfrm>
            <a:off x="3709210" y="3629802"/>
            <a:ext cx="1492227" cy="266675"/>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6" name="Rettangolo 45">
            <a:extLst>
              <a:ext uri="{FF2B5EF4-FFF2-40B4-BE49-F238E27FC236}">
                <a16:creationId xmlns:a16="http://schemas.microsoft.com/office/drawing/2014/main" id="{28DC5C42-15FC-113D-CB27-7259A32B31E4}"/>
              </a:ext>
            </a:extLst>
          </p:cNvPr>
          <p:cNvSpPr/>
          <p:nvPr/>
        </p:nvSpPr>
        <p:spPr>
          <a:xfrm>
            <a:off x="1807795" y="4732284"/>
            <a:ext cx="1536192" cy="266675"/>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7" name="Rettangolo 46">
            <a:extLst>
              <a:ext uri="{FF2B5EF4-FFF2-40B4-BE49-F238E27FC236}">
                <a16:creationId xmlns:a16="http://schemas.microsoft.com/office/drawing/2014/main" id="{0E4B0BBA-8590-D1A9-5CE2-3A1CC71446DB}"/>
              </a:ext>
            </a:extLst>
          </p:cNvPr>
          <p:cNvSpPr/>
          <p:nvPr/>
        </p:nvSpPr>
        <p:spPr>
          <a:xfrm>
            <a:off x="3709210" y="4777813"/>
            <a:ext cx="1536192" cy="266675"/>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pic>
        <p:nvPicPr>
          <p:cNvPr id="49" name="Immagine 48">
            <a:extLst>
              <a:ext uri="{FF2B5EF4-FFF2-40B4-BE49-F238E27FC236}">
                <a16:creationId xmlns:a16="http://schemas.microsoft.com/office/drawing/2014/main" id="{082D6DE5-6530-D483-9911-DA2CA9442F65}"/>
              </a:ext>
            </a:extLst>
          </p:cNvPr>
          <p:cNvPicPr>
            <a:picLocks noChangeAspect="1"/>
          </p:cNvPicPr>
          <p:nvPr/>
        </p:nvPicPr>
        <p:blipFill>
          <a:blip r:embed="rId7"/>
          <a:stretch>
            <a:fillRect/>
          </a:stretch>
        </p:blipFill>
        <p:spPr>
          <a:xfrm>
            <a:off x="6453816" y="2186025"/>
            <a:ext cx="5469099" cy="227428"/>
          </a:xfrm>
          <a:prstGeom prst="rect">
            <a:avLst/>
          </a:prstGeom>
        </p:spPr>
      </p:pic>
      <p:pic>
        <p:nvPicPr>
          <p:cNvPr id="52" name="Immagine 51" descr="Immagine che contiene testo, schermata, Carattere&#10;&#10;Il contenuto generato dall'IA potrebbe non essere corretto.">
            <a:extLst>
              <a:ext uri="{FF2B5EF4-FFF2-40B4-BE49-F238E27FC236}">
                <a16:creationId xmlns:a16="http://schemas.microsoft.com/office/drawing/2014/main" id="{00D230BF-C367-2C40-2AAF-739CD38A4575}"/>
              </a:ext>
            </a:extLst>
          </p:cNvPr>
          <p:cNvPicPr>
            <a:picLocks noChangeAspect="1"/>
          </p:cNvPicPr>
          <p:nvPr/>
        </p:nvPicPr>
        <p:blipFill>
          <a:blip r:embed="rId8"/>
          <a:stretch>
            <a:fillRect/>
          </a:stretch>
        </p:blipFill>
        <p:spPr>
          <a:xfrm>
            <a:off x="6374605" y="4698458"/>
            <a:ext cx="5505868" cy="1772201"/>
          </a:xfrm>
          <a:prstGeom prst="rect">
            <a:avLst/>
          </a:prstGeom>
        </p:spPr>
      </p:pic>
    </p:spTree>
    <p:extLst>
      <p:ext uri="{BB962C8B-B14F-4D97-AF65-F5344CB8AC3E}">
        <p14:creationId xmlns:p14="http://schemas.microsoft.com/office/powerpoint/2010/main" val="1670152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4B7DA2-3BB2-E7E3-EA56-F56842EF7F3C}"/>
            </a:ext>
          </a:extLst>
        </p:cNvPr>
        <p:cNvGrpSpPr/>
        <p:nvPr/>
      </p:nvGrpSpPr>
      <p:grpSpPr>
        <a:xfrm>
          <a:off x="0" y="0"/>
          <a:ext cx="0" cy="0"/>
          <a:chOff x="0" y="0"/>
          <a:chExt cx="0" cy="0"/>
        </a:xfrm>
      </p:grpSpPr>
      <p:sp>
        <p:nvSpPr>
          <p:cNvPr id="31" name="Rectangle 23">
            <a:extLst>
              <a:ext uri="{FF2B5EF4-FFF2-40B4-BE49-F238E27FC236}">
                <a16:creationId xmlns:a16="http://schemas.microsoft.com/office/drawing/2014/main" id="{A3F53E59-C94E-05DC-8E80-829334FCB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737551C3-C1A0-3A67-DD78-50276B4CD990}"/>
              </a:ext>
            </a:extLst>
          </p:cNvPr>
          <p:cNvSpPr txBox="1"/>
          <p:nvPr/>
        </p:nvSpPr>
        <p:spPr>
          <a:xfrm>
            <a:off x="806245" y="459316"/>
            <a:ext cx="5289753" cy="1954137"/>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02.2.6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verifica</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del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malfunzionamento</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sp>
        <p:nvSpPr>
          <p:cNvPr id="4" name="CasellaDiTesto 3">
            <a:extLst>
              <a:ext uri="{FF2B5EF4-FFF2-40B4-BE49-F238E27FC236}">
                <a16:creationId xmlns:a16="http://schemas.microsoft.com/office/drawing/2014/main" id="{D2A7C4B6-4666-9763-825B-00D8D86A4661}"/>
              </a:ext>
            </a:extLst>
          </p:cNvPr>
          <p:cNvSpPr txBox="1"/>
          <p:nvPr/>
        </p:nvSpPr>
        <p:spPr>
          <a:xfrm>
            <a:off x="7125763" y="2690336"/>
            <a:ext cx="3787392" cy="2031325"/>
          </a:xfrm>
          <a:prstGeom prst="rect">
            <a:avLst/>
          </a:prstGeom>
          <a:noFill/>
        </p:spPr>
        <p:txBody>
          <a:bodyPr wrap="square">
            <a:spAutoFit/>
          </a:bodyPr>
          <a:lstStyle/>
          <a:p>
            <a:pPr algn="ctr"/>
            <a:r>
              <a:rPr lang="it-IT" dirty="0">
                <a:solidFill>
                  <a:schemeClr val="bg1"/>
                </a:solidFill>
                <a:latin typeface="+mj-lt"/>
              </a:rPr>
              <a:t>Il server, in sovraccarico dalle richieste malevole inviate dall’attaccante,</a:t>
            </a:r>
            <a:br>
              <a:rPr lang="it-IT" dirty="0">
                <a:solidFill>
                  <a:schemeClr val="bg1"/>
                </a:solidFill>
                <a:latin typeface="+mj-lt"/>
              </a:rPr>
            </a:br>
            <a:br>
              <a:rPr lang="it-IT" dirty="0">
                <a:solidFill>
                  <a:schemeClr val="bg1"/>
                </a:solidFill>
                <a:latin typeface="+mj-lt"/>
              </a:rPr>
            </a:br>
            <a:r>
              <a:rPr lang="it-IT" dirty="0">
                <a:solidFill>
                  <a:schemeClr val="bg1"/>
                </a:solidFill>
                <a:latin typeface="+mj-lt"/>
              </a:rPr>
              <a:t>non riesce a soddisfare quelle legittime del client</a:t>
            </a:r>
            <a:br>
              <a:rPr lang="it-IT" dirty="0">
                <a:solidFill>
                  <a:schemeClr val="bg1"/>
                </a:solidFill>
                <a:latin typeface="+mj-lt"/>
              </a:rPr>
            </a:br>
            <a:endParaRPr lang="it-IT" dirty="0">
              <a:solidFill>
                <a:schemeClr val="bg1"/>
              </a:solidFill>
              <a:latin typeface="+mj-lt"/>
            </a:endParaRPr>
          </a:p>
          <a:p>
            <a:pPr algn="ctr"/>
            <a:r>
              <a:rPr lang="it-IT" dirty="0">
                <a:solidFill>
                  <a:schemeClr val="bg1"/>
                </a:solidFill>
                <a:latin typeface="+mj-lt"/>
              </a:rPr>
              <a:t>che noterà l’effetto dell’attacco a seguito di un pesante rallentamento della web </a:t>
            </a:r>
            <a:r>
              <a:rPr lang="it-IT" dirty="0" err="1">
                <a:solidFill>
                  <a:schemeClr val="bg1"/>
                </a:solidFill>
                <a:latin typeface="+mj-lt"/>
              </a:rPr>
              <a:t>application</a:t>
            </a:r>
            <a:r>
              <a:rPr lang="it-IT" dirty="0">
                <a:solidFill>
                  <a:schemeClr val="bg1"/>
                </a:solidFill>
                <a:latin typeface="+mj-lt"/>
              </a:rPr>
              <a:t>.</a:t>
            </a:r>
          </a:p>
        </p:txBody>
      </p:sp>
      <p:pic>
        <p:nvPicPr>
          <p:cNvPr id="5" name="Immagine 4" descr="Immagine che contiene testo, schermata, software, Software multimediale&#10;&#10;Il contenuto generato dall'IA potrebbe non essere corretto.">
            <a:extLst>
              <a:ext uri="{FF2B5EF4-FFF2-40B4-BE49-F238E27FC236}">
                <a16:creationId xmlns:a16="http://schemas.microsoft.com/office/drawing/2014/main" id="{13C36BD0-DD36-0C47-3C6E-AF3AC3298638}"/>
              </a:ext>
            </a:extLst>
          </p:cNvPr>
          <p:cNvPicPr>
            <a:picLocks noChangeAspect="1"/>
          </p:cNvPicPr>
          <p:nvPr/>
        </p:nvPicPr>
        <p:blipFill>
          <a:blip r:embed="rId3"/>
          <a:stretch>
            <a:fillRect/>
          </a:stretch>
        </p:blipFill>
        <p:spPr>
          <a:xfrm>
            <a:off x="806245" y="2252084"/>
            <a:ext cx="4814129" cy="4146600"/>
          </a:xfrm>
          <a:prstGeom prst="rect">
            <a:avLst/>
          </a:prstGeom>
        </p:spPr>
      </p:pic>
      <p:sp>
        <p:nvSpPr>
          <p:cNvPr id="9" name="CasellaDiTesto 8">
            <a:extLst>
              <a:ext uri="{FF2B5EF4-FFF2-40B4-BE49-F238E27FC236}">
                <a16:creationId xmlns:a16="http://schemas.microsoft.com/office/drawing/2014/main" id="{B1EAE380-D469-02E6-0FA6-08324BE76327}"/>
              </a:ext>
            </a:extLst>
          </p:cNvPr>
          <p:cNvSpPr txBox="1"/>
          <p:nvPr/>
        </p:nvSpPr>
        <p:spPr>
          <a:xfrm>
            <a:off x="7582963" y="5102120"/>
            <a:ext cx="2831037" cy="307777"/>
          </a:xfrm>
          <a:prstGeom prst="rect">
            <a:avLst/>
          </a:prstGeom>
          <a:noFill/>
        </p:spPr>
        <p:txBody>
          <a:bodyPr wrap="square">
            <a:spAutoFit/>
          </a:bodyPr>
          <a:lstStyle/>
          <a:p>
            <a:r>
              <a:rPr lang="it-IT" sz="1400" dirty="0">
                <a:solidFill>
                  <a:schemeClr val="bg1"/>
                </a:solidFill>
                <a:latin typeface="+mj-lt"/>
              </a:rPr>
              <a:t>NB: infatti la pagina «Liste» non riesce a caricarsi</a:t>
            </a:r>
            <a:endParaRPr lang="it-IT" sz="1400" dirty="0"/>
          </a:p>
        </p:txBody>
      </p:sp>
    </p:spTree>
    <p:extLst>
      <p:ext uri="{BB962C8B-B14F-4D97-AF65-F5344CB8AC3E}">
        <p14:creationId xmlns:p14="http://schemas.microsoft.com/office/powerpoint/2010/main" val="4187961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F94961-84D4-D579-EC89-07C47F61468A}"/>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D803D201-61A7-4984-A1D2-AE701ED454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09C0624-E97F-7FC3-B7FE-D4DC6706B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EFC3F9CD-A471-EF95-96E3-BC96A875FD60}"/>
              </a:ext>
            </a:extLst>
          </p:cNvPr>
          <p:cNvSpPr txBox="1"/>
          <p:nvPr/>
        </p:nvSpPr>
        <p:spPr>
          <a:xfrm>
            <a:off x="1024127" y="459317"/>
            <a:ext cx="4542657"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2.2.7 –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Diagramma</a:t>
            </a: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 di </a:t>
            </a:r>
            <a:r>
              <a:rPr lang="en-US" sz="4400" b="1" cap="all" spc="100" dirty="0" err="1">
                <a:solidFill>
                  <a:schemeClr val="tx1">
                    <a:lumMod val="95000"/>
                    <a:lumOff val="5000"/>
                  </a:schemeClr>
                </a:solidFill>
                <a:effectLst>
                  <a:outerShdw blurRad="38100" dist="38100" dir="2700000" algn="tl">
                    <a:srgbClr val="000000">
                      <a:alpha val="43137"/>
                    </a:srgbClr>
                  </a:outerShdw>
                </a:effectLst>
                <a:latin typeface="+mj-lt"/>
                <a:ea typeface="+mj-ea"/>
                <a:cs typeface="+mj-cs"/>
              </a:rPr>
              <a:t>Sequenza</a:t>
            </a:r>
            <a:endPar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endParaRPr>
          </a:p>
        </p:txBody>
      </p:sp>
      <p:cxnSp>
        <p:nvCxnSpPr>
          <p:cNvPr id="17" name="Straight Connector 16">
            <a:extLst>
              <a:ext uri="{FF2B5EF4-FFF2-40B4-BE49-F238E27FC236}">
                <a16:creationId xmlns:a16="http://schemas.microsoft.com/office/drawing/2014/main" id="{066EA0E6-8BEE-2F7B-E3AE-F9F7DCFA7B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Immagine 3" descr="Immagine che contiene testo, diagramma, linea, Parallelo&#10;&#10;Il contenuto generato dall'IA potrebbe non essere corretto.">
            <a:extLst>
              <a:ext uri="{FF2B5EF4-FFF2-40B4-BE49-F238E27FC236}">
                <a16:creationId xmlns:a16="http://schemas.microsoft.com/office/drawing/2014/main" id="{5DD5E1F5-772E-CD57-A62A-352E6F14E063}"/>
              </a:ext>
            </a:extLst>
          </p:cNvPr>
          <p:cNvPicPr>
            <a:picLocks noChangeAspect="1"/>
          </p:cNvPicPr>
          <p:nvPr/>
        </p:nvPicPr>
        <p:blipFill>
          <a:blip r:embed="rId2"/>
          <a:stretch>
            <a:fillRect/>
          </a:stretch>
        </p:blipFill>
        <p:spPr>
          <a:xfrm>
            <a:off x="6250940" y="455083"/>
            <a:ext cx="5867400" cy="5943600"/>
          </a:xfrm>
          <a:prstGeom prst="rect">
            <a:avLst/>
          </a:prstGeom>
        </p:spPr>
      </p:pic>
    </p:spTree>
    <p:extLst>
      <p:ext uri="{BB962C8B-B14F-4D97-AF65-F5344CB8AC3E}">
        <p14:creationId xmlns:p14="http://schemas.microsoft.com/office/powerpoint/2010/main" val="26334696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7E35E8-37A6-FE2F-6106-96930D73EEF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436389C1-03AA-6064-E918-8D0731B14DFC}"/>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defTabSz="914400">
              <a:lnSpc>
                <a:spcPct val="80000"/>
              </a:lnSpc>
              <a:spcBef>
                <a:spcPct val="0"/>
              </a:spcBef>
              <a:spcAft>
                <a:spcPts val="600"/>
              </a:spcAft>
            </a:pPr>
            <a:r>
              <a:rPr lang="en-US" sz="4400" b="1" cap="all" spc="100">
                <a:solidFill>
                  <a:schemeClr val="tx1">
                    <a:lumMod val="95000"/>
                    <a:lumOff val="5000"/>
                  </a:schemeClr>
                </a:solidFill>
                <a:effectLst>
                  <a:outerShdw blurRad="38100" dist="38100" dir="2700000" algn="tl">
                    <a:srgbClr val="000000">
                      <a:alpha val="43137"/>
                    </a:srgbClr>
                  </a:outerShdw>
                </a:effectLst>
                <a:latin typeface="+mj-lt"/>
                <a:ea typeface="+mj-ea"/>
                <a:cs typeface="+mj-cs"/>
              </a:rPr>
              <a:t>03 – Possibili contromisure</a:t>
            </a:r>
          </a:p>
        </p:txBody>
      </p:sp>
      <p:cxnSp>
        <p:nvCxnSpPr>
          <p:cNvPr id="17" name="Straight Connector 16">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Immagine 1" descr="Immagine che contiene testo, Carattere, Elementi grafici, schermata&#10;&#10;Descrizione generata automaticamente">
            <a:extLst>
              <a:ext uri="{FF2B5EF4-FFF2-40B4-BE49-F238E27FC236}">
                <a16:creationId xmlns:a16="http://schemas.microsoft.com/office/drawing/2014/main" id="{26AAD668-C8B6-D9F9-572E-DC071A97BF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6116" y="2751206"/>
            <a:ext cx="4175762" cy="1358680"/>
          </a:xfrm>
          <a:prstGeom prst="rect">
            <a:avLst/>
          </a:prstGeom>
        </p:spPr>
      </p:pic>
      <p:graphicFrame>
        <p:nvGraphicFramePr>
          <p:cNvPr id="19" name="CasellaDiTesto 7">
            <a:extLst>
              <a:ext uri="{FF2B5EF4-FFF2-40B4-BE49-F238E27FC236}">
                <a16:creationId xmlns:a16="http://schemas.microsoft.com/office/drawing/2014/main" id="{5C2598D0-D383-A630-886B-444CCD406450}"/>
              </a:ext>
            </a:extLst>
          </p:cNvPr>
          <p:cNvGraphicFramePr/>
          <p:nvPr>
            <p:extLst>
              <p:ext uri="{D42A27DB-BD31-4B8C-83A1-F6EECF244321}">
                <p14:modId xmlns:p14="http://schemas.microsoft.com/office/powerpoint/2010/main" val="978780268"/>
              </p:ext>
            </p:extLst>
          </p:nvPr>
        </p:nvGraphicFramePr>
        <p:xfrm>
          <a:off x="442454" y="1986116"/>
          <a:ext cx="5437236" cy="46604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7287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3D0A8F-1F88-5838-E9BB-1A3B93F78C29}"/>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1A0CD45-733E-23EA-46DE-2FB09151B6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545F52E-02EA-5626-9568-68A9FEF55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77DA506A-9F87-4A7D-AED3-734FA2E4ECB3}"/>
              </a:ext>
            </a:extLst>
          </p:cNvPr>
          <p:cNvSpPr txBox="1"/>
          <p:nvPr/>
        </p:nvSpPr>
        <p:spPr>
          <a:xfrm>
            <a:off x="1024128" y="459317"/>
            <a:ext cx="4389120" cy="1749552"/>
          </a:xfrm>
          <a:prstGeom prst="rect">
            <a:avLst/>
          </a:prstGeom>
        </p:spPr>
        <p:txBody>
          <a:bodyPr vert="horz" lIns="91440" tIns="45720" rIns="91440" bIns="45720" rtlCol="0" anchor="ctr">
            <a:normAutofit/>
          </a:bodyPr>
          <a:lstStyle/>
          <a:p>
            <a:pPr algn="ctr" defTabSz="914400">
              <a:lnSpc>
                <a:spcPct val="80000"/>
              </a:lnSpc>
              <a:spcBef>
                <a:spcPct val="0"/>
              </a:spcBef>
              <a:spcAft>
                <a:spcPts val="600"/>
              </a:spcAft>
            </a:pPr>
            <a:r>
              <a:rPr lang="en-US" sz="4400" b="1" cap="all" spc="100" dirty="0">
                <a:solidFill>
                  <a:schemeClr val="tx1">
                    <a:lumMod val="95000"/>
                    <a:lumOff val="5000"/>
                  </a:schemeClr>
                </a:solidFill>
                <a:effectLst>
                  <a:outerShdw blurRad="38100" dist="38100" dir="2700000" algn="tl">
                    <a:srgbClr val="000000">
                      <a:alpha val="43137"/>
                    </a:srgbClr>
                  </a:outerShdw>
                </a:effectLst>
                <a:latin typeface="+mj-lt"/>
                <a:ea typeface="+mj-ea"/>
                <a:cs typeface="+mj-cs"/>
              </a:rPr>
              <a:t>LINK UTILI</a:t>
            </a:r>
          </a:p>
        </p:txBody>
      </p:sp>
      <p:cxnSp>
        <p:nvCxnSpPr>
          <p:cNvPr id="17" name="Straight Connector 16">
            <a:extLst>
              <a:ext uri="{FF2B5EF4-FFF2-40B4-BE49-F238E27FC236}">
                <a16:creationId xmlns:a16="http://schemas.microsoft.com/office/drawing/2014/main" id="{D631DB57-8A0B-D9C4-7289-D9D4C9AF78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C62320EF-F62B-000E-736E-2D27BE0912C4}"/>
              </a:ext>
            </a:extLst>
          </p:cNvPr>
          <p:cNvSpPr txBox="1"/>
          <p:nvPr/>
        </p:nvSpPr>
        <p:spPr>
          <a:xfrm>
            <a:off x="1024129" y="2286000"/>
            <a:ext cx="4389120" cy="3931920"/>
          </a:xfrm>
          <a:prstGeom prst="rect">
            <a:avLst/>
          </a:prstGeom>
        </p:spPr>
        <p:txBody>
          <a:bodyPr vert="horz" lIns="45720" tIns="45720" rIns="45720" bIns="45720" rtlCol="0">
            <a:normAutofit/>
          </a:bodyPr>
          <a:lstStyle/>
          <a:p>
            <a:pPr marL="342900" indent="-342900" defTabSz="914400">
              <a:lnSpc>
                <a:spcPct val="90000"/>
              </a:lnSpc>
              <a:spcAft>
                <a:spcPts val="600"/>
              </a:spcAft>
              <a:buClr>
                <a:schemeClr val="accent1"/>
              </a:buClr>
              <a:buFont typeface="Arial" panose="020B0604020202020204" pitchFamily="34" charset="0"/>
              <a:buChar char="•"/>
            </a:pPr>
            <a:endParaRPr lang="en-US" sz="1300" b="1" dirty="0"/>
          </a:p>
        </p:txBody>
      </p:sp>
      <p:pic>
        <p:nvPicPr>
          <p:cNvPr id="2" name="Immagine 1" descr="Immagine che contiene testo, Carattere, Elementi grafici, schermata&#10;&#10;Descrizione generata automaticamente">
            <a:extLst>
              <a:ext uri="{FF2B5EF4-FFF2-40B4-BE49-F238E27FC236}">
                <a16:creationId xmlns:a16="http://schemas.microsoft.com/office/drawing/2014/main" id="{D111A911-F406-8CAA-24FA-54D90A4EFC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6116" y="2751206"/>
            <a:ext cx="4175762" cy="1358680"/>
          </a:xfrm>
          <a:prstGeom prst="rect">
            <a:avLst/>
          </a:prstGeom>
        </p:spPr>
      </p:pic>
      <p:sp>
        <p:nvSpPr>
          <p:cNvPr id="5" name="CasellaDiTesto 4">
            <a:extLst>
              <a:ext uri="{FF2B5EF4-FFF2-40B4-BE49-F238E27FC236}">
                <a16:creationId xmlns:a16="http://schemas.microsoft.com/office/drawing/2014/main" id="{BC83C1D5-9C58-068D-AF01-BA7EF215126E}"/>
              </a:ext>
            </a:extLst>
          </p:cNvPr>
          <p:cNvSpPr txBox="1"/>
          <p:nvPr/>
        </p:nvSpPr>
        <p:spPr>
          <a:xfrm>
            <a:off x="472969" y="2101386"/>
            <a:ext cx="6103088" cy="369332"/>
          </a:xfrm>
          <a:prstGeom prst="rect">
            <a:avLst/>
          </a:prstGeom>
          <a:noFill/>
        </p:spPr>
        <p:txBody>
          <a:bodyPr wrap="square">
            <a:spAutoFit/>
          </a:bodyPr>
          <a:lstStyle/>
          <a:p>
            <a:r>
              <a:rPr lang="it-IT" dirty="0"/>
              <a:t>https://github.com/eleinvdd/Esame-CyberSecurity-2026</a:t>
            </a:r>
          </a:p>
        </p:txBody>
      </p:sp>
    </p:spTree>
    <p:extLst>
      <p:ext uri="{BB962C8B-B14F-4D97-AF65-F5344CB8AC3E}">
        <p14:creationId xmlns:p14="http://schemas.microsoft.com/office/powerpoint/2010/main" val="33202129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e">
  <a:themeElements>
    <a:clrScheme name="Integrale">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e">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e">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8D9019-7CE1-4B77-8F5D-67F6576598CB}">
  <ds:schemaRefs>
    <ds:schemaRef ds:uri="http://schemas.microsoft.com/sharepoint/v3/contenttype/forms"/>
  </ds:schemaRefs>
</ds:datastoreItem>
</file>

<file path=customXml/itemProps2.xml><?xml version="1.0" encoding="utf-8"?>
<ds:datastoreItem xmlns:ds="http://schemas.openxmlformats.org/officeDocument/2006/customXml" ds:itemID="{E42E6C21-1752-4E06-9FE3-208D45ADB66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F6E7B4D-FB62-47B7-AAA7-0DEC9938DB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TM02900720[[fn=Integrale]]</Template>
  <TotalTime>3788</TotalTime>
  <Words>2858</Words>
  <Application>Microsoft Office PowerPoint</Application>
  <PresentationFormat>Widescreen</PresentationFormat>
  <Paragraphs>304</Paragraphs>
  <Slides>39</Slides>
  <Notes>26</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39</vt:i4>
      </vt:variant>
    </vt:vector>
  </HeadingPairs>
  <TitlesOfParts>
    <vt:vector size="47" baseType="lpstr">
      <vt:lpstr>Arial</vt:lpstr>
      <vt:lpstr>Arial Nova</vt:lpstr>
      <vt:lpstr>Biome</vt:lpstr>
      <vt:lpstr>Calibri</vt:lpstr>
      <vt:lpstr>Tw Cen MT</vt:lpstr>
      <vt:lpstr>Tw Cen MT Condensed</vt:lpstr>
      <vt:lpstr>Wingdings 3</vt:lpstr>
      <vt:lpstr>Integrale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Daniele</dc:creator>
  <cp:lastModifiedBy>DANIELE DIANA</cp:lastModifiedBy>
  <cp:revision>50</cp:revision>
  <dcterms:created xsi:type="dcterms:W3CDTF">2024-01-05T14:58:10Z</dcterms:created>
  <dcterms:modified xsi:type="dcterms:W3CDTF">2026-02-18T22:02:39Z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